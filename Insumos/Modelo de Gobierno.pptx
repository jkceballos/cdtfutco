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80" r:id="rId4"/>
    <p:sldId id="272" r:id="rId5"/>
    <p:sldId id="261" r:id="rId6"/>
    <p:sldId id="262" r:id="rId7"/>
    <p:sldId id="267" r:id="rId8"/>
    <p:sldId id="273" r:id="rId9"/>
    <p:sldId id="258" r:id="rId10"/>
    <p:sldId id="257" r:id="rId11"/>
    <p:sldId id="259" r:id="rId12"/>
    <p:sldId id="271" r:id="rId13"/>
    <p:sldId id="279" r:id="rId14"/>
    <p:sldId id="260" r:id="rId15"/>
    <p:sldId id="274" r:id="rId16"/>
    <p:sldId id="263" r:id="rId17"/>
    <p:sldId id="264" r:id="rId18"/>
    <p:sldId id="268" r:id="rId19"/>
    <p:sldId id="276" r:id="rId20"/>
    <p:sldId id="277" r:id="rId21"/>
    <p:sldId id="270" r:id="rId22"/>
    <p:sldId id="275" r:id="rId23"/>
    <p:sldId id="278" r:id="rId24"/>
    <p:sldId id="269" r:id="rId25"/>
    <p:sldId id="283" r:id="rId26"/>
    <p:sldId id="281" r:id="rId27"/>
    <p:sldId id="282" r:id="rId2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CF21A3-5F74-8BBC-E9E3-EE80EF907955}" v="73" dt="2026-02-18T02:38:40.703"/>
    <p1510:client id="{293C7302-CECC-A2AF-2D4E-F6A4F090013A}" v="1713" dt="2026-02-18T02:21:31.382"/>
    <p1510:client id="{3A8DB0B3-C213-18D3-6EE4-071A627CF9FE}" v="256" dt="2026-02-17T20:09:21.910"/>
    <p1510:client id="{E3A8271E-9EAF-D009-E338-9EF0E8879B84}" v="7" dt="2026-02-18T16:53:08.2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LIANA VANESSA PUERTA" userId="S::ypuertac@tecnocomfenalco.edu.co::1e894bcd-0b74-4f6b-88b6-0b2f0d1c8473" providerId="AD" clId="Web-{293C7302-CECC-A2AF-2D4E-F6A4F090013A}"/>
    <pc:docChg chg="addSld delSld modSld sldOrd">
      <pc:chgData name="YULIANA VANESSA PUERTA" userId="S::ypuertac@tecnocomfenalco.edu.co::1e894bcd-0b74-4f6b-88b6-0b2f0d1c8473" providerId="AD" clId="Web-{293C7302-CECC-A2AF-2D4E-F6A4F090013A}" dt="2026-02-18T02:21:31.382" v="1302"/>
      <pc:docMkLst>
        <pc:docMk/>
      </pc:docMkLst>
      <pc:sldChg chg="modSp">
        <pc:chgData name="YULIANA VANESSA PUERTA" userId="S::ypuertac@tecnocomfenalco.edu.co::1e894bcd-0b74-4f6b-88b6-0b2f0d1c8473" providerId="AD" clId="Web-{293C7302-CECC-A2AF-2D4E-F6A4F090013A}" dt="2026-02-18T02:01:21.582" v="958" actId="20577"/>
        <pc:sldMkLst>
          <pc:docMk/>
          <pc:sldMk cId="2406273178" sldId="256"/>
        </pc:sldMkLst>
        <pc:spChg chg="mod">
          <ac:chgData name="YULIANA VANESSA PUERTA" userId="S::ypuertac@tecnocomfenalco.edu.co::1e894bcd-0b74-4f6b-88b6-0b2f0d1c8473" providerId="AD" clId="Web-{293C7302-CECC-A2AF-2D4E-F6A4F090013A}" dt="2026-02-18T02:01:21.582" v="958" actId="20577"/>
          <ac:spMkLst>
            <pc:docMk/>
            <pc:sldMk cId="2406273178" sldId="256"/>
            <ac:spMk id="2" creationId="{00000000-0000-0000-0000-000000000000}"/>
          </ac:spMkLst>
        </pc:spChg>
      </pc:sldChg>
      <pc:sldChg chg="addSp delSp modSp">
        <pc:chgData name="YULIANA VANESSA PUERTA" userId="S::ypuertac@tecnocomfenalco.edu.co::1e894bcd-0b74-4f6b-88b6-0b2f0d1c8473" providerId="AD" clId="Web-{293C7302-CECC-A2AF-2D4E-F6A4F090013A}" dt="2026-02-18T02:05:40.988" v="1046" actId="1076"/>
        <pc:sldMkLst>
          <pc:docMk/>
          <pc:sldMk cId="4258042652" sldId="258"/>
        </pc:sldMkLst>
        <pc:spChg chg="del">
          <ac:chgData name="YULIANA VANESSA PUERTA" userId="S::ypuertac@tecnocomfenalco.edu.co::1e894bcd-0b74-4f6b-88b6-0b2f0d1c8473" providerId="AD" clId="Web-{293C7302-CECC-A2AF-2D4E-F6A4F090013A}" dt="2026-02-18T02:04:52.082" v="1042"/>
          <ac:spMkLst>
            <pc:docMk/>
            <pc:sldMk cId="4258042652" sldId="258"/>
            <ac:spMk id="3" creationId="{A274C159-CAC4-72CC-FD31-6EC6B9F34F51}"/>
          </ac:spMkLst>
        </pc:spChg>
        <pc:picChg chg="add mod">
          <ac:chgData name="YULIANA VANESSA PUERTA" userId="S::ypuertac@tecnocomfenalco.edu.co::1e894bcd-0b74-4f6b-88b6-0b2f0d1c8473" providerId="AD" clId="Web-{293C7302-CECC-A2AF-2D4E-F6A4F090013A}" dt="2026-02-18T02:05:40.988" v="1046" actId="1076"/>
          <ac:picMkLst>
            <pc:docMk/>
            <pc:sldMk cId="4258042652" sldId="258"/>
            <ac:picMk id="4" creationId="{8DEE18CB-7278-A10E-2648-955830D1ABB5}"/>
          </ac:picMkLst>
        </pc:picChg>
      </pc:sldChg>
      <pc:sldChg chg="modSp add del">
        <pc:chgData name="YULIANA VANESSA PUERTA" userId="S::ypuertac@tecnocomfenalco.edu.co::1e894bcd-0b74-4f6b-88b6-0b2f0d1c8473" providerId="AD" clId="Web-{293C7302-CECC-A2AF-2D4E-F6A4F090013A}" dt="2026-02-18T02:09:22.257" v="1283"/>
        <pc:sldMkLst>
          <pc:docMk/>
          <pc:sldMk cId="3652939189" sldId="260"/>
        </pc:sldMkLst>
        <pc:spChg chg="mod">
          <ac:chgData name="YULIANA VANESSA PUERTA" userId="S::ypuertac@tecnocomfenalco.edu.co::1e894bcd-0b74-4f6b-88b6-0b2f0d1c8473" providerId="AD" clId="Web-{293C7302-CECC-A2AF-2D4E-F6A4F090013A}" dt="2026-02-18T02:06:03.285" v="1071" actId="20577"/>
          <ac:spMkLst>
            <pc:docMk/>
            <pc:sldMk cId="3652939189" sldId="260"/>
            <ac:spMk id="2" creationId="{BDA72002-918A-EB34-932A-5A257923AFEC}"/>
          </ac:spMkLst>
        </pc:spChg>
        <pc:spChg chg="mod">
          <ac:chgData name="YULIANA VANESSA PUERTA" userId="S::ypuertac@tecnocomfenalco.edu.co::1e894bcd-0b74-4f6b-88b6-0b2f0d1c8473" providerId="AD" clId="Web-{293C7302-CECC-A2AF-2D4E-F6A4F090013A}" dt="2026-02-18T02:07:17.023" v="1202" actId="20577"/>
          <ac:spMkLst>
            <pc:docMk/>
            <pc:sldMk cId="3652939189" sldId="260"/>
            <ac:spMk id="3" creationId="{1705C2F3-3227-2F4F-511F-734F4ACC4CD9}"/>
          </ac:spMkLst>
        </pc:spChg>
      </pc:sldChg>
      <pc:sldChg chg="modSp new add del">
        <pc:chgData name="YULIANA VANESSA PUERTA" userId="S::ypuertac@tecnocomfenalco.edu.co::1e894bcd-0b74-4f6b-88b6-0b2f0d1c8473" providerId="AD" clId="Web-{293C7302-CECC-A2AF-2D4E-F6A4F090013A}" dt="2026-02-17T21:48:00.355" v="740"/>
        <pc:sldMkLst>
          <pc:docMk/>
          <pc:sldMk cId="535739625" sldId="261"/>
        </pc:sldMkLst>
        <pc:spChg chg="mod">
          <ac:chgData name="YULIANA VANESSA PUERTA" userId="S::ypuertac@tecnocomfenalco.edu.co::1e894bcd-0b74-4f6b-88b6-0b2f0d1c8473" providerId="AD" clId="Web-{293C7302-CECC-A2AF-2D4E-F6A4F090013A}" dt="2026-02-17T20:24:38.237" v="63" actId="20577"/>
          <ac:spMkLst>
            <pc:docMk/>
            <pc:sldMk cId="535739625" sldId="261"/>
            <ac:spMk id="2" creationId="{2BA572DB-F70E-004A-4D27-1F6731E2ECEE}"/>
          </ac:spMkLst>
        </pc:spChg>
        <pc:spChg chg="mod">
          <ac:chgData name="YULIANA VANESSA PUERTA" userId="S::ypuertac@tecnocomfenalco.edu.co::1e894bcd-0b74-4f6b-88b6-0b2f0d1c8473" providerId="AD" clId="Web-{293C7302-CECC-A2AF-2D4E-F6A4F090013A}" dt="2026-02-17T21:47:19.277" v="736" actId="20577"/>
          <ac:spMkLst>
            <pc:docMk/>
            <pc:sldMk cId="535739625" sldId="261"/>
            <ac:spMk id="3" creationId="{47AC7B34-E802-B23E-5AE8-070A61D621BC}"/>
          </ac:spMkLst>
        </pc:spChg>
      </pc:sldChg>
      <pc:sldChg chg="modSp new add del">
        <pc:chgData name="YULIANA VANESSA PUERTA" userId="S::ypuertac@tecnocomfenalco.edu.co::1e894bcd-0b74-4f6b-88b6-0b2f0d1c8473" providerId="AD" clId="Web-{293C7302-CECC-A2AF-2D4E-F6A4F090013A}" dt="2026-02-17T21:48:00.355" v="741"/>
        <pc:sldMkLst>
          <pc:docMk/>
          <pc:sldMk cId="4216875356" sldId="262"/>
        </pc:sldMkLst>
        <pc:spChg chg="mod">
          <ac:chgData name="YULIANA VANESSA PUERTA" userId="S::ypuertac@tecnocomfenalco.edu.co::1e894bcd-0b74-4f6b-88b6-0b2f0d1c8473" providerId="AD" clId="Web-{293C7302-CECC-A2AF-2D4E-F6A4F090013A}" dt="2026-02-17T20:25:48.942" v="78" actId="20577"/>
          <ac:spMkLst>
            <pc:docMk/>
            <pc:sldMk cId="4216875356" sldId="262"/>
            <ac:spMk id="2" creationId="{41D96445-07FF-07E5-0453-271115D19408}"/>
          </ac:spMkLst>
        </pc:spChg>
      </pc:sldChg>
      <pc:sldChg chg="modSp new">
        <pc:chgData name="YULIANA VANESSA PUERTA" userId="S::ypuertac@tecnocomfenalco.edu.co::1e894bcd-0b74-4f6b-88b6-0b2f0d1c8473" providerId="AD" clId="Web-{293C7302-CECC-A2AF-2D4E-F6A4F090013A}" dt="2026-02-17T20:56:14.841" v="218" actId="20577"/>
        <pc:sldMkLst>
          <pc:docMk/>
          <pc:sldMk cId="1215385084" sldId="263"/>
        </pc:sldMkLst>
        <pc:spChg chg="mod">
          <ac:chgData name="YULIANA VANESSA PUERTA" userId="S::ypuertac@tecnocomfenalco.edu.co::1e894bcd-0b74-4f6b-88b6-0b2f0d1c8473" providerId="AD" clId="Web-{293C7302-CECC-A2AF-2D4E-F6A4F090013A}" dt="2026-02-17T20:26:06.679" v="94" actId="20577"/>
          <ac:spMkLst>
            <pc:docMk/>
            <pc:sldMk cId="1215385084" sldId="263"/>
            <ac:spMk id="2" creationId="{84EAF046-217C-EB0D-CE88-40665EC33CCE}"/>
          </ac:spMkLst>
        </pc:spChg>
        <pc:spChg chg="mod">
          <ac:chgData name="YULIANA VANESSA PUERTA" userId="S::ypuertac@tecnocomfenalco.edu.co::1e894bcd-0b74-4f6b-88b6-0b2f0d1c8473" providerId="AD" clId="Web-{293C7302-CECC-A2AF-2D4E-F6A4F090013A}" dt="2026-02-17T20:56:14.841" v="218" actId="20577"/>
          <ac:spMkLst>
            <pc:docMk/>
            <pc:sldMk cId="1215385084" sldId="263"/>
            <ac:spMk id="3" creationId="{1243570A-ECBE-97EA-0F95-A3EA51DC57CC}"/>
          </ac:spMkLst>
        </pc:spChg>
      </pc:sldChg>
      <pc:sldChg chg="modSp new">
        <pc:chgData name="YULIANA VANESSA PUERTA" userId="S::ypuertac@tecnocomfenalco.edu.co::1e894bcd-0b74-4f6b-88b6-0b2f0d1c8473" providerId="AD" clId="Web-{293C7302-CECC-A2AF-2D4E-F6A4F090013A}" dt="2026-02-17T20:56:39.732" v="221" actId="20577"/>
        <pc:sldMkLst>
          <pc:docMk/>
          <pc:sldMk cId="1219899000" sldId="264"/>
        </pc:sldMkLst>
        <pc:spChg chg="mod">
          <ac:chgData name="YULIANA VANESSA PUERTA" userId="S::ypuertac@tecnocomfenalco.edu.co::1e894bcd-0b74-4f6b-88b6-0b2f0d1c8473" providerId="AD" clId="Web-{293C7302-CECC-A2AF-2D4E-F6A4F090013A}" dt="2026-02-17T20:26:16.477" v="109" actId="20577"/>
          <ac:spMkLst>
            <pc:docMk/>
            <pc:sldMk cId="1219899000" sldId="264"/>
            <ac:spMk id="2" creationId="{701636D7-99A6-2B71-44FB-0CACE2DD41D6}"/>
          </ac:spMkLst>
        </pc:spChg>
        <pc:spChg chg="mod">
          <ac:chgData name="YULIANA VANESSA PUERTA" userId="S::ypuertac@tecnocomfenalco.edu.co::1e894bcd-0b74-4f6b-88b6-0b2f0d1c8473" providerId="AD" clId="Web-{293C7302-CECC-A2AF-2D4E-F6A4F090013A}" dt="2026-02-17T20:56:39.732" v="221" actId="20577"/>
          <ac:spMkLst>
            <pc:docMk/>
            <pc:sldMk cId="1219899000" sldId="264"/>
            <ac:spMk id="3" creationId="{03A1577F-5C6E-B7D7-75BA-AF32399E0345}"/>
          </ac:spMkLst>
        </pc:spChg>
      </pc:sldChg>
      <pc:sldChg chg="addSp delSp modSp new del ord">
        <pc:chgData name="YULIANA VANESSA PUERTA" userId="S::ypuertac@tecnocomfenalco.edu.co::1e894bcd-0b74-4f6b-88b6-0b2f0d1c8473" providerId="AD" clId="Web-{293C7302-CECC-A2AF-2D4E-F6A4F090013A}" dt="2026-02-18T01:38:00.386" v="830"/>
        <pc:sldMkLst>
          <pc:docMk/>
          <pc:sldMk cId="981083095" sldId="265"/>
        </pc:sldMkLst>
        <pc:spChg chg="mod">
          <ac:chgData name="YULIANA VANESSA PUERTA" userId="S::ypuertac@tecnocomfenalco.edu.co::1e894bcd-0b74-4f6b-88b6-0b2f0d1c8473" providerId="AD" clId="Web-{293C7302-CECC-A2AF-2D4E-F6A4F090013A}" dt="2026-02-17T20:26:30.964" v="135" actId="20577"/>
          <ac:spMkLst>
            <pc:docMk/>
            <pc:sldMk cId="981083095" sldId="265"/>
            <ac:spMk id="2" creationId="{65074192-C61C-D5EB-7F78-0B39DBFF4ABB}"/>
          </ac:spMkLst>
        </pc:spChg>
        <pc:spChg chg="mod">
          <ac:chgData name="YULIANA VANESSA PUERTA" userId="S::ypuertac@tecnocomfenalco.edu.co::1e894bcd-0b74-4f6b-88b6-0b2f0d1c8473" providerId="AD" clId="Web-{293C7302-CECC-A2AF-2D4E-F6A4F090013A}" dt="2026-02-18T01:33:24.447" v="827" actId="20577"/>
          <ac:spMkLst>
            <pc:docMk/>
            <pc:sldMk cId="981083095" sldId="265"/>
            <ac:spMk id="3" creationId="{C99C447D-4A3F-228E-8F74-AA8B7D0F0214}"/>
          </ac:spMkLst>
        </pc:spChg>
        <pc:spChg chg="add del mod">
          <ac:chgData name="YULIANA VANESSA PUERTA" userId="S::ypuertac@tecnocomfenalco.edu.co::1e894bcd-0b74-4f6b-88b6-0b2f0d1c8473" providerId="AD" clId="Web-{293C7302-CECC-A2AF-2D4E-F6A4F090013A}" dt="2026-02-17T21:07:35.253" v="295"/>
          <ac:spMkLst>
            <pc:docMk/>
            <pc:sldMk cId="981083095" sldId="265"/>
            <ac:spMk id="4" creationId="{07FA92EE-9B38-4968-7A4D-85E6992431C0}"/>
          </ac:spMkLst>
        </pc:spChg>
      </pc:sldChg>
      <pc:sldChg chg="modSp new">
        <pc:chgData name="YULIANA VANESSA PUERTA" userId="S::ypuertac@tecnocomfenalco.edu.co::1e894bcd-0b74-4f6b-88b6-0b2f0d1c8473" providerId="AD" clId="Web-{293C7302-CECC-A2AF-2D4E-F6A4F090013A}" dt="2026-02-18T02:03:16.300" v="1038" actId="20577"/>
        <pc:sldMkLst>
          <pc:docMk/>
          <pc:sldMk cId="3492399533" sldId="266"/>
        </pc:sldMkLst>
        <pc:spChg chg="mod">
          <ac:chgData name="YULIANA VANESSA PUERTA" userId="S::ypuertac@tecnocomfenalco.edu.co::1e894bcd-0b74-4f6b-88b6-0b2f0d1c8473" providerId="AD" clId="Web-{293C7302-CECC-A2AF-2D4E-F6A4F090013A}" dt="2026-02-18T02:03:16.300" v="1038" actId="20577"/>
          <ac:spMkLst>
            <pc:docMk/>
            <pc:sldMk cId="3492399533" sldId="266"/>
            <ac:spMk id="2" creationId="{19CFBF99-1F4A-F4B2-8269-761BF18DD679}"/>
          </ac:spMkLst>
        </pc:spChg>
        <pc:spChg chg="mod">
          <ac:chgData name="YULIANA VANESSA PUERTA" userId="S::ypuertac@tecnocomfenalco.edu.co::1e894bcd-0b74-4f6b-88b6-0b2f0d1c8473" providerId="AD" clId="Web-{293C7302-CECC-A2AF-2D4E-F6A4F090013A}" dt="2026-02-18T02:03:06.816" v="1030" actId="20577"/>
          <ac:spMkLst>
            <pc:docMk/>
            <pc:sldMk cId="3492399533" sldId="266"/>
            <ac:spMk id="3" creationId="{FA7838DE-82CA-6FE1-4DDD-F555B85ACC1C}"/>
          </ac:spMkLst>
        </pc:spChg>
      </pc:sldChg>
      <pc:sldChg chg="modSp new add del">
        <pc:chgData name="YULIANA VANESSA PUERTA" userId="S::ypuertac@tecnocomfenalco.edu.co::1e894bcd-0b74-4f6b-88b6-0b2f0d1c8473" providerId="AD" clId="Web-{293C7302-CECC-A2AF-2D4E-F6A4F090013A}" dt="2026-02-17T21:48:00.418" v="742"/>
        <pc:sldMkLst>
          <pc:docMk/>
          <pc:sldMk cId="1643089260" sldId="267"/>
        </pc:sldMkLst>
        <pc:spChg chg="mod">
          <ac:chgData name="YULIANA VANESSA PUERTA" userId="S::ypuertac@tecnocomfenalco.edu.co::1e894bcd-0b74-4f6b-88b6-0b2f0d1c8473" providerId="AD" clId="Web-{293C7302-CECC-A2AF-2D4E-F6A4F090013A}" dt="2026-02-17T20:48:18.297" v="210" actId="20577"/>
          <ac:spMkLst>
            <pc:docMk/>
            <pc:sldMk cId="1643089260" sldId="267"/>
            <ac:spMk id="2" creationId="{21804CA5-98C4-6532-182C-BC3728E71E99}"/>
          </ac:spMkLst>
        </pc:spChg>
        <pc:spChg chg="mod">
          <ac:chgData name="YULIANA VANESSA PUERTA" userId="S::ypuertac@tecnocomfenalco.edu.co::1e894bcd-0b74-4f6b-88b6-0b2f0d1c8473" providerId="AD" clId="Web-{293C7302-CECC-A2AF-2D4E-F6A4F090013A}" dt="2026-02-17T20:52:03.492" v="215" actId="20577"/>
          <ac:spMkLst>
            <pc:docMk/>
            <pc:sldMk cId="1643089260" sldId="267"/>
            <ac:spMk id="3" creationId="{DDD4D1A5-B78F-2C3F-AA1F-65839C10FAC8}"/>
          </ac:spMkLst>
        </pc:spChg>
      </pc:sldChg>
      <pc:sldChg chg="modSp add replId">
        <pc:chgData name="YULIANA VANESSA PUERTA" userId="S::ypuertac@tecnocomfenalco.edu.co::1e894bcd-0b74-4f6b-88b6-0b2f0d1c8473" providerId="AD" clId="Web-{293C7302-CECC-A2AF-2D4E-F6A4F090013A}" dt="2026-02-17T20:58:13.015" v="240" actId="20577"/>
        <pc:sldMkLst>
          <pc:docMk/>
          <pc:sldMk cId="834512208" sldId="268"/>
        </pc:sldMkLst>
        <pc:spChg chg="mod">
          <ac:chgData name="YULIANA VANESSA PUERTA" userId="S::ypuertac@tecnocomfenalco.edu.co::1e894bcd-0b74-4f6b-88b6-0b2f0d1c8473" providerId="AD" clId="Web-{293C7302-CECC-A2AF-2D4E-F6A4F090013A}" dt="2026-02-17T20:57:53.499" v="237" actId="20577"/>
          <ac:spMkLst>
            <pc:docMk/>
            <pc:sldMk cId="834512208" sldId="268"/>
            <ac:spMk id="2" creationId="{44D5DEAD-4A02-4888-5507-A50D50D88787}"/>
          </ac:spMkLst>
        </pc:spChg>
        <pc:spChg chg="mod">
          <ac:chgData name="YULIANA VANESSA PUERTA" userId="S::ypuertac@tecnocomfenalco.edu.co::1e894bcd-0b74-4f6b-88b6-0b2f0d1c8473" providerId="AD" clId="Web-{293C7302-CECC-A2AF-2D4E-F6A4F090013A}" dt="2026-02-17T20:58:13.015" v="240" actId="20577"/>
          <ac:spMkLst>
            <pc:docMk/>
            <pc:sldMk cId="834512208" sldId="268"/>
            <ac:spMk id="3" creationId="{D40EAE76-B714-9254-E182-CAA4ED04A5B1}"/>
          </ac:spMkLst>
        </pc:spChg>
      </pc:sldChg>
      <pc:sldChg chg="modSp new">
        <pc:chgData name="YULIANA VANESSA PUERTA" userId="S::ypuertac@tecnocomfenalco.edu.co::1e894bcd-0b74-4f6b-88b6-0b2f0d1c8473" providerId="AD" clId="Web-{293C7302-CECC-A2AF-2D4E-F6A4F090013A}" dt="2026-02-18T02:04:28.800" v="1041" actId="20577"/>
        <pc:sldMkLst>
          <pc:docMk/>
          <pc:sldMk cId="3929638634" sldId="269"/>
        </pc:sldMkLst>
        <pc:spChg chg="mod">
          <ac:chgData name="YULIANA VANESSA PUERTA" userId="S::ypuertac@tecnocomfenalco.edu.co::1e894bcd-0b74-4f6b-88b6-0b2f0d1c8473" providerId="AD" clId="Web-{293C7302-CECC-A2AF-2D4E-F6A4F090013A}" dt="2026-02-17T21:08:06.129" v="308" actId="20577"/>
          <ac:spMkLst>
            <pc:docMk/>
            <pc:sldMk cId="3929638634" sldId="269"/>
            <ac:spMk id="2" creationId="{6C09A7B1-CC1C-4D7E-9021-0D4C6377D684}"/>
          </ac:spMkLst>
        </pc:spChg>
        <pc:spChg chg="mod">
          <ac:chgData name="YULIANA VANESSA PUERTA" userId="S::ypuertac@tecnocomfenalco.edu.co::1e894bcd-0b74-4f6b-88b6-0b2f0d1c8473" providerId="AD" clId="Web-{293C7302-CECC-A2AF-2D4E-F6A4F090013A}" dt="2026-02-18T02:04:28.800" v="1041" actId="20577"/>
          <ac:spMkLst>
            <pc:docMk/>
            <pc:sldMk cId="3929638634" sldId="269"/>
            <ac:spMk id="3" creationId="{42B34C53-AB5F-7B87-3A9B-A0781B96E0A8}"/>
          </ac:spMkLst>
        </pc:spChg>
      </pc:sldChg>
      <pc:sldChg chg="modSp add replId">
        <pc:chgData name="YULIANA VANESSA PUERTA" userId="S::ypuertac@tecnocomfenalco.edu.co::1e894bcd-0b74-4f6b-88b6-0b2f0d1c8473" providerId="AD" clId="Web-{293C7302-CECC-A2AF-2D4E-F6A4F090013A}" dt="2026-02-18T01:45:05.979" v="863" actId="20577"/>
        <pc:sldMkLst>
          <pc:docMk/>
          <pc:sldMk cId="1259264265" sldId="270"/>
        </pc:sldMkLst>
        <pc:spChg chg="mod">
          <ac:chgData name="YULIANA VANESSA PUERTA" userId="S::ypuertac@tecnocomfenalco.edu.co::1e894bcd-0b74-4f6b-88b6-0b2f0d1c8473" providerId="AD" clId="Web-{293C7302-CECC-A2AF-2D4E-F6A4F090013A}" dt="2026-02-18T01:45:05.979" v="863" actId="20577"/>
          <ac:spMkLst>
            <pc:docMk/>
            <pc:sldMk cId="1259264265" sldId="270"/>
            <ac:spMk id="3" creationId="{E9C5E6FA-38D5-4469-9FA9-CA22CDBA9AC4}"/>
          </ac:spMkLst>
        </pc:spChg>
      </pc:sldChg>
      <pc:sldChg chg="addSp delSp modSp new ord">
        <pc:chgData name="YULIANA VANESSA PUERTA" userId="S::ypuertac@tecnocomfenalco.edu.co::1e894bcd-0b74-4f6b-88b6-0b2f0d1c8473" providerId="AD" clId="Web-{293C7302-CECC-A2AF-2D4E-F6A4F090013A}" dt="2026-02-18T02:09:31.429" v="1284"/>
        <pc:sldMkLst>
          <pc:docMk/>
          <pc:sldMk cId="3497443071" sldId="271"/>
        </pc:sldMkLst>
        <pc:spChg chg="mod">
          <ac:chgData name="YULIANA VANESSA PUERTA" userId="S::ypuertac@tecnocomfenalco.edu.co::1e894bcd-0b74-4f6b-88b6-0b2f0d1c8473" providerId="AD" clId="Web-{293C7302-CECC-A2AF-2D4E-F6A4F090013A}" dt="2026-02-17T21:39:50.295" v="345" actId="20577"/>
          <ac:spMkLst>
            <pc:docMk/>
            <pc:sldMk cId="3497443071" sldId="271"/>
            <ac:spMk id="2" creationId="{B3888656-DD3B-E574-789D-592BB93B5001}"/>
          </ac:spMkLst>
        </pc:spChg>
        <pc:spChg chg="del mod">
          <ac:chgData name="YULIANA VANESSA PUERTA" userId="S::ypuertac@tecnocomfenalco.edu.co::1e894bcd-0b74-4f6b-88b6-0b2f0d1c8473" providerId="AD" clId="Web-{293C7302-CECC-A2AF-2D4E-F6A4F090013A}" dt="2026-02-17T21:38:59.170" v="311"/>
          <ac:spMkLst>
            <pc:docMk/>
            <pc:sldMk cId="3497443071" sldId="271"/>
            <ac:spMk id="3" creationId="{67E7D43D-2F57-E875-5BDC-BE57A09C8A12}"/>
          </ac:spMkLst>
        </pc:spChg>
        <pc:graphicFrameChg chg="add mod modGraphic">
          <ac:chgData name="YULIANA VANESSA PUERTA" userId="S::ypuertac@tecnocomfenalco.edu.co::1e894bcd-0b74-4f6b-88b6-0b2f0d1c8473" providerId="AD" clId="Web-{293C7302-CECC-A2AF-2D4E-F6A4F090013A}" dt="2026-02-17T21:40:30.560" v="728" actId="1076"/>
          <ac:graphicFrameMkLst>
            <pc:docMk/>
            <pc:sldMk cId="3497443071" sldId="271"/>
            <ac:graphicFrameMk id="5" creationId="{D3F570E3-076A-7238-D8E5-64A32F157E25}"/>
          </ac:graphicFrameMkLst>
        </pc:graphicFrameChg>
      </pc:sldChg>
      <pc:sldChg chg="modSp new mod modClrScheme chgLayout">
        <pc:chgData name="YULIANA VANESSA PUERTA" userId="S::ypuertac@tecnocomfenalco.edu.co::1e894bcd-0b74-4f6b-88b6-0b2f0d1c8473" providerId="AD" clId="Web-{293C7302-CECC-A2AF-2D4E-F6A4F090013A}" dt="2026-02-17T21:48:43.699" v="770" actId="20577"/>
        <pc:sldMkLst>
          <pc:docMk/>
          <pc:sldMk cId="2247177277" sldId="272"/>
        </pc:sldMkLst>
        <pc:spChg chg="mod ord">
          <ac:chgData name="YULIANA VANESSA PUERTA" userId="S::ypuertac@tecnocomfenalco.edu.co::1e894bcd-0b74-4f6b-88b6-0b2f0d1c8473" providerId="AD" clId="Web-{293C7302-CECC-A2AF-2D4E-F6A4F090013A}" dt="2026-02-17T21:48:43.699" v="770" actId="20577"/>
          <ac:spMkLst>
            <pc:docMk/>
            <pc:sldMk cId="2247177277" sldId="272"/>
            <ac:spMk id="2" creationId="{377A0608-9DD8-B175-2CBA-88F41016F963}"/>
          </ac:spMkLst>
        </pc:spChg>
        <pc:spChg chg="mod ord">
          <ac:chgData name="YULIANA VANESSA PUERTA" userId="S::ypuertac@tecnocomfenalco.edu.co::1e894bcd-0b74-4f6b-88b6-0b2f0d1c8473" providerId="AD" clId="Web-{293C7302-CECC-A2AF-2D4E-F6A4F090013A}" dt="2026-02-17T21:48:23.371" v="769"/>
          <ac:spMkLst>
            <pc:docMk/>
            <pc:sldMk cId="2247177277" sldId="272"/>
            <ac:spMk id="3" creationId="{D396FBB0-EB67-0EAA-ABDC-A2B6AB31810D}"/>
          </ac:spMkLst>
        </pc:spChg>
      </pc:sldChg>
      <pc:sldChg chg="modSp add replId">
        <pc:chgData name="YULIANA VANESSA PUERTA" userId="S::ypuertac@tecnocomfenalco.edu.co::1e894bcd-0b74-4f6b-88b6-0b2f0d1c8473" providerId="AD" clId="Web-{293C7302-CECC-A2AF-2D4E-F6A4F090013A}" dt="2026-02-17T21:49:06.496" v="794" actId="20577"/>
        <pc:sldMkLst>
          <pc:docMk/>
          <pc:sldMk cId="2099003797" sldId="273"/>
        </pc:sldMkLst>
        <pc:spChg chg="mod">
          <ac:chgData name="YULIANA VANESSA PUERTA" userId="S::ypuertac@tecnocomfenalco.edu.co::1e894bcd-0b74-4f6b-88b6-0b2f0d1c8473" providerId="AD" clId="Web-{293C7302-CECC-A2AF-2D4E-F6A4F090013A}" dt="2026-02-17T21:49:06.496" v="794" actId="20577"/>
          <ac:spMkLst>
            <pc:docMk/>
            <pc:sldMk cId="2099003797" sldId="273"/>
            <ac:spMk id="2" creationId="{1F1C5514-B62D-3142-ED7C-27F955FBD783}"/>
          </ac:spMkLst>
        </pc:spChg>
      </pc:sldChg>
      <pc:sldChg chg="modSp add replId">
        <pc:chgData name="YULIANA VANESSA PUERTA" userId="S::ypuertac@tecnocomfenalco.edu.co::1e894bcd-0b74-4f6b-88b6-0b2f0d1c8473" providerId="AD" clId="Web-{293C7302-CECC-A2AF-2D4E-F6A4F090013A}" dt="2026-02-17T21:49:29.261" v="799" actId="20577"/>
        <pc:sldMkLst>
          <pc:docMk/>
          <pc:sldMk cId="1068380003" sldId="274"/>
        </pc:sldMkLst>
        <pc:spChg chg="mod">
          <ac:chgData name="YULIANA VANESSA PUERTA" userId="S::ypuertac@tecnocomfenalco.edu.co::1e894bcd-0b74-4f6b-88b6-0b2f0d1c8473" providerId="AD" clId="Web-{293C7302-CECC-A2AF-2D4E-F6A4F090013A}" dt="2026-02-17T21:49:29.261" v="799" actId="20577"/>
          <ac:spMkLst>
            <pc:docMk/>
            <pc:sldMk cId="1068380003" sldId="274"/>
            <ac:spMk id="2" creationId="{FF0D507C-B757-03F0-588E-14F1C9F6D5E8}"/>
          </ac:spMkLst>
        </pc:spChg>
      </pc:sldChg>
      <pc:sldChg chg="modSp add replId">
        <pc:chgData name="YULIANA VANESSA PUERTA" userId="S::ypuertac@tecnocomfenalco.edu.co::1e894bcd-0b74-4f6b-88b6-0b2f0d1c8473" providerId="AD" clId="Web-{293C7302-CECC-A2AF-2D4E-F6A4F090013A}" dt="2026-02-18T01:51:00.481" v="880" actId="20577"/>
        <pc:sldMkLst>
          <pc:docMk/>
          <pc:sldMk cId="708240721" sldId="275"/>
        </pc:sldMkLst>
        <pc:spChg chg="mod">
          <ac:chgData name="YULIANA VANESSA PUERTA" userId="S::ypuertac@tecnocomfenalco.edu.co::1e894bcd-0b74-4f6b-88b6-0b2f0d1c8473" providerId="AD" clId="Web-{293C7302-CECC-A2AF-2D4E-F6A4F090013A}" dt="2026-02-18T01:45:16.166" v="877" actId="20577"/>
          <ac:spMkLst>
            <pc:docMk/>
            <pc:sldMk cId="708240721" sldId="275"/>
            <ac:spMk id="2" creationId="{68080847-E64D-4EC6-D439-CB9E274F9925}"/>
          </ac:spMkLst>
        </pc:spChg>
        <pc:spChg chg="mod">
          <ac:chgData name="YULIANA VANESSA PUERTA" userId="S::ypuertac@tecnocomfenalco.edu.co::1e894bcd-0b74-4f6b-88b6-0b2f0d1c8473" providerId="AD" clId="Web-{293C7302-CECC-A2AF-2D4E-F6A4F090013A}" dt="2026-02-18T01:51:00.481" v="880" actId="20577"/>
          <ac:spMkLst>
            <pc:docMk/>
            <pc:sldMk cId="708240721" sldId="275"/>
            <ac:spMk id="3" creationId="{511C448D-7011-BA91-15F5-1FDC8091A6AF}"/>
          </ac:spMkLst>
        </pc:spChg>
      </pc:sldChg>
      <pc:sldChg chg="addSp modSp new">
        <pc:chgData name="YULIANA VANESSA PUERTA" userId="S::ypuertac@tecnocomfenalco.edu.co::1e894bcd-0b74-4f6b-88b6-0b2f0d1c8473" providerId="AD" clId="Web-{293C7302-CECC-A2AF-2D4E-F6A4F090013A}" dt="2026-02-18T01:40:12.292" v="860" actId="20577"/>
        <pc:sldMkLst>
          <pc:docMk/>
          <pc:sldMk cId="3948505188" sldId="276"/>
        </pc:sldMkLst>
        <pc:spChg chg="mod">
          <ac:chgData name="YULIANA VANESSA PUERTA" userId="S::ypuertac@tecnocomfenalco.edu.co::1e894bcd-0b74-4f6b-88b6-0b2f0d1c8473" providerId="AD" clId="Web-{293C7302-CECC-A2AF-2D4E-F6A4F090013A}" dt="2026-02-18T01:40:12.292" v="860" actId="20577"/>
          <ac:spMkLst>
            <pc:docMk/>
            <pc:sldMk cId="3948505188" sldId="276"/>
            <ac:spMk id="2" creationId="{2998EF8B-87D6-27A0-9933-F778D15AA787}"/>
          </ac:spMkLst>
        </pc:spChg>
        <pc:spChg chg="mod">
          <ac:chgData name="YULIANA VANESSA PUERTA" userId="S::ypuertac@tecnocomfenalco.edu.co::1e894bcd-0b74-4f6b-88b6-0b2f0d1c8473" providerId="AD" clId="Web-{293C7302-CECC-A2AF-2D4E-F6A4F090013A}" dt="2026-02-18T01:38:40.823" v="836" actId="20577"/>
          <ac:spMkLst>
            <pc:docMk/>
            <pc:sldMk cId="3948505188" sldId="276"/>
            <ac:spMk id="3" creationId="{C6C0981B-C623-6B83-ECEE-CD18AE8FB27C}"/>
          </ac:spMkLst>
        </pc:spChg>
        <pc:spChg chg="add mod">
          <ac:chgData name="YULIANA VANESSA PUERTA" userId="S::ypuertac@tecnocomfenalco.edu.co::1e894bcd-0b74-4f6b-88b6-0b2f0d1c8473" providerId="AD" clId="Web-{293C7302-CECC-A2AF-2D4E-F6A4F090013A}" dt="2026-02-18T01:38:49.557" v="838"/>
          <ac:spMkLst>
            <pc:docMk/>
            <pc:sldMk cId="3948505188" sldId="276"/>
            <ac:spMk id="4" creationId="{F0D2A29E-9AB4-681B-773C-76BC039D8CB8}"/>
          </ac:spMkLst>
        </pc:spChg>
      </pc:sldChg>
      <pc:sldChg chg="add replId">
        <pc:chgData name="YULIANA VANESSA PUERTA" userId="S::ypuertac@tecnocomfenalco.edu.co::1e894bcd-0b74-4f6b-88b6-0b2f0d1c8473" providerId="AD" clId="Web-{293C7302-CECC-A2AF-2D4E-F6A4F090013A}" dt="2026-02-18T01:38:04.042" v="831"/>
        <pc:sldMkLst>
          <pc:docMk/>
          <pc:sldMk cId="2559985842" sldId="277"/>
        </pc:sldMkLst>
      </pc:sldChg>
      <pc:sldChg chg="addSp delSp modSp new">
        <pc:chgData name="YULIANA VANESSA PUERTA" userId="S::ypuertac@tecnocomfenalco.edu.co::1e894bcd-0b74-4f6b-88b6-0b2f0d1c8473" providerId="AD" clId="Web-{293C7302-CECC-A2AF-2D4E-F6A4F090013A}" dt="2026-02-18T01:58:27.254" v="901" actId="20577"/>
        <pc:sldMkLst>
          <pc:docMk/>
          <pc:sldMk cId="1080450802" sldId="278"/>
        </pc:sldMkLst>
        <pc:spChg chg="mod">
          <ac:chgData name="YULIANA VANESSA PUERTA" userId="S::ypuertac@tecnocomfenalco.edu.co::1e894bcd-0b74-4f6b-88b6-0b2f0d1c8473" providerId="AD" clId="Web-{293C7302-CECC-A2AF-2D4E-F6A4F090013A}" dt="2026-02-18T01:57:00.501" v="896" actId="20577"/>
          <ac:spMkLst>
            <pc:docMk/>
            <pc:sldMk cId="1080450802" sldId="278"/>
            <ac:spMk id="2" creationId="{B46512E7-25B6-2289-2198-2652064B40B7}"/>
          </ac:spMkLst>
        </pc:spChg>
        <pc:spChg chg="add del mod">
          <ac:chgData name="YULIANA VANESSA PUERTA" userId="S::ypuertac@tecnocomfenalco.edu.co::1e894bcd-0b74-4f6b-88b6-0b2f0d1c8473" providerId="AD" clId="Web-{293C7302-CECC-A2AF-2D4E-F6A4F090013A}" dt="2026-02-18T01:58:27.254" v="901" actId="20577"/>
          <ac:spMkLst>
            <pc:docMk/>
            <pc:sldMk cId="1080450802" sldId="278"/>
            <ac:spMk id="3" creationId="{B241772B-972A-54CE-97BA-C497F958E4D5}"/>
          </ac:spMkLst>
        </pc:spChg>
        <pc:spChg chg="add del mod">
          <ac:chgData name="YULIANA VANESSA PUERTA" userId="S::ypuertac@tecnocomfenalco.edu.co::1e894bcd-0b74-4f6b-88b6-0b2f0d1c8473" providerId="AD" clId="Web-{293C7302-CECC-A2AF-2D4E-F6A4F090013A}" dt="2026-02-18T01:54:02.688" v="893"/>
          <ac:spMkLst>
            <pc:docMk/>
            <pc:sldMk cId="1080450802" sldId="278"/>
            <ac:spMk id="6" creationId="{3F9BBD2B-0AEF-86BA-8AA9-C7EC343A49C7}"/>
          </ac:spMkLst>
        </pc:spChg>
        <pc:graphicFrameChg chg="add del mod ord modGraphic">
          <ac:chgData name="YULIANA VANESSA PUERTA" userId="S::ypuertac@tecnocomfenalco.edu.co::1e894bcd-0b74-4f6b-88b6-0b2f0d1c8473" providerId="AD" clId="Web-{293C7302-CECC-A2AF-2D4E-F6A4F090013A}" dt="2026-02-18T01:54:02.688" v="894"/>
          <ac:graphicFrameMkLst>
            <pc:docMk/>
            <pc:sldMk cId="1080450802" sldId="278"/>
            <ac:graphicFrameMk id="5" creationId="{840A5496-0264-DDAB-7235-D9E25BE10AB8}"/>
          </ac:graphicFrameMkLst>
        </pc:graphicFrameChg>
      </pc:sldChg>
      <pc:sldChg chg="new del">
        <pc:chgData name="YULIANA VANESSA PUERTA" userId="S::ypuertac@tecnocomfenalco.edu.co::1e894bcd-0b74-4f6b-88b6-0b2f0d1c8473" providerId="AD" clId="Web-{293C7302-CECC-A2AF-2D4E-F6A4F090013A}" dt="2026-02-18T02:00:21.191" v="913"/>
        <pc:sldMkLst>
          <pc:docMk/>
          <pc:sldMk cId="1168235032" sldId="279"/>
        </pc:sldMkLst>
      </pc:sldChg>
      <pc:sldChg chg="modSp new add del">
        <pc:chgData name="YULIANA VANESSA PUERTA" userId="S::ypuertac@tecnocomfenalco.edu.co::1e894bcd-0b74-4f6b-88b6-0b2f0d1c8473" providerId="AD" clId="Web-{293C7302-CECC-A2AF-2D4E-F6A4F090013A}" dt="2026-02-18T02:09:57.648" v="1295" actId="20577"/>
        <pc:sldMkLst>
          <pc:docMk/>
          <pc:sldMk cId="4294458610" sldId="279"/>
        </pc:sldMkLst>
        <pc:spChg chg="mod">
          <ac:chgData name="YULIANA VANESSA PUERTA" userId="S::ypuertac@tecnocomfenalco.edu.co::1e894bcd-0b74-4f6b-88b6-0b2f0d1c8473" providerId="AD" clId="Web-{293C7302-CECC-A2AF-2D4E-F6A4F090013A}" dt="2026-02-18T02:06:18.550" v="1083" actId="20577"/>
          <ac:spMkLst>
            <pc:docMk/>
            <pc:sldMk cId="4294458610" sldId="279"/>
            <ac:spMk id="2" creationId="{01F6E45C-2C6C-F331-1981-D3A26EB39D44}"/>
          </ac:spMkLst>
        </pc:spChg>
        <pc:spChg chg="mod">
          <ac:chgData name="YULIANA VANESSA PUERTA" userId="S::ypuertac@tecnocomfenalco.edu.co::1e894bcd-0b74-4f6b-88b6-0b2f0d1c8473" providerId="AD" clId="Web-{293C7302-CECC-A2AF-2D4E-F6A4F090013A}" dt="2026-02-18T02:09:57.648" v="1295" actId="20577"/>
          <ac:spMkLst>
            <pc:docMk/>
            <pc:sldMk cId="4294458610" sldId="279"/>
            <ac:spMk id="3" creationId="{4B6D4E48-942B-BE58-F629-6314E36602B8}"/>
          </ac:spMkLst>
        </pc:spChg>
      </pc:sldChg>
      <pc:sldChg chg="addSp delSp modSp new">
        <pc:chgData name="YULIANA VANESSA PUERTA" userId="S::ypuertac@tecnocomfenalco.edu.co::1e894bcd-0b74-4f6b-88b6-0b2f0d1c8473" providerId="AD" clId="Web-{293C7302-CECC-A2AF-2D4E-F6A4F090013A}" dt="2026-02-18T02:21:31.382" v="1302"/>
        <pc:sldMkLst>
          <pc:docMk/>
          <pc:sldMk cId="1573583126" sldId="280"/>
        </pc:sldMkLst>
        <pc:spChg chg="mod">
          <ac:chgData name="YULIANA VANESSA PUERTA" userId="S::ypuertac@tecnocomfenalco.edu.co::1e894bcd-0b74-4f6b-88b6-0b2f0d1c8473" providerId="AD" clId="Web-{293C7302-CECC-A2AF-2D4E-F6A4F090013A}" dt="2026-02-18T02:21:28.663" v="1299" actId="20577"/>
          <ac:spMkLst>
            <pc:docMk/>
            <pc:sldMk cId="1573583126" sldId="280"/>
            <ac:spMk id="2" creationId="{6E50BA1B-819D-F7F2-A876-FB758CD6B4DF}"/>
          </ac:spMkLst>
        </pc:spChg>
        <pc:spChg chg="del">
          <ac:chgData name="YULIANA VANESSA PUERTA" userId="S::ypuertac@tecnocomfenalco.edu.co::1e894bcd-0b74-4f6b-88b6-0b2f0d1c8473" providerId="AD" clId="Web-{293C7302-CECC-A2AF-2D4E-F6A4F090013A}" dt="2026-02-18T02:21:31.335" v="1300"/>
          <ac:spMkLst>
            <pc:docMk/>
            <pc:sldMk cId="1573583126" sldId="280"/>
            <ac:spMk id="3" creationId="{C14AFDCC-E12F-1357-B4EF-E764652A8B06}"/>
          </ac:spMkLst>
        </pc:spChg>
        <pc:spChg chg="add mod">
          <ac:chgData name="YULIANA VANESSA PUERTA" userId="S::ypuertac@tecnocomfenalco.edu.co::1e894bcd-0b74-4f6b-88b6-0b2f0d1c8473" providerId="AD" clId="Web-{293C7302-CECC-A2AF-2D4E-F6A4F090013A}" dt="2026-02-18T02:21:31.382" v="1302"/>
          <ac:spMkLst>
            <pc:docMk/>
            <pc:sldMk cId="1573583126" sldId="280"/>
            <ac:spMk id="6" creationId="{81761154-0414-D93F-2EBD-56B4739F3258}"/>
          </ac:spMkLst>
        </pc:spChg>
        <pc:graphicFrameChg chg="add mod ord modGraphic">
          <ac:chgData name="YULIANA VANESSA PUERTA" userId="S::ypuertac@tecnocomfenalco.edu.co::1e894bcd-0b74-4f6b-88b6-0b2f0d1c8473" providerId="AD" clId="Web-{293C7302-CECC-A2AF-2D4E-F6A4F090013A}" dt="2026-02-18T02:21:31.335" v="1300"/>
          <ac:graphicFrameMkLst>
            <pc:docMk/>
            <pc:sldMk cId="1573583126" sldId="280"/>
            <ac:graphicFrameMk id="5" creationId="{8B28DF52-347A-3372-EAA1-0FD96B24D385}"/>
          </ac:graphicFrameMkLst>
        </pc:graphicFrameChg>
      </pc:sldChg>
    </pc:docChg>
  </pc:docChgLst>
  <pc:docChgLst>
    <pc:chgData name="YULIANA VANESSA PUERTA" userId="S::ypuertac@tecnocomfenalco.edu.co::1e894bcd-0b74-4f6b-88b6-0b2f0d1c8473" providerId="AD" clId="Web-{3A8DB0B3-C213-18D3-6EE4-071A627CF9FE}"/>
    <pc:docChg chg="addSld modSld">
      <pc:chgData name="YULIANA VANESSA PUERTA" userId="S::ypuertac@tecnocomfenalco.edu.co::1e894bcd-0b74-4f6b-88b6-0b2f0d1c8473" providerId="AD" clId="Web-{3A8DB0B3-C213-18D3-6EE4-071A627CF9FE}" dt="2026-02-17T20:09:21.910" v="264" actId="20577"/>
      <pc:docMkLst>
        <pc:docMk/>
      </pc:docMkLst>
      <pc:sldChg chg="delSp modSp">
        <pc:chgData name="YULIANA VANESSA PUERTA" userId="S::ypuertac@tecnocomfenalco.edu.co::1e894bcd-0b74-4f6b-88b6-0b2f0d1c8473" providerId="AD" clId="Web-{3A8DB0B3-C213-18D3-6EE4-071A627CF9FE}" dt="2026-02-17T20:06:43.378" v="176" actId="20577"/>
        <pc:sldMkLst>
          <pc:docMk/>
          <pc:sldMk cId="2406273178" sldId="256"/>
        </pc:sldMkLst>
        <pc:spChg chg="mod">
          <ac:chgData name="YULIANA VANESSA PUERTA" userId="S::ypuertac@tecnocomfenalco.edu.co::1e894bcd-0b74-4f6b-88b6-0b2f0d1c8473" providerId="AD" clId="Web-{3A8DB0B3-C213-18D3-6EE4-071A627CF9FE}" dt="2026-02-17T20:06:43.378" v="176" actId="20577"/>
          <ac:spMkLst>
            <pc:docMk/>
            <pc:sldMk cId="2406273178" sldId="256"/>
            <ac:spMk id="2" creationId="{00000000-0000-0000-0000-000000000000}"/>
          </ac:spMkLst>
        </pc:spChg>
        <pc:spChg chg="del">
          <ac:chgData name="YULIANA VANESSA PUERTA" userId="S::ypuertac@tecnocomfenalco.edu.co::1e894bcd-0b74-4f6b-88b6-0b2f0d1c8473" providerId="AD" clId="Web-{3A8DB0B3-C213-18D3-6EE4-071A627CF9FE}" dt="2026-02-17T19:58:40.592" v="150"/>
          <ac:spMkLst>
            <pc:docMk/>
            <pc:sldMk cId="2406273178" sldId="256"/>
            <ac:spMk id="3" creationId="{00000000-0000-0000-0000-000000000000}"/>
          </ac:spMkLst>
        </pc:spChg>
      </pc:sldChg>
      <pc:sldChg chg="modSp new">
        <pc:chgData name="YULIANA VANESSA PUERTA" userId="S::ypuertac@tecnocomfenalco.edu.co::1e894bcd-0b74-4f6b-88b6-0b2f0d1c8473" providerId="AD" clId="Web-{3A8DB0B3-C213-18D3-6EE4-071A627CF9FE}" dt="2026-02-17T19:55:32.120" v="142" actId="20577"/>
        <pc:sldMkLst>
          <pc:docMk/>
          <pc:sldMk cId="1634837193" sldId="257"/>
        </pc:sldMkLst>
        <pc:spChg chg="mod">
          <ac:chgData name="YULIANA VANESSA PUERTA" userId="S::ypuertac@tecnocomfenalco.edu.co::1e894bcd-0b74-4f6b-88b6-0b2f0d1c8473" providerId="AD" clId="Web-{3A8DB0B3-C213-18D3-6EE4-071A627CF9FE}" dt="2026-02-17T19:54:41.462" v="94" actId="20577"/>
          <ac:spMkLst>
            <pc:docMk/>
            <pc:sldMk cId="1634837193" sldId="257"/>
            <ac:spMk id="2" creationId="{32D409E3-A133-2BEF-F6E4-A495A1BC9412}"/>
          </ac:spMkLst>
        </pc:spChg>
        <pc:spChg chg="mod">
          <ac:chgData name="YULIANA VANESSA PUERTA" userId="S::ypuertac@tecnocomfenalco.edu.co::1e894bcd-0b74-4f6b-88b6-0b2f0d1c8473" providerId="AD" clId="Web-{3A8DB0B3-C213-18D3-6EE4-071A627CF9FE}" dt="2026-02-17T19:55:32.120" v="142" actId="20577"/>
          <ac:spMkLst>
            <pc:docMk/>
            <pc:sldMk cId="1634837193" sldId="257"/>
            <ac:spMk id="3" creationId="{8715F21F-B478-0EAD-597D-B6F8C6BC4AEC}"/>
          </ac:spMkLst>
        </pc:spChg>
      </pc:sldChg>
      <pc:sldChg chg="modSp new">
        <pc:chgData name="YULIANA VANESSA PUERTA" userId="S::ypuertac@tecnocomfenalco.edu.co::1e894bcd-0b74-4f6b-88b6-0b2f0d1c8473" providerId="AD" clId="Web-{3A8DB0B3-C213-18D3-6EE4-071A627CF9FE}" dt="2026-02-17T19:58:36.217" v="149" actId="20577"/>
        <pc:sldMkLst>
          <pc:docMk/>
          <pc:sldMk cId="4258042652" sldId="258"/>
        </pc:sldMkLst>
        <pc:spChg chg="mod">
          <ac:chgData name="YULIANA VANESSA PUERTA" userId="S::ypuertac@tecnocomfenalco.edu.co::1e894bcd-0b74-4f6b-88b6-0b2f0d1c8473" providerId="AD" clId="Web-{3A8DB0B3-C213-18D3-6EE4-071A627CF9FE}" dt="2026-02-17T19:58:36.217" v="149" actId="20577"/>
          <ac:spMkLst>
            <pc:docMk/>
            <pc:sldMk cId="4258042652" sldId="258"/>
            <ac:spMk id="2" creationId="{0B4103A4-2657-A58E-D29F-62A84927E381}"/>
          </ac:spMkLst>
        </pc:spChg>
      </pc:sldChg>
      <pc:sldChg chg="modSp new">
        <pc:chgData name="YULIANA VANESSA PUERTA" userId="S::ypuertac@tecnocomfenalco.edu.co::1e894bcd-0b74-4f6b-88b6-0b2f0d1c8473" providerId="AD" clId="Web-{3A8DB0B3-C213-18D3-6EE4-071A627CF9FE}" dt="2026-02-17T20:00:28.813" v="174" actId="20577"/>
        <pc:sldMkLst>
          <pc:docMk/>
          <pc:sldMk cId="3208683469" sldId="259"/>
        </pc:sldMkLst>
        <pc:spChg chg="mod">
          <ac:chgData name="YULIANA VANESSA PUERTA" userId="S::ypuertac@tecnocomfenalco.edu.co::1e894bcd-0b74-4f6b-88b6-0b2f0d1c8473" providerId="AD" clId="Web-{3A8DB0B3-C213-18D3-6EE4-071A627CF9FE}" dt="2026-02-17T20:00:25.188" v="171" actId="20577"/>
          <ac:spMkLst>
            <pc:docMk/>
            <pc:sldMk cId="3208683469" sldId="259"/>
            <ac:spMk id="2" creationId="{52591935-914D-1BA8-ED05-64DABAB7F8E5}"/>
          </ac:spMkLst>
        </pc:spChg>
        <pc:spChg chg="mod">
          <ac:chgData name="YULIANA VANESSA PUERTA" userId="S::ypuertac@tecnocomfenalco.edu.co::1e894bcd-0b74-4f6b-88b6-0b2f0d1c8473" providerId="AD" clId="Web-{3A8DB0B3-C213-18D3-6EE4-071A627CF9FE}" dt="2026-02-17T20:00:28.813" v="174" actId="20577"/>
          <ac:spMkLst>
            <pc:docMk/>
            <pc:sldMk cId="3208683469" sldId="259"/>
            <ac:spMk id="3" creationId="{2BBD9FDC-A174-EF39-DB8A-8D8A63F9E82E}"/>
          </ac:spMkLst>
        </pc:spChg>
      </pc:sldChg>
      <pc:sldChg chg="modSp new">
        <pc:chgData name="YULIANA VANESSA PUERTA" userId="S::ypuertac@tecnocomfenalco.edu.co::1e894bcd-0b74-4f6b-88b6-0b2f0d1c8473" providerId="AD" clId="Web-{3A8DB0B3-C213-18D3-6EE4-071A627CF9FE}" dt="2026-02-17T20:09:21.910" v="264" actId="20577"/>
        <pc:sldMkLst>
          <pc:docMk/>
          <pc:sldMk cId="3652939189" sldId="260"/>
        </pc:sldMkLst>
        <pc:spChg chg="mod">
          <ac:chgData name="YULIANA VANESSA PUERTA" userId="S::ypuertac@tecnocomfenalco.edu.co::1e894bcd-0b74-4f6b-88b6-0b2f0d1c8473" providerId="AD" clId="Web-{3A8DB0B3-C213-18D3-6EE4-071A627CF9FE}" dt="2026-02-17T20:08:00.229" v="191" actId="20577"/>
          <ac:spMkLst>
            <pc:docMk/>
            <pc:sldMk cId="3652939189" sldId="260"/>
            <ac:spMk id="2" creationId="{BDA72002-918A-EB34-932A-5A257923AFEC}"/>
          </ac:spMkLst>
        </pc:spChg>
        <pc:spChg chg="mod">
          <ac:chgData name="YULIANA VANESSA PUERTA" userId="S::ypuertac@tecnocomfenalco.edu.co::1e894bcd-0b74-4f6b-88b6-0b2f0d1c8473" providerId="AD" clId="Web-{3A8DB0B3-C213-18D3-6EE4-071A627CF9FE}" dt="2026-02-17T20:09:21.910" v="264" actId="20577"/>
          <ac:spMkLst>
            <pc:docMk/>
            <pc:sldMk cId="3652939189" sldId="260"/>
            <ac:spMk id="3" creationId="{1705C2F3-3227-2F4F-511F-734F4ACC4CD9}"/>
          </ac:spMkLst>
        </pc:spChg>
      </pc:sldChg>
    </pc:docChg>
  </pc:docChgLst>
  <pc:docChgLst>
    <pc:chgData name="YULIANA VANESSA PUERTA" userId="S::ypuertac@tecnocomfenalco.edu.co::1e894bcd-0b74-4f6b-88b6-0b2f0d1c8473" providerId="AD" clId="Web-{24CF21A3-5F74-8BBC-E9E3-EE80EF907955}"/>
    <pc:docChg chg="addSld delSld modSld">
      <pc:chgData name="YULIANA VANESSA PUERTA" userId="S::ypuertac@tecnocomfenalco.edu.co::1e894bcd-0b74-4f6b-88b6-0b2f0d1c8473" providerId="AD" clId="Web-{24CF21A3-5F74-8BBC-E9E3-EE80EF907955}" dt="2026-02-18T02:38:30.593" v="31" actId="20577"/>
      <pc:docMkLst>
        <pc:docMk/>
      </pc:docMkLst>
      <pc:sldChg chg="modSp">
        <pc:chgData name="YULIANA VANESSA PUERTA" userId="S::ypuertac@tecnocomfenalco.edu.co::1e894bcd-0b74-4f6b-88b6-0b2f0d1c8473" providerId="AD" clId="Web-{24CF21A3-5F74-8BBC-E9E3-EE80EF907955}" dt="2026-02-18T02:34:36.062" v="6" actId="20577"/>
        <pc:sldMkLst>
          <pc:docMk/>
          <pc:sldMk cId="3652939189" sldId="260"/>
        </pc:sldMkLst>
        <pc:spChg chg="mod">
          <ac:chgData name="YULIANA VANESSA PUERTA" userId="S::ypuertac@tecnocomfenalco.edu.co::1e894bcd-0b74-4f6b-88b6-0b2f0d1c8473" providerId="AD" clId="Web-{24CF21A3-5F74-8BBC-E9E3-EE80EF907955}" dt="2026-02-18T02:34:36.062" v="6" actId="20577"/>
          <ac:spMkLst>
            <pc:docMk/>
            <pc:sldMk cId="3652939189" sldId="260"/>
            <ac:spMk id="3" creationId="{1705C2F3-3227-2F4F-511F-734F4ACC4CD9}"/>
          </ac:spMkLst>
        </pc:spChg>
      </pc:sldChg>
      <pc:sldChg chg="modSp">
        <pc:chgData name="YULIANA VANESSA PUERTA" userId="S::ypuertac@tecnocomfenalco.edu.co::1e894bcd-0b74-4f6b-88b6-0b2f0d1c8473" providerId="AD" clId="Web-{24CF21A3-5F74-8BBC-E9E3-EE80EF907955}" dt="2026-02-18T02:34:31.265" v="3" actId="20577"/>
        <pc:sldMkLst>
          <pc:docMk/>
          <pc:sldMk cId="4294458610" sldId="279"/>
        </pc:sldMkLst>
        <pc:spChg chg="mod">
          <ac:chgData name="YULIANA VANESSA PUERTA" userId="S::ypuertac@tecnocomfenalco.edu.co::1e894bcd-0b74-4f6b-88b6-0b2f0d1c8473" providerId="AD" clId="Web-{24CF21A3-5F74-8BBC-E9E3-EE80EF907955}" dt="2026-02-18T02:34:31.265" v="3" actId="20577"/>
          <ac:spMkLst>
            <pc:docMk/>
            <pc:sldMk cId="4294458610" sldId="279"/>
            <ac:spMk id="3" creationId="{4B6D4E48-942B-BE58-F629-6314E36602B8}"/>
          </ac:spMkLst>
        </pc:spChg>
      </pc:sldChg>
      <pc:sldChg chg="modSp new add del">
        <pc:chgData name="YULIANA VANESSA PUERTA" userId="S::ypuertac@tecnocomfenalco.edu.co::1e894bcd-0b74-4f6b-88b6-0b2f0d1c8473" providerId="AD" clId="Web-{24CF21A3-5F74-8BBC-E9E3-EE80EF907955}" dt="2026-02-18T02:37:19.734" v="17"/>
        <pc:sldMkLst>
          <pc:docMk/>
          <pc:sldMk cId="3157404225" sldId="281"/>
        </pc:sldMkLst>
        <pc:spChg chg="mod">
          <ac:chgData name="YULIANA VANESSA PUERTA" userId="S::ypuertac@tecnocomfenalco.edu.co::1e894bcd-0b74-4f6b-88b6-0b2f0d1c8473" providerId="AD" clId="Web-{24CF21A3-5F74-8BBC-E9E3-EE80EF907955}" dt="2026-02-18T02:37:07.328" v="15" actId="20577"/>
          <ac:spMkLst>
            <pc:docMk/>
            <pc:sldMk cId="3157404225" sldId="281"/>
            <ac:spMk id="2" creationId="{070D4B37-4296-DFFE-1C62-4E744C3741AF}"/>
          </ac:spMkLst>
        </pc:spChg>
        <pc:spChg chg="mod">
          <ac:chgData name="YULIANA VANESSA PUERTA" userId="S::ypuertac@tecnocomfenalco.edu.co::1e894bcd-0b74-4f6b-88b6-0b2f0d1c8473" providerId="AD" clId="Web-{24CF21A3-5F74-8BBC-E9E3-EE80EF907955}" dt="2026-02-18T02:36:16.187" v="10" actId="20577"/>
          <ac:spMkLst>
            <pc:docMk/>
            <pc:sldMk cId="3157404225" sldId="281"/>
            <ac:spMk id="3" creationId="{5AE2FE52-7E56-8B06-712C-EEA3D195B3BB}"/>
          </ac:spMkLst>
        </pc:spChg>
      </pc:sldChg>
      <pc:sldChg chg="modSp new">
        <pc:chgData name="YULIANA VANESSA PUERTA" userId="S::ypuertac@tecnocomfenalco.edu.co::1e894bcd-0b74-4f6b-88b6-0b2f0d1c8473" providerId="AD" clId="Web-{24CF21A3-5F74-8BBC-E9E3-EE80EF907955}" dt="2026-02-18T02:38:15.156" v="25" actId="20577"/>
        <pc:sldMkLst>
          <pc:docMk/>
          <pc:sldMk cId="1892175219" sldId="282"/>
        </pc:sldMkLst>
        <pc:spChg chg="mod">
          <ac:chgData name="YULIANA VANESSA PUERTA" userId="S::ypuertac@tecnocomfenalco.edu.co::1e894bcd-0b74-4f6b-88b6-0b2f0d1c8473" providerId="AD" clId="Web-{24CF21A3-5F74-8BBC-E9E3-EE80EF907955}" dt="2026-02-18T02:38:15.156" v="25" actId="20577"/>
          <ac:spMkLst>
            <pc:docMk/>
            <pc:sldMk cId="1892175219" sldId="282"/>
            <ac:spMk id="2" creationId="{FF59464C-5880-FEA1-8706-B7920D5BAC3E}"/>
          </ac:spMkLst>
        </pc:spChg>
        <pc:spChg chg="mod">
          <ac:chgData name="YULIANA VANESSA PUERTA" userId="S::ypuertac@tecnocomfenalco.edu.co::1e894bcd-0b74-4f6b-88b6-0b2f0d1c8473" providerId="AD" clId="Web-{24CF21A3-5F74-8BBC-E9E3-EE80EF907955}" dt="2026-02-18T02:38:08.593" v="20" actId="20577"/>
          <ac:spMkLst>
            <pc:docMk/>
            <pc:sldMk cId="1892175219" sldId="282"/>
            <ac:spMk id="3" creationId="{3AC4B93D-75F7-7C10-9663-B253ABF576E5}"/>
          </ac:spMkLst>
        </pc:spChg>
      </pc:sldChg>
      <pc:sldChg chg="modSp add replId">
        <pc:chgData name="YULIANA VANESSA PUERTA" userId="S::ypuertac@tecnocomfenalco.edu.co::1e894bcd-0b74-4f6b-88b6-0b2f0d1c8473" providerId="AD" clId="Web-{24CF21A3-5F74-8BBC-E9E3-EE80EF907955}" dt="2026-02-18T02:38:30.593" v="31" actId="20577"/>
        <pc:sldMkLst>
          <pc:docMk/>
          <pc:sldMk cId="2937441701" sldId="283"/>
        </pc:sldMkLst>
        <pc:spChg chg="mod">
          <ac:chgData name="YULIANA VANESSA PUERTA" userId="S::ypuertac@tecnocomfenalco.edu.co::1e894bcd-0b74-4f6b-88b6-0b2f0d1c8473" providerId="AD" clId="Web-{24CF21A3-5F74-8BBC-E9E3-EE80EF907955}" dt="2026-02-18T02:38:30.593" v="31" actId="20577"/>
          <ac:spMkLst>
            <pc:docMk/>
            <pc:sldMk cId="2937441701" sldId="283"/>
            <ac:spMk id="2" creationId="{CEB1F431-AE4D-48AC-7901-4A6322727469}"/>
          </ac:spMkLst>
        </pc:spChg>
      </pc:sldChg>
    </pc:docChg>
  </pc:docChgLst>
  <pc:docChgLst>
    <pc:chgData name="YULIANA VANESSA PUERTA" userId="S::ypuertac@tecnocomfenalco.edu.co::1e894bcd-0b74-4f6b-88b6-0b2f0d1c8473" providerId="AD" clId="Web-{E3A8271E-9EAF-D009-E338-9EF0E8879B84}"/>
    <pc:docChg chg="modSld">
      <pc:chgData name="YULIANA VANESSA PUERTA" userId="S::ypuertac@tecnocomfenalco.edu.co::1e894bcd-0b74-4f6b-88b6-0b2f0d1c8473" providerId="AD" clId="Web-{E3A8271E-9EAF-D009-E338-9EF0E8879B84}" dt="2026-02-18T16:53:08.245" v="6" actId="14100"/>
      <pc:docMkLst>
        <pc:docMk/>
      </pc:docMkLst>
      <pc:sldChg chg="addSp delSp modSp">
        <pc:chgData name="YULIANA VANESSA PUERTA" userId="S::ypuertac@tecnocomfenalco.edu.co::1e894bcd-0b74-4f6b-88b6-0b2f0d1c8473" providerId="AD" clId="Web-{E3A8271E-9EAF-D009-E338-9EF0E8879B84}" dt="2026-02-18T16:53:08.245" v="6" actId="14100"/>
        <pc:sldMkLst>
          <pc:docMk/>
          <pc:sldMk cId="4258042652" sldId="258"/>
        </pc:sldMkLst>
        <pc:spChg chg="del">
          <ac:chgData name="YULIANA VANESSA PUERTA" userId="S::ypuertac@tecnocomfenalco.edu.co::1e894bcd-0b74-4f6b-88b6-0b2f0d1c8473" providerId="AD" clId="Web-{E3A8271E-9EAF-D009-E338-9EF0E8879B84}" dt="2026-02-18T16:52:43.823" v="0"/>
          <ac:spMkLst>
            <pc:docMk/>
            <pc:sldMk cId="4258042652" sldId="258"/>
            <ac:spMk id="2" creationId="{0B4103A4-2657-A58E-D29F-62A84927E381}"/>
          </ac:spMkLst>
        </pc:spChg>
        <pc:spChg chg="add del mod">
          <ac:chgData name="YULIANA VANESSA PUERTA" userId="S::ypuertac@tecnocomfenalco.edu.co::1e894bcd-0b74-4f6b-88b6-0b2f0d1c8473" providerId="AD" clId="Web-{E3A8271E-9EAF-D009-E338-9EF0E8879B84}" dt="2026-02-18T16:52:51.589" v="1"/>
          <ac:spMkLst>
            <pc:docMk/>
            <pc:sldMk cId="4258042652" sldId="258"/>
            <ac:spMk id="5" creationId="{4B1F436A-629E-C5EA-BF00-8FB4EDB4E7E1}"/>
          </ac:spMkLst>
        </pc:spChg>
        <pc:picChg chg="mod">
          <ac:chgData name="YULIANA VANESSA PUERTA" userId="S::ypuertac@tecnocomfenalco.edu.co::1e894bcd-0b74-4f6b-88b6-0b2f0d1c8473" providerId="AD" clId="Web-{E3A8271E-9EAF-D009-E338-9EF0E8879B84}" dt="2026-02-18T16:53:08.245" v="6" actId="14100"/>
          <ac:picMkLst>
            <pc:docMk/>
            <pc:sldMk cId="4258042652" sldId="258"/>
            <ac:picMk id="4" creationId="{8DEE18CB-7278-A10E-2648-955830D1ABB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92749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ES" dirty="0">
                <a:ea typeface="+mj-lt"/>
                <a:cs typeface="+mj-lt"/>
              </a:rPr>
              <a:t> </a:t>
            </a:r>
            <a:r>
              <a:rPr lang="es-ES" b="1" dirty="0">
                <a:ea typeface="+mj-lt"/>
                <a:cs typeface="+mj-lt"/>
              </a:rPr>
              <a:t>Modelo Operativo y de Gobernanza</a:t>
            </a:r>
            <a:r>
              <a:rPr lang="es-ES" dirty="0">
                <a:ea typeface="+mj-lt"/>
                <a:cs typeface="+mj-lt"/>
              </a:rPr>
              <a:t> del </a:t>
            </a:r>
            <a:r>
              <a:rPr lang="es-ES" b="1" dirty="0">
                <a:ea typeface="+mj-lt"/>
                <a:cs typeface="+mj-lt"/>
              </a:rPr>
              <a:t>Centro de Desarrollo Tecnológico FUTCO,</a:t>
            </a:r>
            <a:r>
              <a:rPr lang="es-ES" dirty="0">
                <a:ea typeface="+mj-lt"/>
                <a:cs typeface="+mj-lt"/>
              </a:rPr>
              <a:t> mediante un enfoque de </a:t>
            </a:r>
            <a:r>
              <a:rPr lang="es-ES" b="1" dirty="0">
                <a:ea typeface="+mj-lt"/>
                <a:cs typeface="+mj-lt"/>
              </a:rPr>
              <a:t>Arquitectura Empresarial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CFBF99-1F4A-F4B2-8269-761BF18DD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Contenido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7838DE-82CA-6FE1-4DDD-F555B85AC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s-ES" dirty="0"/>
              <a:t>Conceptos Previos</a:t>
            </a:r>
          </a:p>
          <a:p>
            <a:pPr marL="971550" lvl="1" indent="-514350">
              <a:buFont typeface="Courier New" panose="020B0604020202020204" pitchFamily="34" charset="0"/>
              <a:buChar char="o"/>
            </a:pPr>
            <a:r>
              <a:rPr lang="es-ES" dirty="0"/>
              <a:t>Arquitectura Empresarial </a:t>
            </a:r>
          </a:p>
          <a:p>
            <a:pPr marL="971550" lvl="1" indent="-514350">
              <a:buFont typeface="Courier New" panose="020B0604020202020204" pitchFamily="34" charset="0"/>
              <a:buChar char="o"/>
            </a:pPr>
            <a:r>
              <a:rPr lang="es-ES" dirty="0"/>
              <a:t>Gobierno de TI</a:t>
            </a:r>
          </a:p>
          <a:p>
            <a:pPr marL="971550" lvl="1" indent="-514350">
              <a:buFont typeface="Courier New" panose="020B0604020202020204" pitchFamily="34" charset="0"/>
              <a:buChar char="o"/>
            </a:pPr>
            <a:r>
              <a:rPr lang="es-ES" dirty="0"/>
              <a:t>Integración del Gobierno de TI y la Arquitectura Empresarial</a:t>
            </a:r>
          </a:p>
          <a:p>
            <a:pPr marL="971550" lvl="1" indent="-514350">
              <a:buFont typeface="Courier New" panose="020B0604020202020204" pitchFamily="34" charset="0"/>
              <a:buChar char="o"/>
            </a:pPr>
            <a:r>
              <a:rPr lang="es-ES" dirty="0"/>
              <a:t>TRL </a:t>
            </a:r>
          </a:p>
          <a:p>
            <a:pPr marL="514350" indent="-514350">
              <a:buAutoNum type="arabicPeriod"/>
            </a:pPr>
            <a:r>
              <a:rPr lang="es-ES" dirty="0"/>
              <a:t>Situación Actual del CDT FUTCO</a:t>
            </a:r>
          </a:p>
          <a:p>
            <a:pPr marL="514350" indent="-514350">
              <a:buAutoNum type="arabicPeriod"/>
            </a:pPr>
            <a:r>
              <a:rPr lang="es-ES" dirty="0"/>
              <a:t>Modelo Propuesto</a:t>
            </a:r>
          </a:p>
          <a:p>
            <a:pPr marL="514350" indent="-514350">
              <a:buAutoNum type="arabicPeriod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92399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50BA1B-819D-F7F2-A876-FB758CD6B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introduccion</a:t>
            </a: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8B28DF52-347A-3372-EAA1-0FD96B24D38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4177709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716170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  <a:latin typeface="Google Sans Text"/>
                        </a:rPr>
                        <a:t>Situación Actual (Artesanal)</a:t>
                      </a:r>
                      <a:endParaRPr lang="es-E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  <a:latin typeface="Google Sans Text"/>
                        </a:rPr>
                        <a:t>Propuesta CDT Pro (Industrializado)</a:t>
                      </a:r>
                      <a:endParaRPr lang="es-E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4716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effectLst/>
                          <a:latin typeface="Google Sans Text"/>
                        </a:rPr>
                        <a:t>El conocimiento reside en la cabeza del líder.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effectLst/>
                          <a:latin typeface="Google Sans Text"/>
                        </a:rPr>
                        <a:t>El conocimiento reside en activos digitales y guías.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883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effectLst/>
                          <a:latin typeface="Google Sans Text"/>
                        </a:rPr>
                        <a:t>Calidad variable según el estudiante de turno.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effectLst/>
                          <a:latin typeface="Google Sans Text"/>
                        </a:rPr>
                        <a:t>Calidad estandarizada por procesos automatizados.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48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effectLst/>
                          <a:latin typeface="Google Sans Text"/>
                        </a:rPr>
                        <a:t>Entregas lentas por curva de aprendizaje alta.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effectLst/>
                          <a:latin typeface="Google Sans Text"/>
                        </a:rPr>
                        <a:t>Onboarding acelerado y flujos ágiles.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045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effectLst/>
                          <a:latin typeface="Google Sans Text"/>
                        </a:rPr>
                        <a:t>Riesgo de "software basura" o difícil de mantener.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effectLst/>
                          <a:latin typeface="Google Sans Text"/>
                        </a:rPr>
                        <a:t>Productos escalables y listos para TI institucional.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321349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81761154-0414-D93F-2EBD-56B4739F3258}"/>
              </a:ext>
            </a:extLst>
          </p:cNvPr>
          <p:cNvSpPr txBox="1"/>
          <p:nvPr/>
        </p:nvSpPr>
        <p:spPr>
          <a:xfrm>
            <a:off x="3048000" y="3429000"/>
            <a:ext cx="6096000" cy="180972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Google Sans Text"/>
                <a:ea typeface="Google Sans Text"/>
                <a:cs typeface="Google Sans Text"/>
              </a:rPr>
              <a:t>Para vender esta propuesta a la Vicerrectoría y a la Gerencia, el enfoque no debe ser técnico, sino </a:t>
            </a:r>
            <a:r>
              <a:rPr lang="en-US" b="1">
                <a:latin typeface="Google Sans Text"/>
                <a:ea typeface="Google Sans Text"/>
                <a:cs typeface="Google Sans Text"/>
              </a:rPr>
              <a:t>estratégico y financiero</a:t>
            </a:r>
            <a:r>
              <a:rPr lang="en-US">
                <a:latin typeface="Google Sans Text"/>
                <a:ea typeface="Google Sans Text"/>
                <a:cs typeface="Google Sans Text"/>
              </a:rPr>
              <a:t>. Ellos no necesitan saber qué es un </a:t>
            </a:r>
            <a:r>
              <a:rPr lang="en-US" i="1">
                <a:latin typeface="Google Sans Text"/>
                <a:ea typeface="Google Sans Text"/>
                <a:cs typeface="Google Sans Text"/>
              </a:rPr>
              <a:t>Pull Request</a:t>
            </a:r>
            <a:r>
              <a:rPr lang="en-US">
                <a:latin typeface="Google Sans Text"/>
                <a:ea typeface="Google Sans Text"/>
                <a:cs typeface="Google Sans Text"/>
              </a:rPr>
              <a:t>, necesitan saber cómo esto protege la reputación de la universidad, ahorra dinero y mejora la formación estudiantil.</a:t>
            </a:r>
          </a:p>
          <a:p>
            <a:r>
              <a:rPr lang="en-US">
                <a:latin typeface="Google Sans Text"/>
                <a:ea typeface="Google Sans Text"/>
                <a:cs typeface="Google Sans Text"/>
              </a:rPr>
              <a:t>Aquí tienes una estructura de "Pitch" o presentación ejecutiva para convencer a la alta dirección:</a:t>
            </a:r>
          </a:p>
          <a:p>
            <a:r>
              <a:rPr lang="en-US" b="1">
                <a:latin typeface="Google Sans"/>
                <a:ea typeface="Google Sans"/>
                <a:cs typeface="Google Sans"/>
              </a:rPr>
              <a:t>1. El Gancho: El Riesgo de la Informalidad Actual</a:t>
            </a:r>
          </a:p>
          <a:p>
            <a:r>
              <a:rPr lang="en-US">
                <a:latin typeface="Google Sans Text"/>
                <a:ea typeface="Google Sans Text"/>
                <a:cs typeface="Google Sans Text"/>
              </a:rPr>
              <a:t>Empieza exponiendo la realidad sin filtros, pero con profesionalismo.</a:t>
            </a:r>
          </a:p>
          <a:p>
            <a:pPr lvl="1">
              <a:buFont typeface=""/>
              <a:buNone/>
            </a:pPr>
            <a:r>
              <a:rPr lang="en-US">
                <a:latin typeface="Google Sans Text"/>
                <a:ea typeface="Google Sans Text"/>
                <a:cs typeface="Google Sans Text"/>
              </a:rPr>
              <a:t>"Actualmente, el CDT funciona como una unidad de apoyo valiosa, pero con una </a:t>
            </a:r>
            <a:r>
              <a:rPr lang="en-US" b="1">
                <a:latin typeface="Google Sans Text"/>
                <a:ea typeface="Google Sans Text"/>
                <a:cs typeface="Google Sans Text"/>
              </a:rPr>
              <a:t>dependencia crítica de personas y no de procesos</a:t>
            </a:r>
            <a:r>
              <a:rPr lang="en-US">
                <a:latin typeface="Google Sans Text"/>
                <a:ea typeface="Google Sans Text"/>
                <a:cs typeface="Google Sans Text"/>
              </a:rPr>
              <a:t>. Si el Líder Técnico se va o los estudiantes rotan, el conocimiento se pierde. Esto genera productos de baja calidad que terminan siendo una carga para el área de TI institucional y una mala experiencia para el usuario final."</a:t>
            </a:r>
          </a:p>
          <a:p>
            <a:r>
              <a:rPr lang="en-US" b="1">
                <a:latin typeface="Google Sans"/>
                <a:ea typeface="Google Sans"/>
                <a:cs typeface="Google Sans"/>
              </a:rPr>
              <a:t>2. Los 3 Pilares de Valor (Lo que ellos quieren escuchar)</a:t>
            </a:r>
          </a:p>
          <a:p>
            <a:r>
              <a:rPr lang="en-US" b="1">
                <a:latin typeface="Google Sans"/>
                <a:ea typeface="Google Sans"/>
                <a:cs typeface="Google Sans"/>
              </a:rPr>
              <a:t>A. Eficiencia Operativa (Más por menos)</a:t>
            </a:r>
          </a:p>
          <a:p>
            <a:pPr marL="228600" indent="-228600">
              <a:buFont typeface=""/>
              <a:buChar char="•"/>
            </a:pPr>
            <a:r>
              <a:rPr lang="en-US" b="1">
                <a:latin typeface="Google Sans Text"/>
                <a:ea typeface="Google Sans Text"/>
                <a:cs typeface="Google Sans Text"/>
              </a:rPr>
              <a:t>Argumento:</a:t>
            </a:r>
            <a:r>
              <a:rPr lang="en-US">
                <a:latin typeface="Google Sans Text"/>
                <a:ea typeface="Google Sans Text"/>
                <a:cs typeface="Google Sans Text"/>
              </a:rPr>
              <a:t> "Con este modelo de gobierno, reducimos el tiempo de 'arranque' de un estudiante de meses a solo 10 días. Esto significa que la universidad recibe horas productivas de práctica casi desde el primer mes."</a:t>
            </a:r>
          </a:p>
          <a:p>
            <a:pPr marL="228600" indent="-228600">
              <a:buFont typeface=""/>
              <a:buChar char="•"/>
            </a:pPr>
            <a:r>
              <a:rPr lang="en-US" b="1">
                <a:latin typeface="Google Sans Text"/>
                <a:ea typeface="Google Sans Text"/>
                <a:cs typeface="Google Sans Text"/>
              </a:rPr>
              <a:t>Beneficio:</a:t>
            </a:r>
            <a:r>
              <a:rPr lang="en-US">
                <a:latin typeface="Google Sans Text"/>
                <a:ea typeface="Google Sans Text"/>
                <a:cs typeface="Google Sans Text"/>
              </a:rPr>
              <a:t> Maximización del recurso humano (estudiantes) y entrega de MVPs en tiempos predecibles.</a:t>
            </a:r>
          </a:p>
          <a:p>
            <a:r>
              <a:rPr lang="en-US" b="1">
                <a:latin typeface="Google Sans"/>
                <a:ea typeface="Google Sans"/>
                <a:cs typeface="Google Sans"/>
              </a:rPr>
              <a:t>B. Mitigación de Riesgos y Calidad (Blindaje institucional)</a:t>
            </a:r>
          </a:p>
          <a:p>
            <a:pPr marL="228600" indent="-228600">
              <a:buFont typeface=""/>
              <a:buChar char="•"/>
            </a:pPr>
            <a:r>
              <a:rPr lang="en-US" b="1">
                <a:latin typeface="Google Sans Text"/>
                <a:ea typeface="Google Sans Text"/>
                <a:cs typeface="Google Sans Text"/>
              </a:rPr>
              <a:t>Argumento:</a:t>
            </a:r>
            <a:r>
              <a:rPr lang="en-US">
                <a:latin typeface="Google Sans Text"/>
                <a:ea typeface="Google Sans Text"/>
                <a:cs typeface="Google Sans Text"/>
              </a:rPr>
              <a:t> "No estamos entregando código, estamos entregando soluciones alineadas a la Arquitectura Empresarial de la Universidad. Al implementar 'Gates de Calidad' y niveles de madurez (TRL), aseguramos que lo que sale del CDT no dañará los sistemas actuales de FUTCO."</a:t>
            </a:r>
          </a:p>
          <a:p>
            <a:pPr marL="228600" indent="-228600">
              <a:buFont typeface=""/>
              <a:buChar char="•"/>
            </a:pPr>
            <a:r>
              <a:rPr lang="en-US" b="1">
                <a:latin typeface="Google Sans Text"/>
                <a:ea typeface="Google Sans Text"/>
                <a:cs typeface="Google Sans Text"/>
              </a:rPr>
              <a:t>Beneficio:</a:t>
            </a:r>
            <a:r>
              <a:rPr lang="en-US">
                <a:latin typeface="Google Sans Text"/>
                <a:ea typeface="Google Sans Text"/>
                <a:cs typeface="Google Sans Text"/>
              </a:rPr>
              <a:t> Evitar costos de mantenimiento futuros y garantizar la seguridad de la información.</a:t>
            </a:r>
          </a:p>
          <a:p>
            <a:r>
              <a:rPr lang="en-US" b="1">
                <a:latin typeface="Google Sans"/>
                <a:ea typeface="Google Sans"/>
                <a:cs typeface="Google Sans"/>
              </a:rPr>
              <a:t>C. Excelencia Académica (Diferenciación del programa)</a:t>
            </a:r>
          </a:p>
          <a:p>
            <a:pPr marL="228600" indent="-228600">
              <a:buFont typeface=""/>
              <a:buChar char="•"/>
            </a:pPr>
            <a:r>
              <a:rPr lang="en-US" b="1">
                <a:latin typeface="Google Sans Text"/>
                <a:ea typeface="Google Sans Text"/>
                <a:cs typeface="Google Sans Text"/>
              </a:rPr>
              <a:t>Argumento:</a:t>
            </a:r>
            <a:r>
              <a:rPr lang="en-US">
                <a:latin typeface="Google Sans Text"/>
                <a:ea typeface="Google Sans Text"/>
                <a:cs typeface="Google Sans Text"/>
              </a:rPr>
              <a:t> "Estamos convirtiendo el centro de prácticas en una </a:t>
            </a:r>
            <a:r>
              <a:rPr lang="en-US" b="1">
                <a:latin typeface="Google Sans Text"/>
                <a:ea typeface="Google Sans Text"/>
                <a:cs typeface="Google Sans Text"/>
              </a:rPr>
              <a:t>fábrica de software de clase mundial</a:t>
            </a:r>
            <a:r>
              <a:rPr lang="en-US">
                <a:latin typeface="Google Sans Text"/>
                <a:ea typeface="Google Sans Text"/>
                <a:cs typeface="Google Sans Text"/>
              </a:rPr>
              <a:t>. El estudiante no solo programa; aprende metodologías ágiles, estándares de industria y gobernanza. Esto eleva el perfil de egreso de Ingeniería de Sistemas."</a:t>
            </a:r>
          </a:p>
          <a:p>
            <a:pPr marL="228600" indent="-228600">
              <a:buFont typeface=""/>
              <a:buChar char="•"/>
            </a:pPr>
            <a:r>
              <a:rPr lang="en-US" b="1">
                <a:latin typeface="Google Sans Text"/>
                <a:ea typeface="Google Sans Text"/>
                <a:cs typeface="Google Sans Text"/>
              </a:rPr>
              <a:t>Beneficio:</a:t>
            </a:r>
            <a:r>
              <a:rPr lang="en-US">
                <a:latin typeface="Google Sans Text"/>
                <a:ea typeface="Google Sans Text"/>
                <a:cs typeface="Google Sans Text"/>
              </a:rPr>
              <a:t> Mejora en indicadores de acreditación y empleabilidad.</a:t>
            </a:r>
          </a:p>
          <a:p>
            <a:r>
              <a:rPr lang="en-US" b="1">
                <a:latin typeface="Google Sans"/>
                <a:ea typeface="Google Sans"/>
                <a:cs typeface="Google Sans"/>
              </a:rPr>
              <a:t>3. Cuadro Comparativo (Para la Gerencia)</a:t>
            </a:r>
          </a:p>
          <a:p>
            <a:r>
              <a:rPr lang="en-US" b="1">
                <a:latin typeface="Google Sans"/>
                <a:ea typeface="Google Sans"/>
                <a:cs typeface="Google Sans"/>
              </a:rPr>
              <a:t>4. La Propuesta de Inversión (El "Ask")</a:t>
            </a:r>
          </a:p>
          <a:p>
            <a:r>
              <a:rPr lang="en-US">
                <a:latin typeface="Google Sans Text"/>
                <a:ea typeface="Google Sans Text"/>
                <a:cs typeface="Google Sans Text"/>
              </a:rPr>
              <a:t>No pidas permiso, presenta un plan de implementación por fases:</a:t>
            </a:r>
          </a:p>
          <a:p>
            <a:pPr marL="228600" indent="-228600">
              <a:buFont typeface=""/>
              <a:buAutoNum type="arabicPeriod"/>
            </a:pPr>
            <a:r>
              <a:rPr lang="en-US" b="1">
                <a:latin typeface="Google Sans Text"/>
                <a:ea typeface="Google Sans Text"/>
                <a:cs typeface="Google Sans Text"/>
              </a:rPr>
              <a:t>Fase 1 (Adopción):</a:t>
            </a:r>
            <a:r>
              <a:rPr lang="en-US">
                <a:latin typeface="Google Sans Text"/>
                <a:ea typeface="Google Sans Text"/>
                <a:cs typeface="Google Sans Text"/>
              </a:rPr>
              <a:t> Estandarizar el "FUTCO-way" (plantillas y guías). </a:t>
            </a:r>
            <a:r>
              <a:rPr lang="en-US" i="1">
                <a:latin typeface="Google Sans Text"/>
                <a:ea typeface="Google Sans Text"/>
                <a:cs typeface="Google Sans Text"/>
              </a:rPr>
              <a:t>Costo: Tiempo del equipo actual.</a:t>
            </a:r>
          </a:p>
          <a:p>
            <a:pPr marL="228600" indent="-228600">
              <a:buFont typeface=""/>
              <a:buAutoNum type="arabicPeriod"/>
            </a:pPr>
            <a:r>
              <a:rPr lang="en-US" b="1">
                <a:latin typeface="Google Sans Text"/>
                <a:ea typeface="Google Sans Text"/>
                <a:cs typeface="Google Sans Text"/>
              </a:rPr>
              <a:t>Fase 2 (Automatización):</a:t>
            </a:r>
            <a:r>
              <a:rPr lang="en-US">
                <a:latin typeface="Google Sans Text"/>
                <a:ea typeface="Google Sans Text"/>
                <a:cs typeface="Google Sans Text"/>
              </a:rPr>
              <a:t> Implementar herramientas de revisión de código automáticas.</a:t>
            </a:r>
          </a:p>
          <a:p>
            <a:pPr marL="228600" indent="-228600">
              <a:buFont typeface=""/>
              <a:buAutoNum type="arabicPeriod"/>
            </a:pPr>
            <a:r>
              <a:rPr lang="en-US" b="1">
                <a:latin typeface="Google Sans Text"/>
                <a:ea typeface="Google Sans Text"/>
                <a:cs typeface="Google Sans Text"/>
              </a:rPr>
              <a:t>Fase 3 (Gobernanza):</a:t>
            </a:r>
            <a:r>
              <a:rPr lang="en-US">
                <a:latin typeface="Google Sans Text"/>
                <a:ea typeface="Google Sans Text"/>
                <a:cs typeface="Google Sans Text"/>
              </a:rPr>
              <a:t> Formalizar los comités con Vicerrectoría para priorizar proyectos que realmente impacten el PDI (Plan de Desarrollo Institucional).</a:t>
            </a:r>
          </a:p>
          <a:p>
            <a:r>
              <a:rPr lang="en-US" b="1">
                <a:latin typeface="Google Sans"/>
                <a:ea typeface="Google Sans"/>
                <a:cs typeface="Google Sans"/>
              </a:rPr>
              <a:t>Tips para tu discurso:</a:t>
            </a:r>
          </a:p>
          <a:p>
            <a:pPr marL="228600" indent="-228600">
              <a:buFont typeface=""/>
              <a:buChar char="•"/>
            </a:pPr>
            <a:r>
              <a:rPr lang="en-US" b="1">
                <a:latin typeface="Google Sans Text"/>
                <a:ea typeface="Google Sans Text"/>
                <a:cs typeface="Google Sans Text"/>
              </a:rPr>
              <a:t>Usa la palabra "Activo":</a:t>
            </a:r>
            <a:r>
              <a:rPr lang="en-US">
                <a:latin typeface="Google Sans Text"/>
                <a:ea typeface="Google Sans Text"/>
                <a:cs typeface="Google Sans Text"/>
              </a:rPr>
              <a:t> No digas "hicimos una app", di "hemos desarrollado un </a:t>
            </a:r>
            <a:r>
              <a:rPr lang="en-US" b="1">
                <a:latin typeface="Google Sans Text"/>
                <a:ea typeface="Google Sans Text"/>
                <a:cs typeface="Google Sans Text"/>
              </a:rPr>
              <a:t>activo digital</a:t>
            </a:r>
            <a:r>
              <a:rPr lang="en-US">
                <a:latin typeface="Google Sans Text"/>
                <a:ea typeface="Google Sans Text"/>
                <a:cs typeface="Google Sans Text"/>
              </a:rPr>
              <a:t> para la institución".</a:t>
            </a:r>
          </a:p>
          <a:p>
            <a:pPr marL="228600" indent="-228600">
              <a:buFont typeface=""/>
              <a:buChar char="•"/>
            </a:pPr>
            <a:r>
              <a:rPr lang="en-US" b="1">
                <a:latin typeface="Google Sans Text"/>
                <a:ea typeface="Google Sans Text"/>
                <a:cs typeface="Google Sans Text"/>
              </a:rPr>
              <a:t>Habla de "Sostenibilidad":</a:t>
            </a:r>
            <a:r>
              <a:rPr lang="en-US">
                <a:latin typeface="Google Sans Text"/>
                <a:ea typeface="Google Sans Text"/>
                <a:cs typeface="Google Sans Text"/>
              </a:rPr>
              <a:t> Enfatiza que este modelo permite que el CDT siga funcionando sin importar quién entre o salga.</a:t>
            </a:r>
          </a:p>
          <a:p>
            <a:pPr marL="228600" indent="-228600">
              <a:buFont typeface=""/>
              <a:buChar char="•"/>
            </a:pPr>
            <a:r>
              <a:rPr lang="en-US" b="1">
                <a:latin typeface="Google Sans Text"/>
                <a:ea typeface="Google Sans Text"/>
                <a:cs typeface="Google Sans Text"/>
              </a:rPr>
              <a:t>Menciona el ahorro:</a:t>
            </a:r>
            <a:r>
              <a:rPr lang="en-US">
                <a:latin typeface="Google Sans Text"/>
                <a:ea typeface="Google Sans Text"/>
                <a:cs typeface="Google Sans Text"/>
              </a:rPr>
              <a:t> Es mucho más barato que el CDT haga un MVP bien hecho, a que la Universidad tenga que contratar una empresa externa porque lo que hicieron los estudiantes no funciona.</a:t>
            </a:r>
          </a:p>
          <a:p>
            <a:r>
              <a:rPr lang="en-US" b="1">
                <a:latin typeface="Google Sans Text"/>
                <a:ea typeface="Google Sans Text"/>
                <a:cs typeface="Google Sans Text"/>
              </a:rPr>
              <a:t>¿Te gustaría que te ayude a redactar un correo ejecutivo de 3 párrafos para enviarles junto con la presentación?</a:t>
            </a:r>
          </a:p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3583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7A0608-9DD8-B175-2CBA-88F41016F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FF0000"/>
                </a:solidFill>
              </a:rPr>
              <a:t>Algunos Conceptos Previos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96FBB0-EB67-0EAA-ABDC-A2B6AB318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7177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A572DB-F70E-004A-4D27-1F6731E2E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Arquitectura Empresarial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AC7B34-E802-B23E-5AE8-070A61D62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s-ES" dirty="0">
                <a:ea typeface="+mn-lt"/>
                <a:cs typeface="+mn-lt"/>
              </a:rPr>
              <a:t>Las </a:t>
            </a:r>
            <a:r>
              <a:rPr lang="es-ES" b="1" dirty="0">
                <a:ea typeface="+mn-lt"/>
                <a:cs typeface="+mn-lt"/>
              </a:rPr>
              <a:t>Arquitecturas Empresariales</a:t>
            </a:r>
            <a:r>
              <a:rPr lang="es-ES" dirty="0">
                <a:ea typeface="+mn-lt"/>
                <a:cs typeface="+mn-lt"/>
              </a:rPr>
              <a:t> (o </a:t>
            </a:r>
            <a:r>
              <a:rPr lang="es-ES" b="1" dirty="0">
                <a:ea typeface="+mn-lt"/>
                <a:cs typeface="+mn-lt"/>
              </a:rPr>
              <a:t>Arquitectura Empresarial</a:t>
            </a:r>
            <a:r>
              <a:rPr lang="es-ES" dirty="0">
                <a:ea typeface="+mn-lt"/>
                <a:cs typeface="+mn-lt"/>
              </a:rPr>
              <a:t>, </a:t>
            </a:r>
            <a:r>
              <a:rPr lang="es-ES" i="1" dirty="0">
                <a:ea typeface="+mn-lt"/>
                <a:cs typeface="+mn-lt"/>
              </a:rPr>
              <a:t>Enterprise </a:t>
            </a:r>
            <a:r>
              <a:rPr lang="es-ES" i="1" err="1">
                <a:ea typeface="+mn-lt"/>
                <a:cs typeface="+mn-lt"/>
              </a:rPr>
              <a:t>Architecture</a:t>
            </a:r>
            <a:r>
              <a:rPr lang="es-ES" i="1" dirty="0">
                <a:ea typeface="+mn-lt"/>
                <a:cs typeface="+mn-lt"/>
              </a:rPr>
              <a:t> – EA</a:t>
            </a:r>
            <a:r>
              <a:rPr lang="es-ES" dirty="0">
                <a:ea typeface="+mn-lt"/>
                <a:cs typeface="+mn-lt"/>
              </a:rPr>
              <a:t>) son una forma </a:t>
            </a:r>
            <a:r>
              <a:rPr lang="es-ES" b="1" dirty="0">
                <a:ea typeface="+mn-lt"/>
                <a:cs typeface="+mn-lt"/>
              </a:rPr>
              <a:t>estructurada</a:t>
            </a:r>
            <a:r>
              <a:rPr lang="es-ES" dirty="0">
                <a:ea typeface="+mn-lt"/>
                <a:cs typeface="+mn-lt"/>
              </a:rPr>
              <a:t> de describir y diseñar </a:t>
            </a:r>
            <a:r>
              <a:rPr lang="es-ES" b="1" dirty="0">
                <a:ea typeface="+mn-lt"/>
                <a:cs typeface="+mn-lt"/>
              </a:rPr>
              <a:t>cómo funciona una organización</a:t>
            </a:r>
            <a:r>
              <a:rPr lang="es-ES" dirty="0">
                <a:ea typeface="+mn-lt"/>
                <a:cs typeface="+mn-lt"/>
              </a:rPr>
              <a:t> y </a:t>
            </a:r>
            <a:r>
              <a:rPr lang="es-ES" b="1" dirty="0">
                <a:ea typeface="+mn-lt"/>
                <a:cs typeface="+mn-lt"/>
              </a:rPr>
              <a:t>cómo debe evolucionar</a:t>
            </a:r>
            <a:r>
              <a:rPr lang="es-ES" dirty="0">
                <a:ea typeface="+mn-lt"/>
                <a:cs typeface="+mn-lt"/>
              </a:rPr>
              <a:t>, alineando: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Estrategia y objetivos</a:t>
            </a:r>
            <a:r>
              <a:rPr lang="es-ES" dirty="0">
                <a:ea typeface="+mn-lt"/>
                <a:cs typeface="+mn-lt"/>
              </a:rPr>
              <a:t> del negocio</a:t>
            </a:r>
            <a:endParaRPr lang="es-ES"/>
          </a:p>
          <a:p>
            <a:r>
              <a:rPr lang="es-ES" b="1" dirty="0">
                <a:ea typeface="+mn-lt"/>
                <a:cs typeface="+mn-lt"/>
              </a:rPr>
              <a:t>Procesos</a:t>
            </a:r>
            <a:r>
              <a:rPr lang="es-ES" dirty="0">
                <a:ea typeface="+mn-lt"/>
                <a:cs typeface="+mn-lt"/>
              </a:rPr>
              <a:t> (cómo se trabaja)</a:t>
            </a:r>
            <a:endParaRPr lang="es-ES"/>
          </a:p>
          <a:p>
            <a:r>
              <a:rPr lang="es-ES" b="1" dirty="0">
                <a:ea typeface="+mn-lt"/>
                <a:cs typeface="+mn-lt"/>
              </a:rPr>
              <a:t>Información y datos</a:t>
            </a:r>
            <a:r>
              <a:rPr lang="es-ES" dirty="0">
                <a:ea typeface="+mn-lt"/>
                <a:cs typeface="+mn-lt"/>
              </a:rPr>
              <a:t> (qué se usa y dónde vive)</a:t>
            </a:r>
            <a:endParaRPr lang="es-ES"/>
          </a:p>
          <a:p>
            <a:r>
              <a:rPr lang="es-ES" b="1" dirty="0">
                <a:ea typeface="+mn-lt"/>
                <a:cs typeface="+mn-lt"/>
              </a:rPr>
              <a:t>Aplicaciones</a:t>
            </a:r>
            <a:r>
              <a:rPr lang="es-ES" dirty="0">
                <a:ea typeface="+mn-lt"/>
                <a:cs typeface="+mn-lt"/>
              </a:rPr>
              <a:t> (qué sistemas soportan el trabajo)</a:t>
            </a:r>
            <a:endParaRPr lang="es-ES"/>
          </a:p>
          <a:p>
            <a:r>
              <a:rPr lang="es-ES" b="1" dirty="0">
                <a:ea typeface="+mn-lt"/>
                <a:cs typeface="+mn-lt"/>
              </a:rPr>
              <a:t>Tecnología</a:t>
            </a:r>
            <a:r>
              <a:rPr lang="es-ES" dirty="0">
                <a:ea typeface="+mn-lt"/>
                <a:cs typeface="+mn-lt"/>
              </a:rPr>
              <a:t> (infraestructura, redes, nube, seguridad)</a:t>
            </a:r>
            <a:endParaRPr lang="es-ES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¿Para qué sirve?</a:t>
            </a:r>
          </a:p>
          <a:p>
            <a:r>
              <a:rPr lang="es-ES" b="1" dirty="0">
                <a:ea typeface="+mn-lt"/>
                <a:cs typeface="+mn-lt"/>
              </a:rPr>
              <a:t>Alinear TI con la estrategia</a:t>
            </a:r>
            <a:r>
              <a:rPr lang="es-ES" dirty="0">
                <a:ea typeface="+mn-lt"/>
                <a:cs typeface="+mn-lt"/>
              </a:rPr>
              <a:t> (que los sistemas soporten lo que la empresa quiere lograr).</a:t>
            </a:r>
            <a:endParaRPr lang="es-ES"/>
          </a:p>
          <a:p>
            <a:r>
              <a:rPr lang="es-ES" b="1" dirty="0">
                <a:ea typeface="+mn-lt"/>
                <a:cs typeface="+mn-lt"/>
              </a:rPr>
              <a:t>Reducir duplicidades</a:t>
            </a:r>
            <a:r>
              <a:rPr lang="es-ES" dirty="0">
                <a:ea typeface="+mn-lt"/>
                <a:cs typeface="+mn-lt"/>
              </a:rPr>
              <a:t> (apps repetidas, datos inconsistentes).</a:t>
            </a:r>
            <a:endParaRPr lang="es-ES"/>
          </a:p>
          <a:p>
            <a:r>
              <a:rPr lang="es-ES" b="1" dirty="0">
                <a:ea typeface="+mn-lt"/>
                <a:cs typeface="+mn-lt"/>
              </a:rPr>
              <a:t>Mejorar la toma de decisiones</a:t>
            </a:r>
            <a:r>
              <a:rPr lang="es-ES" dirty="0">
                <a:ea typeface="+mn-lt"/>
                <a:cs typeface="+mn-lt"/>
              </a:rPr>
              <a:t> (con un mapa claro de dependencias e impacto).</a:t>
            </a:r>
            <a:endParaRPr lang="es-ES"/>
          </a:p>
          <a:p>
            <a:r>
              <a:rPr lang="es-ES" b="1" dirty="0">
                <a:ea typeface="+mn-lt"/>
                <a:cs typeface="+mn-lt"/>
              </a:rPr>
              <a:t>Planear la transformación digital</a:t>
            </a:r>
            <a:r>
              <a:rPr lang="es-ES" dirty="0">
                <a:ea typeface="+mn-lt"/>
                <a:cs typeface="+mn-lt"/>
              </a:rPr>
              <a:t> (hojas de ruta, modernización, nube, integración).</a:t>
            </a:r>
            <a:endParaRPr lang="es-ES"/>
          </a:p>
          <a:p>
            <a:r>
              <a:rPr lang="es-ES" b="1" dirty="0">
                <a:ea typeface="+mn-lt"/>
                <a:cs typeface="+mn-lt"/>
              </a:rPr>
              <a:t>Gestionar riesgos y cumplimiento</a:t>
            </a:r>
            <a:r>
              <a:rPr lang="es-ES" dirty="0">
                <a:ea typeface="+mn-lt"/>
                <a:cs typeface="+mn-lt"/>
              </a:rPr>
              <a:t> (seguridad, continuidad, regulaciones).</a:t>
            </a:r>
            <a:endParaRPr lang="es-ES"/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5739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D96445-07FF-07E5-0453-271115D19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Gobierno de TI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7FC607-56D4-D0C4-9B0E-350CB4AD5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6875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804CA5-98C4-6532-182C-BC3728E71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Como se integra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D4D1A5-B78F-2C3F-AA1F-65839C10F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25000" lnSpcReduction="20000"/>
          </a:bodyPr>
          <a:lstStyle/>
          <a:p>
            <a:r>
              <a:rPr lang="es-ES" b="1">
                <a:ea typeface="+mn-lt"/>
                <a:cs typeface="+mn-lt"/>
              </a:rPr>
              <a:t>Gobierno de TI define </a:t>
            </a:r>
            <a:r>
              <a:rPr lang="es-ES" b="1" i="1">
                <a:ea typeface="+mn-lt"/>
                <a:cs typeface="+mn-lt"/>
              </a:rPr>
              <a:t>quién decide, con qué reglas y con qué controles</a:t>
            </a:r>
            <a:r>
              <a:rPr lang="es-ES">
                <a:ea typeface="+mn-lt"/>
                <a:cs typeface="+mn-lt"/>
              </a:rPr>
              <a:t>; la </a:t>
            </a:r>
            <a:r>
              <a:rPr lang="es-ES" b="1">
                <a:ea typeface="+mn-lt"/>
                <a:cs typeface="+mn-lt"/>
              </a:rPr>
              <a:t>Arquitectura Empresarial define </a:t>
            </a:r>
            <a:r>
              <a:rPr lang="es-ES" b="1" i="1">
                <a:ea typeface="+mn-lt"/>
                <a:cs typeface="+mn-lt"/>
              </a:rPr>
              <a:t>qué se debe construir y cómo debe encajar</a:t>
            </a:r>
            <a:r>
              <a:rPr lang="es-ES">
                <a:ea typeface="+mn-lt"/>
                <a:cs typeface="+mn-lt"/>
              </a:rPr>
              <a:t> para cumplir la estrategia sin generar caos técnico.</a:t>
            </a:r>
          </a:p>
          <a:p>
            <a:r>
              <a:rPr lang="es-ES">
                <a:ea typeface="+mn-lt"/>
                <a:cs typeface="+mn-lt"/>
              </a:rPr>
              <a:t>Se “cruza” así: </a:t>
            </a:r>
            <a:r>
              <a:rPr lang="es-ES" b="1">
                <a:ea typeface="+mn-lt"/>
                <a:cs typeface="+mn-lt"/>
              </a:rPr>
              <a:t>el Gobierno de TI define </a:t>
            </a:r>
            <a:r>
              <a:rPr lang="es-ES" b="1" i="1">
                <a:ea typeface="+mn-lt"/>
                <a:cs typeface="+mn-lt"/>
              </a:rPr>
              <a:t>quién decide, con qué reglas y con qué controles</a:t>
            </a:r>
            <a:r>
              <a:rPr lang="es-ES">
                <a:ea typeface="+mn-lt"/>
                <a:cs typeface="+mn-lt"/>
              </a:rPr>
              <a:t>; la </a:t>
            </a:r>
            <a:r>
              <a:rPr lang="es-ES" b="1">
                <a:ea typeface="+mn-lt"/>
                <a:cs typeface="+mn-lt"/>
              </a:rPr>
              <a:t>Arquitectura Empresarial define </a:t>
            </a:r>
            <a:r>
              <a:rPr lang="es-ES" b="1" i="1">
                <a:ea typeface="+mn-lt"/>
                <a:cs typeface="+mn-lt"/>
              </a:rPr>
              <a:t>qué se debe construir y cómo debe encajar</a:t>
            </a:r>
            <a:r>
              <a:rPr lang="es-ES">
                <a:ea typeface="+mn-lt"/>
                <a:cs typeface="+mn-lt"/>
              </a:rPr>
              <a:t> para cumplir la estrategia sin generar caos técnico.</a:t>
            </a:r>
            <a:endParaRPr lang="es-ES"/>
          </a:p>
          <a:p>
            <a:r>
              <a:rPr lang="es-ES"/>
              <a:t>Cómo se integran en la práctica</a:t>
            </a:r>
          </a:p>
          <a:p>
            <a:r>
              <a:rPr lang="es-ES"/>
              <a:t>1) La arquitectura se vuelve parte de las reglas del juego</a:t>
            </a:r>
          </a:p>
          <a:p>
            <a:r>
              <a:rPr lang="es-ES" b="1">
                <a:ea typeface="+mn-lt"/>
                <a:cs typeface="+mn-lt"/>
              </a:rPr>
              <a:t>Principios de arquitectura</a:t>
            </a:r>
            <a:r>
              <a:rPr lang="es-ES">
                <a:ea typeface="+mn-lt"/>
                <a:cs typeface="+mn-lt"/>
              </a:rPr>
              <a:t> (ej.: “API </a:t>
            </a:r>
            <a:r>
              <a:rPr lang="es-ES" err="1">
                <a:ea typeface="+mn-lt"/>
                <a:cs typeface="+mn-lt"/>
              </a:rPr>
              <a:t>first</a:t>
            </a:r>
            <a:r>
              <a:rPr lang="es-ES">
                <a:ea typeface="+mn-lt"/>
                <a:cs typeface="+mn-lt"/>
              </a:rPr>
              <a:t>”, “dato maestro único”, “</a:t>
            </a:r>
            <a:r>
              <a:rPr lang="es-ES" err="1">
                <a:ea typeface="+mn-lt"/>
                <a:cs typeface="+mn-lt"/>
              </a:rPr>
              <a:t>cloud</a:t>
            </a:r>
            <a:r>
              <a:rPr lang="es-ES">
                <a:ea typeface="+mn-lt"/>
                <a:cs typeface="+mn-lt"/>
              </a:rPr>
              <a:t> por defecto”) → se convierten en </a:t>
            </a:r>
            <a:r>
              <a:rPr lang="es-ES" b="1">
                <a:ea typeface="+mn-lt"/>
                <a:cs typeface="+mn-lt"/>
              </a:rPr>
              <a:t>políticas</a:t>
            </a:r>
            <a:r>
              <a:rPr lang="es-ES">
                <a:ea typeface="+mn-lt"/>
                <a:cs typeface="+mn-lt"/>
              </a:rPr>
              <a:t> de TI.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Estándares</a:t>
            </a:r>
            <a:r>
              <a:rPr lang="es-ES">
                <a:ea typeface="+mn-lt"/>
                <a:cs typeface="+mn-lt"/>
              </a:rPr>
              <a:t> (</a:t>
            </a:r>
            <a:r>
              <a:rPr lang="es-ES" err="1">
                <a:ea typeface="+mn-lt"/>
                <a:cs typeface="+mn-lt"/>
              </a:rPr>
              <a:t>stack</a:t>
            </a:r>
            <a:r>
              <a:rPr lang="es-ES">
                <a:ea typeface="+mn-lt"/>
                <a:cs typeface="+mn-lt"/>
              </a:rPr>
              <a:t> tecnológico, patrones de integración, seguridad) → se vuelven </a:t>
            </a:r>
            <a:r>
              <a:rPr lang="es-ES" b="1">
                <a:ea typeface="+mn-lt"/>
                <a:cs typeface="+mn-lt"/>
              </a:rPr>
              <a:t>criterios obligatorios</a:t>
            </a:r>
            <a:r>
              <a:rPr lang="es-ES">
                <a:ea typeface="+mn-lt"/>
                <a:cs typeface="+mn-lt"/>
              </a:rPr>
              <a:t> para proyectos y compras.</a:t>
            </a:r>
            <a:endParaRPr lang="es-ES"/>
          </a:p>
          <a:p>
            <a:r>
              <a:rPr lang="es-ES"/>
              <a:t>2) Se crea (o fortalece) un órgano de decisión</a:t>
            </a:r>
          </a:p>
          <a:p>
            <a:r>
              <a:rPr lang="es-ES" b="1">
                <a:ea typeface="+mn-lt"/>
                <a:cs typeface="+mn-lt"/>
              </a:rPr>
              <a:t>Comité de Arquitectura / </a:t>
            </a:r>
            <a:r>
              <a:rPr lang="es-ES" b="1" err="1">
                <a:ea typeface="+mn-lt"/>
                <a:cs typeface="+mn-lt"/>
              </a:rPr>
              <a:t>Architecture</a:t>
            </a:r>
            <a:r>
              <a:rPr lang="es-ES" b="1">
                <a:ea typeface="+mn-lt"/>
                <a:cs typeface="+mn-lt"/>
              </a:rPr>
              <a:t> </a:t>
            </a:r>
            <a:r>
              <a:rPr lang="es-ES" b="1" err="1">
                <a:ea typeface="+mn-lt"/>
                <a:cs typeface="+mn-lt"/>
              </a:rPr>
              <a:t>Board</a:t>
            </a:r>
            <a:r>
              <a:rPr lang="es-ES">
                <a:ea typeface="+mn-lt"/>
                <a:cs typeface="+mn-lt"/>
              </a:rPr>
              <a:t> (parte del modelo de gobierno):</a:t>
            </a:r>
            <a:endParaRPr lang="es-ES"/>
          </a:p>
          <a:p>
            <a:pPr lvl="1"/>
            <a:r>
              <a:rPr lang="es-ES">
                <a:ea typeface="+mn-lt"/>
                <a:cs typeface="+mn-lt"/>
              </a:rPr>
              <a:t>Aprueba excepciones</a:t>
            </a:r>
            <a:endParaRPr lang="es-ES"/>
          </a:p>
          <a:p>
            <a:pPr lvl="1"/>
            <a:r>
              <a:rPr lang="es-ES">
                <a:ea typeface="+mn-lt"/>
                <a:cs typeface="+mn-lt"/>
              </a:rPr>
              <a:t>Define estándares</a:t>
            </a:r>
            <a:endParaRPr lang="es-ES"/>
          </a:p>
          <a:p>
            <a:pPr lvl="1"/>
            <a:r>
              <a:rPr lang="es-ES">
                <a:ea typeface="+mn-lt"/>
                <a:cs typeface="+mn-lt"/>
              </a:rPr>
              <a:t>Resuelve conflictos entre áreas</a:t>
            </a:r>
            <a:endParaRPr lang="es-ES"/>
          </a:p>
          <a:p>
            <a:pPr lvl="1"/>
            <a:r>
              <a:rPr lang="es-ES">
                <a:ea typeface="+mn-lt"/>
                <a:cs typeface="+mn-lt"/>
              </a:rPr>
              <a:t>Cuida la coherencia del “mapa” tecnológico</a:t>
            </a:r>
            <a:endParaRPr lang="es-ES"/>
          </a:p>
          <a:p>
            <a:pPr lvl="1"/>
            <a:r>
              <a:rPr lang="es-ES"/>
              <a:t>3) La arquitectura entra en los “gates” del ciclo de vida</a:t>
            </a:r>
          </a:p>
          <a:p>
            <a:pPr lvl="1"/>
            <a:r>
              <a:rPr lang="es-ES">
                <a:ea typeface="+mn-lt"/>
                <a:cs typeface="+mn-lt"/>
              </a:rPr>
              <a:t>En los procesos típicos del gobierno (demanda, portafolio, cambios, SDLC), la EA mete puntos de control: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Gestión de demanda / portafolio</a:t>
            </a:r>
            <a:r>
              <a:rPr lang="es-ES">
                <a:ea typeface="+mn-lt"/>
                <a:cs typeface="+mn-lt"/>
              </a:rPr>
              <a:t>:</a:t>
            </a:r>
            <a:br>
              <a:rPr lang="es-ES">
                <a:ea typeface="+mn-lt"/>
                <a:cs typeface="+mn-lt"/>
              </a:rPr>
            </a:br>
            <a:r>
              <a:rPr lang="es-ES">
                <a:ea typeface="+mn-lt"/>
                <a:cs typeface="+mn-lt"/>
              </a:rPr>
              <a:t> Usa el </a:t>
            </a:r>
            <a:r>
              <a:rPr lang="es-ES" b="1">
                <a:ea typeface="+mn-lt"/>
                <a:cs typeface="+mn-lt"/>
              </a:rPr>
              <a:t>mapa de capacidades</a:t>
            </a:r>
            <a:r>
              <a:rPr lang="es-ES">
                <a:ea typeface="+mn-lt"/>
                <a:cs typeface="+mn-lt"/>
              </a:rPr>
              <a:t>, brechas (AS-IS vs TO-BE) y el </a:t>
            </a:r>
            <a:r>
              <a:rPr lang="es-ES" b="1" err="1">
                <a:ea typeface="+mn-lt"/>
                <a:cs typeface="+mn-lt"/>
              </a:rPr>
              <a:t>roadmap</a:t>
            </a:r>
            <a:r>
              <a:rPr lang="es-ES">
                <a:ea typeface="+mn-lt"/>
                <a:cs typeface="+mn-lt"/>
              </a:rPr>
              <a:t> para priorizar iniciativas.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Aprobación de proyectos</a:t>
            </a:r>
            <a:r>
              <a:rPr lang="es-ES">
                <a:ea typeface="+mn-lt"/>
                <a:cs typeface="+mn-lt"/>
              </a:rPr>
              <a:t>:</a:t>
            </a:r>
            <a:br>
              <a:rPr lang="es-ES">
                <a:ea typeface="+mn-lt"/>
                <a:cs typeface="+mn-lt"/>
              </a:rPr>
            </a:br>
            <a:r>
              <a:rPr lang="es-ES">
                <a:ea typeface="+mn-lt"/>
                <a:cs typeface="+mn-lt"/>
              </a:rPr>
              <a:t> Exige </a:t>
            </a:r>
            <a:r>
              <a:rPr lang="es-ES" b="1">
                <a:ea typeface="+mn-lt"/>
                <a:cs typeface="+mn-lt"/>
              </a:rPr>
              <a:t>arquitectura de solución</a:t>
            </a:r>
            <a:r>
              <a:rPr lang="es-ES">
                <a:ea typeface="+mn-lt"/>
                <a:cs typeface="+mn-lt"/>
              </a:rPr>
              <a:t> (integraciones, datos, seguridad, costos) antes de invertir fuerte.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Compras / proveedores</a:t>
            </a:r>
            <a:r>
              <a:rPr lang="es-ES">
                <a:ea typeface="+mn-lt"/>
                <a:cs typeface="+mn-lt"/>
              </a:rPr>
              <a:t>:</a:t>
            </a:r>
            <a:br>
              <a:rPr lang="es-ES">
                <a:ea typeface="+mn-lt"/>
                <a:cs typeface="+mn-lt"/>
              </a:rPr>
            </a:br>
            <a:r>
              <a:rPr lang="es-ES">
                <a:ea typeface="+mn-lt"/>
                <a:cs typeface="+mn-lt"/>
              </a:rPr>
              <a:t> Evalúa propuestas contra </a:t>
            </a:r>
            <a:r>
              <a:rPr lang="es-ES" b="1">
                <a:ea typeface="+mn-lt"/>
                <a:cs typeface="+mn-lt"/>
              </a:rPr>
              <a:t>arquitecturas de referencia</a:t>
            </a:r>
            <a:r>
              <a:rPr lang="es-ES">
                <a:ea typeface="+mn-lt"/>
                <a:cs typeface="+mn-lt"/>
              </a:rPr>
              <a:t> y </a:t>
            </a:r>
            <a:r>
              <a:rPr lang="es-ES" b="1">
                <a:ea typeface="+mn-lt"/>
                <a:cs typeface="+mn-lt"/>
              </a:rPr>
              <a:t>estándares</a:t>
            </a:r>
            <a:r>
              <a:rPr lang="es-ES">
                <a:ea typeface="+mn-lt"/>
                <a:cs typeface="+mn-lt"/>
              </a:rPr>
              <a:t> (evita “cada proveedor trae su mundo”).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Gestión de cambios (CAB)</a:t>
            </a:r>
            <a:r>
              <a:rPr lang="es-ES">
                <a:ea typeface="+mn-lt"/>
                <a:cs typeface="+mn-lt"/>
              </a:rPr>
              <a:t>:</a:t>
            </a:r>
            <a:br>
              <a:rPr lang="es-ES">
                <a:ea typeface="+mn-lt"/>
                <a:cs typeface="+mn-lt"/>
              </a:rPr>
            </a:br>
            <a:r>
              <a:rPr lang="es-ES">
                <a:ea typeface="+mn-lt"/>
                <a:cs typeface="+mn-lt"/>
              </a:rPr>
              <a:t> Verifica impacto en componentes, dependencias, riesgos y compatibilidad con el target.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Operación (ITIL/servicios)</a:t>
            </a:r>
            <a:r>
              <a:rPr lang="es-ES">
                <a:ea typeface="+mn-lt"/>
                <a:cs typeface="+mn-lt"/>
              </a:rPr>
              <a:t>:</a:t>
            </a:r>
            <a:br>
              <a:rPr lang="es-ES">
                <a:ea typeface="+mn-lt"/>
                <a:cs typeface="+mn-lt"/>
              </a:rPr>
            </a:br>
            <a:r>
              <a:rPr lang="es-ES">
                <a:ea typeface="+mn-lt"/>
                <a:cs typeface="+mn-lt"/>
              </a:rPr>
              <a:t> La arquitectura define </a:t>
            </a:r>
            <a:r>
              <a:rPr lang="es-ES" err="1">
                <a:ea typeface="+mn-lt"/>
                <a:cs typeface="+mn-lt"/>
              </a:rPr>
              <a:t>observabilidad</a:t>
            </a:r>
            <a:r>
              <a:rPr lang="es-ES">
                <a:ea typeface="+mn-lt"/>
                <a:cs typeface="+mn-lt"/>
              </a:rPr>
              <a:t>, continuidad, seguridad y </a:t>
            </a:r>
            <a:r>
              <a:rPr lang="es-ES" err="1">
                <a:ea typeface="+mn-lt"/>
                <a:cs typeface="+mn-lt"/>
              </a:rPr>
              <a:t>SLAs</a:t>
            </a:r>
            <a:r>
              <a:rPr lang="es-ES">
                <a:ea typeface="+mn-lt"/>
                <a:cs typeface="+mn-lt"/>
              </a:rPr>
              <a:t> coherentes con la plataforma.</a:t>
            </a:r>
            <a:endParaRPr lang="es-ES"/>
          </a:p>
          <a:p>
            <a:r>
              <a:rPr lang="es-ES"/>
              <a:t>4) Se conectan con roles y responsabilidades (RACI)</a:t>
            </a:r>
          </a:p>
          <a:p>
            <a:r>
              <a:rPr lang="es-ES">
                <a:ea typeface="+mn-lt"/>
                <a:cs typeface="+mn-lt"/>
              </a:rPr>
              <a:t>Ejemplo típico: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CIO/CTO</a:t>
            </a:r>
            <a:r>
              <a:rPr lang="es-ES">
                <a:ea typeface="+mn-lt"/>
                <a:cs typeface="+mn-lt"/>
              </a:rPr>
              <a:t>: define dirección y aprueba excepciones de alto impacto.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Arquitecto Empresarial</a:t>
            </a:r>
            <a:r>
              <a:rPr lang="es-ES">
                <a:ea typeface="+mn-lt"/>
                <a:cs typeface="+mn-lt"/>
              </a:rPr>
              <a:t>: custodia TO-BE, estándares y </a:t>
            </a:r>
            <a:r>
              <a:rPr lang="es-ES" err="1">
                <a:ea typeface="+mn-lt"/>
                <a:cs typeface="+mn-lt"/>
              </a:rPr>
              <a:t>roadmap</a:t>
            </a:r>
            <a:r>
              <a:rPr lang="es-ES">
                <a:ea typeface="+mn-lt"/>
                <a:cs typeface="+mn-lt"/>
              </a:rPr>
              <a:t>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Arquitecto de Solución</a:t>
            </a:r>
            <a:r>
              <a:rPr lang="es-ES">
                <a:ea typeface="+mn-lt"/>
                <a:cs typeface="+mn-lt"/>
              </a:rPr>
              <a:t>: asegura que cada proyecto encaje.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Seguridad / Datos</a:t>
            </a:r>
            <a:r>
              <a:rPr lang="es-ES">
                <a:ea typeface="+mn-lt"/>
                <a:cs typeface="+mn-lt"/>
              </a:rPr>
              <a:t>: validan controles y gobierno de datos.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PMO / Producto</a:t>
            </a:r>
            <a:r>
              <a:rPr lang="es-ES">
                <a:ea typeface="+mn-lt"/>
                <a:cs typeface="+mn-lt"/>
              </a:rPr>
              <a:t>: gestionan portafolio y entregas alineadas.</a:t>
            </a:r>
            <a:endParaRPr lang="es-ES"/>
          </a:p>
          <a:p>
            <a:r>
              <a:rPr lang="es-ES"/>
              <a:t>5) Métricas de gobierno apoyadas por arquitectura</a:t>
            </a:r>
          </a:p>
          <a:p>
            <a:r>
              <a:rPr lang="es-ES">
                <a:ea typeface="+mn-lt"/>
                <a:cs typeface="+mn-lt"/>
              </a:rPr>
              <a:t>% de proyectos </a:t>
            </a:r>
            <a:r>
              <a:rPr lang="es-ES" b="1">
                <a:ea typeface="+mn-lt"/>
                <a:cs typeface="+mn-lt"/>
              </a:rPr>
              <a:t>conformes</a:t>
            </a:r>
            <a:r>
              <a:rPr lang="es-ES">
                <a:ea typeface="+mn-lt"/>
                <a:cs typeface="+mn-lt"/>
              </a:rPr>
              <a:t> con estándares</a:t>
            </a:r>
            <a:endParaRPr lang="es-ES"/>
          </a:p>
          <a:p>
            <a:r>
              <a:rPr lang="es-ES"/>
              <a:t>de </a:t>
            </a:r>
            <a:r>
              <a:rPr lang="es-ES" b="1"/>
              <a:t>excepciones</a:t>
            </a:r>
            <a:r>
              <a:rPr lang="es-ES"/>
              <a:t> y su costo/riesgo</a:t>
            </a:r>
          </a:p>
          <a:p>
            <a:r>
              <a:rPr lang="es-ES" b="1">
                <a:ea typeface="+mn-lt"/>
                <a:cs typeface="+mn-lt"/>
              </a:rPr>
              <a:t>Reutilización</a:t>
            </a:r>
            <a:r>
              <a:rPr lang="es-ES">
                <a:ea typeface="+mn-lt"/>
                <a:cs typeface="+mn-lt"/>
              </a:rPr>
              <a:t> de </a:t>
            </a:r>
            <a:r>
              <a:rPr lang="es-ES" err="1">
                <a:ea typeface="+mn-lt"/>
                <a:cs typeface="+mn-lt"/>
              </a:rPr>
              <a:t>APIs</a:t>
            </a:r>
            <a:r>
              <a:rPr lang="es-ES">
                <a:ea typeface="+mn-lt"/>
                <a:cs typeface="+mn-lt"/>
              </a:rPr>
              <a:t>/componentes</a:t>
            </a:r>
            <a:endParaRPr lang="es-ES"/>
          </a:p>
          <a:p>
            <a:r>
              <a:rPr lang="es-ES">
                <a:ea typeface="+mn-lt"/>
                <a:cs typeface="+mn-lt"/>
              </a:rPr>
              <a:t>Reducción de </a:t>
            </a:r>
            <a:r>
              <a:rPr lang="es-ES" b="1">
                <a:ea typeface="+mn-lt"/>
                <a:cs typeface="+mn-lt"/>
              </a:rPr>
              <a:t>duplicidad</a:t>
            </a:r>
            <a:r>
              <a:rPr lang="es-ES">
                <a:ea typeface="+mn-lt"/>
                <a:cs typeface="+mn-lt"/>
              </a:rPr>
              <a:t> de aplicaciones/datos</a:t>
            </a:r>
            <a:endParaRPr lang="es-ES"/>
          </a:p>
          <a:p>
            <a:r>
              <a:rPr lang="es-ES">
                <a:ea typeface="+mn-lt"/>
                <a:cs typeface="+mn-lt"/>
              </a:rPr>
              <a:t>Deuda técnica y </a:t>
            </a:r>
            <a:r>
              <a:rPr lang="es-ES" b="1">
                <a:ea typeface="+mn-lt"/>
                <a:cs typeface="+mn-lt"/>
              </a:rPr>
              <a:t>tiempo de entrega</a:t>
            </a:r>
            <a:r>
              <a:rPr lang="es-ES">
                <a:ea typeface="+mn-lt"/>
                <a:cs typeface="+mn-lt"/>
              </a:rPr>
              <a:t> (time-</a:t>
            </a:r>
            <a:r>
              <a:rPr lang="es-ES" err="1">
                <a:ea typeface="+mn-lt"/>
                <a:cs typeface="+mn-lt"/>
              </a:rPr>
              <a:t>to</a:t>
            </a:r>
            <a:r>
              <a:rPr lang="es-ES">
                <a:ea typeface="+mn-lt"/>
                <a:cs typeface="+mn-lt"/>
              </a:rPr>
              <a:t>-</a:t>
            </a:r>
            <a:r>
              <a:rPr lang="es-ES" err="1">
                <a:ea typeface="+mn-lt"/>
                <a:cs typeface="+mn-lt"/>
              </a:rPr>
              <a:t>market</a:t>
            </a:r>
            <a:r>
              <a:rPr lang="es-ES">
                <a:ea typeface="+mn-lt"/>
                <a:cs typeface="+mn-lt"/>
              </a:rPr>
              <a:t>)</a:t>
            </a:r>
            <a:endParaRPr lang="es-ES"/>
          </a:p>
          <a:p>
            <a:r>
              <a:rPr lang="es-ES">
                <a:ea typeface="+mn-lt"/>
                <a:cs typeface="+mn-lt"/>
              </a:rPr>
              <a:t>Si me dices qué marco estás usando (o quieres usar) para gobierno (</a:t>
            </a:r>
            <a:r>
              <a:rPr lang="es-ES" b="1">
                <a:ea typeface="+mn-lt"/>
                <a:cs typeface="+mn-lt"/>
              </a:rPr>
              <a:t>COBIT, ITIL, ISO 38500</a:t>
            </a:r>
            <a:r>
              <a:rPr lang="es-ES">
                <a:ea typeface="+mn-lt"/>
                <a:cs typeface="+mn-lt"/>
              </a:rPr>
              <a:t>) y el tipo de organización, te lo aterrizo en un mini “modelo operativo” con comités, artefactos mínimos y puntos de control.</a:t>
            </a:r>
            <a:endParaRPr lang="es-ES"/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3089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6BEF8-2055-E8A0-9817-AD75BAC5E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C5514-B62D-3142-ED7C-27F955FBD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>
                <a:solidFill>
                  <a:srgbClr val="FF0000"/>
                </a:solidFill>
              </a:rPr>
              <a:t>Situacion</a:t>
            </a:r>
            <a:r>
              <a:rPr lang="es-ES" dirty="0">
                <a:solidFill>
                  <a:srgbClr val="FF0000"/>
                </a:solidFill>
              </a:rPr>
              <a:t> Actual del CDT FUTCO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05F23A-5187-5F37-1C4D-26AFD3132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9003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8DEE18CB-7278-A10E-2648-955830D1A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118" y="0"/>
            <a:ext cx="993214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042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D409E3-A133-2BEF-F6E4-A495A1BC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Lo que SÍ está cubierto hoy (AS-IS)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15F21F-B478-0EAD-597D-B6F8C6BC4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s-ES" b="1">
                <a:ea typeface="+mn-lt"/>
                <a:cs typeface="+mn-lt"/>
              </a:rPr>
              <a:t>Procedimientos de Desarrollo: </a:t>
            </a:r>
          </a:p>
          <a:p>
            <a:pPr marL="0" indent="0">
              <a:buNone/>
            </a:pPr>
            <a:r>
              <a:rPr lang="es-ES" b="1">
                <a:ea typeface="+mn-lt"/>
                <a:cs typeface="+mn-lt"/>
              </a:rPr>
              <a:t>Análisis de requerimientos</a:t>
            </a:r>
            <a:r>
              <a:rPr lang="es-ES">
                <a:ea typeface="+mn-lt"/>
                <a:cs typeface="+mn-lt"/>
              </a:rPr>
              <a:t> (entrevistas, documentación en visión/SRC, casos de uso, historias, seguimiento en Trello y reuniones) </a:t>
            </a:r>
            <a:endParaRPr lang="es-ES"/>
          </a:p>
          <a:p>
            <a:pPr marL="0" indent="0">
              <a:buNone/>
            </a:pPr>
            <a:r>
              <a:rPr lang="es-ES" b="1">
                <a:ea typeface="+mn-lt"/>
                <a:cs typeface="+mn-lt"/>
              </a:rPr>
              <a:t>Diseño</a:t>
            </a:r>
            <a:r>
              <a:rPr lang="es-ES">
                <a:ea typeface="+mn-lt"/>
                <a:cs typeface="+mn-lt"/>
              </a:rPr>
              <a:t> (prototipo no funcional, diagramas UML, documentación, validación y acta de aprobación) </a:t>
            </a:r>
          </a:p>
          <a:p>
            <a:pPr marL="0" indent="0">
              <a:buNone/>
            </a:pPr>
            <a:r>
              <a:rPr lang="es-ES" b="1">
                <a:ea typeface="+mn-lt"/>
                <a:cs typeface="+mn-lt"/>
              </a:rPr>
              <a:t>Desarrollo</a:t>
            </a:r>
            <a:r>
              <a:rPr lang="es-ES">
                <a:ea typeface="+mn-lt"/>
                <a:cs typeface="+mn-lt"/>
              </a:rPr>
              <a:t> (Scrum: backlog, </a:t>
            </a:r>
            <a:r>
              <a:rPr lang="es-ES" err="1">
                <a:ea typeface="+mn-lt"/>
                <a:cs typeface="+mn-lt"/>
              </a:rPr>
              <a:t>sprints</a:t>
            </a:r>
            <a:r>
              <a:rPr lang="es-ES">
                <a:ea typeface="+mn-lt"/>
                <a:cs typeface="+mn-lt"/>
              </a:rPr>
              <a:t>, </a:t>
            </a:r>
            <a:r>
              <a:rPr lang="es-ES" err="1">
                <a:ea typeface="+mn-lt"/>
                <a:cs typeface="+mn-lt"/>
              </a:rPr>
              <a:t>dailys</a:t>
            </a:r>
            <a:r>
              <a:rPr lang="es-ES">
                <a:ea typeface="+mn-lt"/>
                <a:cs typeface="+mn-lt"/>
              </a:rPr>
              <a:t>, revisión y retrospectiva; roles líder/equipo/coordinador) </a:t>
            </a:r>
            <a:endParaRPr lang="es-ES"/>
          </a:p>
          <a:p>
            <a:pPr marL="0" indent="0">
              <a:buNone/>
            </a:pPr>
            <a:r>
              <a:rPr lang="es-ES" b="1">
                <a:ea typeface="+mn-lt"/>
                <a:cs typeface="+mn-lt"/>
              </a:rPr>
              <a:t>Validación y verificación</a:t>
            </a:r>
            <a:r>
              <a:rPr lang="es-ES">
                <a:ea typeface="+mn-lt"/>
                <a:cs typeface="+mn-lt"/>
              </a:rPr>
              <a:t> (plan de pruebas y foco en pruebas unitarias + revisión ortográfica/semántica) </a:t>
            </a:r>
            <a:endParaRPr lang="es-ES"/>
          </a:p>
          <a:p>
            <a:pPr marL="0" indent="0">
              <a:buNone/>
            </a:pPr>
            <a:r>
              <a:rPr lang="es-ES" b="1">
                <a:ea typeface="+mn-lt"/>
                <a:cs typeface="+mn-lt"/>
              </a:rPr>
              <a:t>Entrega a TIC</a:t>
            </a:r>
            <a:r>
              <a:rPr lang="es-ES">
                <a:ea typeface="+mn-lt"/>
                <a:cs typeface="+mn-lt"/>
              </a:rPr>
              <a:t> (OTRS, manuales, código fuente, instalación/configuración, acta y </a:t>
            </a:r>
            <a:r>
              <a:rPr lang="es-ES" err="1">
                <a:ea typeface="+mn-lt"/>
                <a:cs typeface="+mn-lt"/>
              </a:rPr>
              <a:t>checklist</a:t>
            </a:r>
            <a:r>
              <a:rPr lang="es-ES">
                <a:ea typeface="+mn-lt"/>
                <a:cs typeface="+mn-lt"/>
              </a:rPr>
              <a:t>; TIC revisa y acepta) </a:t>
            </a:r>
            <a:endParaRPr lang="es-ES"/>
          </a:p>
          <a:p>
            <a:pPr marL="0" indent="0">
              <a:buNone/>
            </a:pPr>
            <a:endParaRPr lang="es-ES"/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4837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591935-914D-1BA8-ED05-64DABAB7F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Lo que no esta cubierto hoy()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BD9FDC-A174-EF39-DB8A-8D8A63F9E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s-ES">
                <a:ea typeface="+mn-lt"/>
                <a:cs typeface="+mn-lt"/>
              </a:rPr>
              <a:t>Estos procedimientos </a:t>
            </a:r>
            <a:r>
              <a:rPr lang="es-ES" b="1">
                <a:ea typeface="+mn-lt"/>
                <a:cs typeface="+mn-lt"/>
              </a:rPr>
              <a:t>no documentan</a:t>
            </a:r>
            <a:r>
              <a:rPr lang="es-ES">
                <a:ea typeface="+mn-lt"/>
                <a:cs typeface="+mn-lt"/>
              </a:rPr>
              <a:t> (o dejan implícito) lo más crítico para un centro con estudiantes rotando: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Gestión de demanda / intake y priorización</a:t>
            </a:r>
            <a:r>
              <a:rPr lang="es-ES">
                <a:ea typeface="+mn-lt"/>
                <a:cs typeface="+mn-lt"/>
              </a:rPr>
              <a:t> (qué entra, qué no, quién decide, criterios, SLA por tipo de solicitud).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Gestión del conocimiento y </a:t>
            </a:r>
            <a:r>
              <a:rPr lang="es-ES" b="1" err="1">
                <a:ea typeface="+mn-lt"/>
                <a:cs typeface="+mn-lt"/>
              </a:rPr>
              <a:t>onboarding</a:t>
            </a:r>
            <a:r>
              <a:rPr lang="es-ES">
                <a:ea typeface="+mn-lt"/>
                <a:cs typeface="+mn-lt"/>
              </a:rPr>
              <a:t> (</a:t>
            </a:r>
            <a:r>
              <a:rPr lang="es-ES" err="1">
                <a:ea typeface="+mn-lt"/>
                <a:cs typeface="+mn-lt"/>
              </a:rPr>
              <a:t>playbooks</a:t>
            </a:r>
            <a:r>
              <a:rPr lang="es-ES">
                <a:ea typeface="+mn-lt"/>
                <a:cs typeface="+mn-lt"/>
              </a:rPr>
              <a:t>, “FUTCO-</a:t>
            </a:r>
            <a:r>
              <a:rPr lang="es-ES" err="1">
                <a:ea typeface="+mn-lt"/>
                <a:cs typeface="+mn-lt"/>
              </a:rPr>
              <a:t>way</a:t>
            </a:r>
            <a:r>
              <a:rPr lang="es-ES">
                <a:ea typeface="+mn-lt"/>
                <a:cs typeface="+mn-lt"/>
              </a:rPr>
              <a:t>”, plantillas, repos base, guías de arquitectura y estilo).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Gestión de configuración</a:t>
            </a:r>
            <a:r>
              <a:rPr lang="es-ES">
                <a:ea typeface="+mn-lt"/>
                <a:cs typeface="+mn-lt"/>
              </a:rPr>
              <a:t> (Git/ramas, </a:t>
            </a:r>
            <a:r>
              <a:rPr lang="es-ES" err="1">
                <a:ea typeface="+mn-lt"/>
                <a:cs typeface="+mn-lt"/>
              </a:rPr>
              <a:t>code</a:t>
            </a:r>
            <a:r>
              <a:rPr lang="es-ES">
                <a:ea typeface="+mn-lt"/>
                <a:cs typeface="+mn-lt"/>
              </a:rPr>
              <a:t> </a:t>
            </a:r>
            <a:r>
              <a:rPr lang="es-ES" err="1">
                <a:ea typeface="+mn-lt"/>
                <a:cs typeface="+mn-lt"/>
              </a:rPr>
              <a:t>review</a:t>
            </a:r>
            <a:r>
              <a:rPr lang="es-ES">
                <a:ea typeface="+mn-lt"/>
                <a:cs typeface="+mn-lt"/>
              </a:rPr>
              <a:t> obligatorio, control de versiones, convenciones).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Calidad más allá de unitarias</a:t>
            </a:r>
            <a:r>
              <a:rPr lang="es-ES">
                <a:ea typeface="+mn-lt"/>
                <a:cs typeface="+mn-lt"/>
              </a:rPr>
              <a:t>: pruebas funcionales, integración, seguridad, regresión, UAT formal, criterios de salida.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Gestión de ambientes y </a:t>
            </a:r>
            <a:r>
              <a:rPr lang="es-ES" b="1" err="1">
                <a:ea typeface="+mn-lt"/>
                <a:cs typeface="+mn-lt"/>
              </a:rPr>
              <a:t>releases</a:t>
            </a:r>
            <a:r>
              <a:rPr lang="es-ES">
                <a:ea typeface="+mn-lt"/>
                <a:cs typeface="+mn-lt"/>
              </a:rPr>
              <a:t> (DEV/QA/UAT/PROD, empaquetado, CI/CD, </a:t>
            </a:r>
            <a:r>
              <a:rPr lang="es-ES" err="1">
                <a:ea typeface="+mn-lt"/>
                <a:cs typeface="+mn-lt"/>
              </a:rPr>
              <a:t>rollback</a:t>
            </a:r>
            <a:r>
              <a:rPr lang="es-ES">
                <a:ea typeface="+mn-lt"/>
                <a:cs typeface="+mn-lt"/>
              </a:rPr>
              <a:t>, versionado).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Soporte y mantenimiento </a:t>
            </a:r>
            <a:r>
              <a:rPr lang="es-ES" b="1" err="1">
                <a:ea typeface="+mn-lt"/>
                <a:cs typeface="+mn-lt"/>
              </a:rPr>
              <a:t>post-entrega</a:t>
            </a:r>
            <a:r>
              <a:rPr lang="es-ES">
                <a:ea typeface="+mn-lt"/>
                <a:cs typeface="+mn-lt"/>
              </a:rPr>
              <a:t> (</a:t>
            </a:r>
            <a:r>
              <a:rPr lang="es-ES" err="1">
                <a:ea typeface="+mn-lt"/>
                <a:cs typeface="+mn-lt"/>
              </a:rPr>
              <a:t>hypercare</a:t>
            </a:r>
            <a:r>
              <a:rPr lang="es-ES">
                <a:ea typeface="+mn-lt"/>
                <a:cs typeface="+mn-lt"/>
              </a:rPr>
              <a:t>, bugs, niveles de atención, transferencia a TIC).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Arquitectura y seguridad</a:t>
            </a:r>
            <a:r>
              <a:rPr lang="es-ES">
                <a:ea typeface="+mn-lt"/>
                <a:cs typeface="+mn-lt"/>
              </a:rPr>
              <a:t> como “gates” antes de pasar a TIC (</a:t>
            </a:r>
            <a:r>
              <a:rPr lang="es-ES" err="1">
                <a:ea typeface="+mn-lt"/>
                <a:cs typeface="+mn-lt"/>
              </a:rPr>
              <a:t>checklist</a:t>
            </a:r>
            <a:r>
              <a:rPr lang="es-ES">
                <a:ea typeface="+mn-lt"/>
                <a:cs typeface="+mn-lt"/>
              </a:rPr>
              <a:t> técnico mínimo).</a:t>
            </a:r>
            <a:endParaRPr lang="es-ES"/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8683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888656-DD3B-E574-789D-592BB93B5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Como Escalamos los Productos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D3F570E3-076A-7238-D8E5-64A32F157E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781917"/>
              </p:ext>
            </p:extLst>
          </p:nvPr>
        </p:nvGraphicFramePr>
        <p:xfrm>
          <a:off x="1093639" y="1883326"/>
          <a:ext cx="9472774" cy="399624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80660">
                  <a:extLst>
                    <a:ext uri="{9D8B030D-6E8A-4147-A177-3AD203B41FA5}">
                      <a16:colId xmlns:a16="http://schemas.microsoft.com/office/drawing/2014/main" val="217662463"/>
                    </a:ext>
                  </a:extLst>
                </a:gridCol>
                <a:gridCol w="721346">
                  <a:extLst>
                    <a:ext uri="{9D8B030D-6E8A-4147-A177-3AD203B41FA5}">
                      <a16:colId xmlns:a16="http://schemas.microsoft.com/office/drawing/2014/main" val="1653711617"/>
                    </a:ext>
                  </a:extLst>
                </a:gridCol>
                <a:gridCol w="721346">
                  <a:extLst>
                    <a:ext uri="{9D8B030D-6E8A-4147-A177-3AD203B41FA5}">
                      <a16:colId xmlns:a16="http://schemas.microsoft.com/office/drawing/2014/main" val="286976459"/>
                    </a:ext>
                  </a:extLst>
                </a:gridCol>
                <a:gridCol w="721346">
                  <a:extLst>
                    <a:ext uri="{9D8B030D-6E8A-4147-A177-3AD203B41FA5}">
                      <a16:colId xmlns:a16="http://schemas.microsoft.com/office/drawing/2014/main" val="429880202"/>
                    </a:ext>
                  </a:extLst>
                </a:gridCol>
                <a:gridCol w="721346">
                  <a:extLst>
                    <a:ext uri="{9D8B030D-6E8A-4147-A177-3AD203B41FA5}">
                      <a16:colId xmlns:a16="http://schemas.microsoft.com/office/drawing/2014/main" val="3173358861"/>
                    </a:ext>
                  </a:extLst>
                </a:gridCol>
                <a:gridCol w="721346">
                  <a:extLst>
                    <a:ext uri="{9D8B030D-6E8A-4147-A177-3AD203B41FA5}">
                      <a16:colId xmlns:a16="http://schemas.microsoft.com/office/drawing/2014/main" val="3893487559"/>
                    </a:ext>
                  </a:extLst>
                </a:gridCol>
                <a:gridCol w="721346">
                  <a:extLst>
                    <a:ext uri="{9D8B030D-6E8A-4147-A177-3AD203B41FA5}">
                      <a16:colId xmlns:a16="http://schemas.microsoft.com/office/drawing/2014/main" val="1236661016"/>
                    </a:ext>
                  </a:extLst>
                </a:gridCol>
                <a:gridCol w="721346">
                  <a:extLst>
                    <a:ext uri="{9D8B030D-6E8A-4147-A177-3AD203B41FA5}">
                      <a16:colId xmlns:a16="http://schemas.microsoft.com/office/drawing/2014/main" val="618559748"/>
                    </a:ext>
                  </a:extLst>
                </a:gridCol>
                <a:gridCol w="721346">
                  <a:extLst>
                    <a:ext uri="{9D8B030D-6E8A-4147-A177-3AD203B41FA5}">
                      <a16:colId xmlns:a16="http://schemas.microsoft.com/office/drawing/2014/main" val="3804072910"/>
                    </a:ext>
                  </a:extLst>
                </a:gridCol>
                <a:gridCol w="721346">
                  <a:extLst>
                    <a:ext uri="{9D8B030D-6E8A-4147-A177-3AD203B41FA5}">
                      <a16:colId xmlns:a16="http://schemas.microsoft.com/office/drawing/2014/main" val="1040519938"/>
                    </a:ext>
                  </a:extLst>
                </a:gridCol>
              </a:tblGrid>
              <a:tr h="54531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dirty="0">
                          <a:effectLst/>
                          <a:latin typeface="Aptos Narrow"/>
                        </a:rPr>
                        <a:t>Producto/Niveles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dirty="0">
                          <a:effectLst/>
                          <a:latin typeface="Aptos Narrow"/>
                        </a:rPr>
                        <a:t>Medición madurez digital ( TRL: </a:t>
                      </a:r>
                      <a:r>
                        <a:rPr lang="es-ES" sz="2400" err="1">
                          <a:effectLst/>
                          <a:latin typeface="Aptos Narrow"/>
                        </a:rPr>
                        <a:t>Technology</a:t>
                      </a:r>
                      <a:r>
                        <a:rPr lang="es-ES" sz="2400" dirty="0">
                          <a:effectLst/>
                          <a:latin typeface="Aptos Narrow"/>
                        </a:rPr>
                        <a:t> </a:t>
                      </a:r>
                      <a:r>
                        <a:rPr lang="es-ES" sz="2400" err="1">
                          <a:effectLst/>
                          <a:latin typeface="Aptos Narrow"/>
                        </a:rPr>
                        <a:t>Readiness</a:t>
                      </a:r>
                      <a:r>
                        <a:rPr lang="es-ES" sz="2400" dirty="0">
                          <a:effectLst/>
                          <a:latin typeface="Aptos Narrow"/>
                        </a:rPr>
                        <a:t> </a:t>
                      </a:r>
                      <a:r>
                        <a:rPr lang="es-ES" sz="2400" err="1">
                          <a:effectLst/>
                          <a:latin typeface="Aptos Narrow"/>
                        </a:rPr>
                        <a:t>Level</a:t>
                      </a:r>
                      <a:r>
                        <a:rPr lang="es-ES" sz="2400" dirty="0">
                          <a:effectLst/>
                          <a:latin typeface="Aptos Narrow"/>
                        </a:rPr>
                        <a:t>)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014231"/>
                  </a:ext>
                </a:extLst>
              </a:tr>
              <a:tr h="545316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dirty="0"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dirty="0">
                          <a:effectLst/>
                          <a:latin typeface="Aptos Narrow"/>
                        </a:rPr>
                        <a:t>2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dirty="0">
                          <a:effectLst/>
                          <a:latin typeface="Aptos Narrow"/>
                        </a:rPr>
                        <a:t>3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dirty="0">
                          <a:effectLst/>
                          <a:latin typeface="Aptos Narrow"/>
                        </a:rPr>
                        <a:t>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dirty="0">
                          <a:effectLst/>
                          <a:latin typeface="Aptos Narrow"/>
                        </a:rPr>
                        <a:t>5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dirty="0">
                          <a:effectLst/>
                          <a:latin typeface="Aptos Narrow"/>
                        </a:rPr>
                        <a:t>6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dirty="0">
                          <a:effectLst/>
                          <a:latin typeface="Aptos Narrow"/>
                        </a:rPr>
                        <a:t>7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dirty="0">
                          <a:effectLst/>
                          <a:latin typeface="Aptos Narrow"/>
                        </a:rPr>
                        <a:t>8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dirty="0">
                          <a:effectLst/>
                          <a:latin typeface="Aptos Narrow"/>
                        </a:rPr>
                        <a:t>9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5627086"/>
                  </a:ext>
                </a:extLst>
              </a:tr>
              <a:tr h="545316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s-ES" sz="2400" dirty="0">
                          <a:effectLst/>
                          <a:latin typeface="Aptos Narrow"/>
                        </a:rPr>
                        <a:t>Software </a:t>
                      </a:r>
                      <a:r>
                        <a:rPr lang="es-ES" sz="2400" err="1">
                          <a:effectLst/>
                          <a:latin typeface="Aptos Narrow"/>
                        </a:rPr>
                        <a:t>internacinalización</a:t>
                      </a: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dirty="0">
                          <a:effectLst/>
                          <a:latin typeface="Aptos Narrow"/>
                        </a:rPr>
                        <a:t>X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720149"/>
                  </a:ext>
                </a:extLst>
              </a:tr>
              <a:tr h="545316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s-ES" sz="2400" dirty="0">
                          <a:effectLst/>
                          <a:latin typeface="Aptos Narrow"/>
                        </a:rPr>
                        <a:t>Software proyecto de aula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dirty="0">
                          <a:effectLst/>
                          <a:latin typeface="Aptos Narrow"/>
                        </a:rPr>
                        <a:t>X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5731697"/>
                  </a:ext>
                </a:extLst>
              </a:tr>
              <a:tr h="545316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s-ES" sz="2400" dirty="0">
                          <a:effectLst/>
                          <a:latin typeface="Aptos Narrow"/>
                        </a:rPr>
                        <a:t>Software empresarial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dirty="0">
                          <a:effectLst/>
                          <a:latin typeface="Aptos Narrow"/>
                        </a:rPr>
                        <a:t>X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710527"/>
                  </a:ext>
                </a:extLst>
              </a:tr>
              <a:tr h="545316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s-ES" sz="2400" dirty="0">
                          <a:effectLst/>
                          <a:latin typeface="Aptos Narrow"/>
                        </a:rPr>
                        <a:t>Software </a:t>
                      </a:r>
                      <a:r>
                        <a:rPr lang="es-ES" sz="2400" err="1">
                          <a:effectLst/>
                          <a:latin typeface="Aptos Narrow"/>
                        </a:rPr>
                        <a:t>TecnoPro</a:t>
                      </a: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dirty="0">
                          <a:effectLst/>
                          <a:latin typeface="Aptos Narrow"/>
                        </a:rPr>
                        <a:t>X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ES" sz="2400" dirty="0">
                        <a:effectLst/>
                        <a:latin typeface="Aptos Narrow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500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7443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F6E45C-2C6C-F331-1981-D3A26EB39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Fortalezas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6D4E48-942B-BE58-F629-6314E3660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s-ES" dirty="0" err="1"/>
              <a:t>Reduccion</a:t>
            </a:r>
            <a:r>
              <a:rPr lang="es-ES" dirty="0"/>
              <a:t> de Costos $$ en Desarrollo </a:t>
            </a:r>
            <a:r>
              <a:rPr lang="es-ES" dirty="0" err="1"/>
              <a:t>Tecnologico</a:t>
            </a:r>
            <a:r>
              <a:rPr lang="es-ES" dirty="0"/>
              <a:t> </a:t>
            </a:r>
          </a:p>
          <a:p>
            <a:r>
              <a:rPr lang="es-ES" dirty="0"/>
              <a:t>Atiende Necesidades de las </a:t>
            </a:r>
            <a:r>
              <a:rPr lang="es-ES" dirty="0" err="1"/>
              <a:t>Areas</a:t>
            </a:r>
            <a:r>
              <a:rPr lang="es-ES" dirty="0"/>
              <a:t> </a:t>
            </a:r>
            <a:r>
              <a:rPr lang="es-ES" dirty="0" err="1"/>
              <a:t>INternas</a:t>
            </a:r>
            <a:r>
              <a:rPr lang="es-ES" dirty="0"/>
              <a:t> de la Compañía</a:t>
            </a:r>
          </a:p>
          <a:p>
            <a:r>
              <a:rPr lang="es-ES" dirty="0"/>
              <a:t>Desarrollo de X Soluciones a diferentes </a:t>
            </a:r>
            <a:r>
              <a:rPr lang="es-ES" dirty="0" err="1"/>
              <a:t>areas</a:t>
            </a:r>
            <a:r>
              <a:rPr lang="es-ES" dirty="0"/>
              <a:t> como: </a:t>
            </a:r>
            <a:r>
              <a:rPr lang="es-ES" dirty="0" err="1"/>
              <a:t>Internacionalizacion</a:t>
            </a:r>
            <a:r>
              <a:rPr lang="es-ES" dirty="0"/>
              <a:t>, Investigaciones, </a:t>
            </a:r>
            <a:r>
              <a:rPr lang="es-ES" dirty="0" err="1"/>
              <a:t>Proyeccion</a:t>
            </a:r>
            <a:r>
              <a:rPr lang="es-ES" dirty="0"/>
              <a:t> Social, etc.</a:t>
            </a:r>
          </a:p>
          <a:p>
            <a:r>
              <a:rPr lang="es-ES" dirty="0"/>
              <a:t>Procesos Definidos </a:t>
            </a:r>
          </a:p>
          <a:p>
            <a:r>
              <a:rPr lang="es-ES" b="1" dirty="0">
                <a:ea typeface="+mn-lt"/>
                <a:cs typeface="+mn-lt"/>
              </a:rPr>
              <a:t>Ya existe un ciclo de vida de desarrollo formal</a:t>
            </a:r>
            <a:r>
              <a:rPr lang="es-ES" dirty="0">
                <a:ea typeface="+mn-lt"/>
                <a:cs typeface="+mn-lt"/>
              </a:rPr>
              <a:t> (análisis → diseño → desarrollo → pruebas → entrega). Eso da orden y repetibilidad.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Cultura de entrega</a:t>
            </a:r>
            <a:r>
              <a:rPr lang="es-ES" dirty="0">
                <a:ea typeface="+mn-lt"/>
                <a:cs typeface="+mn-lt"/>
              </a:rPr>
              <a:t>: han logrado sacar </a:t>
            </a:r>
            <a:r>
              <a:rPr lang="es-ES" dirty="0" err="1">
                <a:ea typeface="+mn-lt"/>
                <a:cs typeface="+mn-lt"/>
              </a:rPr>
              <a:t>MVPs</a:t>
            </a:r>
            <a:r>
              <a:rPr lang="es-ES" dirty="0">
                <a:ea typeface="+mn-lt"/>
                <a:cs typeface="+mn-lt"/>
              </a:rPr>
              <a:t> para áreas reales (capacidad demostrada de “hacer que pase”).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Rol de liderazgo técnico</a:t>
            </a:r>
            <a:r>
              <a:rPr lang="es-ES" dirty="0">
                <a:ea typeface="+mn-lt"/>
                <a:cs typeface="+mn-lt"/>
              </a:rPr>
              <a:t> claro (punto de referencia para decisiones, calidad y continuidad).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Puente con TIC</a:t>
            </a:r>
            <a:r>
              <a:rPr lang="es-ES" dirty="0">
                <a:ea typeface="+mn-lt"/>
                <a:cs typeface="+mn-lt"/>
              </a:rPr>
              <a:t>: existe un mecanismo de entrega/transferencia (clave para que el software no quede “huérfano”).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Práctica formativa con impacto</a:t>
            </a:r>
            <a:r>
              <a:rPr lang="es-ES" dirty="0">
                <a:ea typeface="+mn-lt"/>
                <a:cs typeface="+mn-lt"/>
              </a:rPr>
              <a:t>: el CDT es un entorno real de aprendizaje (valor académico e institucional).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94458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A72002-918A-EB34-932A-5A257923A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Oportunidades de Mejora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05C2F3-3227-2F4F-511F-734F4ACC4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25000" lnSpcReduction="20000"/>
          </a:bodyPr>
          <a:lstStyle/>
          <a:p>
            <a:pPr marL="514350" indent="-514350">
              <a:buAutoNum type="arabicPeriod"/>
            </a:pPr>
            <a:r>
              <a:rPr lang="es-ES" dirty="0"/>
              <a:t>Curva de Aprendizaje (Alta)</a:t>
            </a:r>
          </a:p>
          <a:p>
            <a:pPr marL="514350" indent="-514350">
              <a:buAutoNum type="arabicPeriod"/>
            </a:pPr>
            <a:r>
              <a:rPr lang="es-ES" dirty="0"/>
              <a:t>Tiempos elevados de Desarrollo Tecnológico </a:t>
            </a:r>
          </a:p>
          <a:p>
            <a:pPr marL="514350" indent="-514350">
              <a:buAutoNum type="arabicPeriod"/>
            </a:pPr>
            <a:r>
              <a:rPr lang="es-ES" dirty="0"/>
              <a:t>Rotación del Personal </a:t>
            </a:r>
          </a:p>
          <a:p>
            <a:pPr marL="514350" indent="-514350">
              <a:buAutoNum type="arabicPeriod"/>
            </a:pPr>
            <a:r>
              <a:rPr lang="es-ES" dirty="0"/>
              <a:t>Calidad del Producto Final </a:t>
            </a:r>
          </a:p>
          <a:p>
            <a:pPr marL="514350" indent="-514350">
              <a:buAutoNum type="arabicPeriod"/>
            </a:pPr>
            <a:r>
              <a:rPr lang="es-ES" dirty="0"/>
              <a:t>No se garantiza la Escalabilidad de los MVP desarrollados </a:t>
            </a:r>
          </a:p>
          <a:p>
            <a:pPr marL="514350" indent="-514350">
              <a:buAutoNum type="arabicPeriod"/>
            </a:pPr>
            <a:r>
              <a:rPr lang="es-ES" dirty="0" err="1"/>
              <a:t>Ausecia</a:t>
            </a:r>
            <a:r>
              <a:rPr lang="es-ES" dirty="0"/>
              <a:t> de Instrumentos de Seguimiento y Control a Nivel de Gobierno</a:t>
            </a:r>
          </a:p>
          <a:p>
            <a:r>
              <a:rPr lang="es-ES"/>
              <a:t>Oportunidades de mejora (las que más impactan tiempos, calidad y escalabilidad)</a:t>
            </a:r>
            <a:endParaRPr lang="es-ES" dirty="0"/>
          </a:p>
          <a:p>
            <a:r>
              <a:rPr lang="es-ES"/>
              <a:t>1) Reducir curva de aprendizaje (rotación)</a:t>
            </a:r>
          </a:p>
          <a:p>
            <a:r>
              <a:rPr lang="es-ES">
                <a:ea typeface="+mn-lt"/>
                <a:cs typeface="+mn-lt"/>
              </a:rPr>
              <a:t>Crear </a:t>
            </a:r>
            <a:r>
              <a:rPr lang="es-ES" b="1">
                <a:ea typeface="+mn-lt"/>
                <a:cs typeface="+mn-lt"/>
              </a:rPr>
              <a:t>Semillero previo obligatorio</a:t>
            </a:r>
            <a:r>
              <a:rPr lang="es-ES">
                <a:ea typeface="+mn-lt"/>
                <a:cs typeface="+mn-lt"/>
              </a:rPr>
              <a:t> (gate de entrada) + onboarding estándar (10 días).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FUTCO-way</a:t>
            </a:r>
            <a:r>
              <a:rPr lang="es-ES">
                <a:ea typeface="+mn-lt"/>
                <a:cs typeface="+mn-lt"/>
              </a:rPr>
              <a:t>: repositorio plantilla, convenciones, ejemplos, checklist de PR y guía “cómo se trabaja aquí”.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Base de conocimiento</a:t>
            </a:r>
            <a:r>
              <a:rPr lang="es-ES">
                <a:ea typeface="+mn-lt"/>
                <a:cs typeface="+mn-lt"/>
              </a:rPr>
              <a:t> (wiki) con “cómo correr”, “cómo desplegar”, decisiones técnicas y patrones.</a:t>
            </a:r>
            <a:endParaRPr lang="es-ES"/>
          </a:p>
          <a:p>
            <a:r>
              <a:rPr lang="es-ES"/>
              <a:t>2) Bajar tiempos de desarrollo</a:t>
            </a:r>
          </a:p>
          <a:p>
            <a:r>
              <a:rPr lang="es-ES">
                <a:ea typeface="+mn-lt"/>
                <a:cs typeface="+mn-lt"/>
              </a:rPr>
              <a:t>Implementar </a:t>
            </a:r>
            <a:r>
              <a:rPr lang="es-ES" b="1">
                <a:ea typeface="+mn-lt"/>
                <a:cs typeface="+mn-lt"/>
              </a:rPr>
              <a:t>Definition of Ready (DoR)</a:t>
            </a:r>
            <a:r>
              <a:rPr lang="es-ES">
                <a:ea typeface="+mn-lt"/>
                <a:cs typeface="+mn-lt"/>
              </a:rPr>
              <a:t>: historias solo entran a sprint si tienen criterios de aceptación y datos de prueba mínimos.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Historias más pequeñas</a:t>
            </a:r>
            <a:r>
              <a:rPr lang="es-ES">
                <a:ea typeface="+mn-lt"/>
                <a:cs typeface="+mn-lt"/>
              </a:rPr>
              <a:t> y límite de WIP (menos multitarea, más flujo).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QA dentro del sprint</a:t>
            </a:r>
            <a:r>
              <a:rPr lang="es-ES">
                <a:ea typeface="+mn-lt"/>
                <a:cs typeface="+mn-lt"/>
              </a:rPr>
              <a:t> (evitar que testing sea “otra fase al final”).</a:t>
            </a:r>
            <a:endParaRPr lang="es-ES"/>
          </a:p>
          <a:p>
            <a:r>
              <a:rPr lang="es-ES"/>
              <a:t>3) Asegurar calidad de forma sistemática</a:t>
            </a:r>
          </a:p>
          <a:p>
            <a:r>
              <a:rPr lang="es-ES" b="1">
                <a:ea typeface="+mn-lt"/>
                <a:cs typeface="+mn-lt"/>
              </a:rPr>
              <a:t>Code review obligatorio</a:t>
            </a:r>
            <a:r>
              <a:rPr lang="es-ES">
                <a:ea typeface="+mn-lt"/>
                <a:cs typeface="+mn-lt"/>
              </a:rPr>
              <a:t> (PR con checklist).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Definition of Done (DoD)</a:t>
            </a:r>
            <a:r>
              <a:rPr lang="es-ES">
                <a:ea typeface="+mn-lt"/>
                <a:cs typeface="+mn-lt"/>
              </a:rPr>
              <a:t> única del CDT (pruebas mínimas, logs, manejo de errores, README, evidencia UAT).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Pipelines automáticos</a:t>
            </a:r>
            <a:r>
              <a:rPr lang="es-ES">
                <a:ea typeface="+mn-lt"/>
                <a:cs typeface="+mn-lt"/>
              </a:rPr>
              <a:t> (lint + tests + build) para que la calidad no dependa solo del líder técnico.</a:t>
            </a:r>
            <a:endParaRPr lang="es-ES"/>
          </a:p>
          <a:p>
            <a:r>
              <a:rPr lang="es-ES"/>
              <a:t>4) Garantizar escalabilidad y paso a producción</a:t>
            </a:r>
          </a:p>
          <a:p>
            <a:r>
              <a:rPr lang="es-ES">
                <a:ea typeface="+mn-lt"/>
                <a:cs typeface="+mn-lt"/>
              </a:rPr>
              <a:t>Estándar de </a:t>
            </a:r>
            <a:r>
              <a:rPr lang="es-ES" b="1">
                <a:ea typeface="+mn-lt"/>
                <a:cs typeface="+mn-lt"/>
              </a:rPr>
              <a:t>requisitos no funcionales (NFR)</a:t>
            </a:r>
            <a:r>
              <a:rPr lang="es-ES">
                <a:ea typeface="+mn-lt"/>
                <a:cs typeface="+mn-lt"/>
              </a:rPr>
              <a:t>: usuarios, rendimiento, crecimiento de datos, disponibilidad.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Observabilidad mínima</a:t>
            </a:r>
            <a:r>
              <a:rPr lang="es-ES">
                <a:ea typeface="+mn-lt"/>
                <a:cs typeface="+mn-lt"/>
              </a:rPr>
              <a:t>: logs consistentes + métricas básicas para releases.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Gate de release</a:t>
            </a:r>
            <a:r>
              <a:rPr lang="es-ES">
                <a:ea typeface="+mn-lt"/>
                <a:cs typeface="+mn-lt"/>
              </a:rPr>
              <a:t> con rollback + runbook L1 (si esto no existe, producción se vuelve riesgosa).</a:t>
            </a:r>
            <a:endParaRPr lang="es-ES"/>
          </a:p>
          <a:p>
            <a:r>
              <a:rPr lang="es-ES"/>
              <a:t>5) Fortalecer gobierno (para evitar “caos de solicitudes”)</a:t>
            </a:r>
          </a:p>
          <a:p>
            <a:r>
              <a:rPr lang="es-ES" b="1">
                <a:ea typeface="+mn-lt"/>
                <a:cs typeface="+mn-lt"/>
              </a:rPr>
              <a:t>Gestión de demanda y priorización</a:t>
            </a:r>
            <a:r>
              <a:rPr lang="es-ES">
                <a:ea typeface="+mn-lt"/>
                <a:cs typeface="+mn-lt"/>
              </a:rPr>
              <a:t> (comité quincenal) con criterios simples: valor/urgencia/esfuerzo/riesgo.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Catálogo de servicios del CDT</a:t>
            </a:r>
            <a:r>
              <a:rPr lang="es-ES">
                <a:ea typeface="+mn-lt"/>
                <a:cs typeface="+mn-lt"/>
              </a:rPr>
              <a:t> (qué hace y qué no hace).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TRL por producto</a:t>
            </a:r>
            <a:r>
              <a:rPr lang="es-ES">
                <a:ea typeface="+mn-lt"/>
                <a:cs typeface="+mn-lt"/>
              </a:rPr>
              <a:t>: saber si cada MVP está en PoC, UAT, piloto o producción, y qué falta para subir de nivel.</a:t>
            </a:r>
            <a:endParaRPr lang="es-ES"/>
          </a:p>
          <a:p>
            <a:r>
              <a:rPr lang="es-ES"/>
              <a:t>6) Continuidad y ownership del producto</a:t>
            </a:r>
          </a:p>
          <a:p>
            <a:r>
              <a:rPr lang="es-ES">
                <a:ea typeface="+mn-lt"/>
                <a:cs typeface="+mn-lt"/>
              </a:rPr>
              <a:t>Definir quién es el </a:t>
            </a:r>
            <a:r>
              <a:rPr lang="es-ES" b="1">
                <a:ea typeface="+mn-lt"/>
                <a:cs typeface="+mn-lt"/>
              </a:rPr>
              <a:t>dueño funcional (PO del área)</a:t>
            </a:r>
            <a:r>
              <a:rPr lang="es-ES">
                <a:ea typeface="+mn-lt"/>
                <a:cs typeface="+mn-lt"/>
              </a:rPr>
              <a:t> y quién es el </a:t>
            </a:r>
            <a:r>
              <a:rPr lang="es-ES" b="1">
                <a:ea typeface="+mn-lt"/>
                <a:cs typeface="+mn-lt"/>
              </a:rPr>
              <a:t>responsable técnico</a:t>
            </a:r>
            <a:r>
              <a:rPr lang="es-ES">
                <a:ea typeface="+mn-lt"/>
                <a:cs typeface="+mn-lt"/>
              </a:rPr>
              <a:t> por producto.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Hypercare</a:t>
            </a:r>
            <a:r>
              <a:rPr lang="es-ES">
                <a:ea typeface="+mn-lt"/>
                <a:cs typeface="+mn-lt"/>
              </a:rPr>
              <a:t> post entrega (1–2 semanas) y transferencia formal a TIC/soporte.</a:t>
            </a:r>
            <a:endParaRPr lang="es-ES"/>
          </a:p>
          <a:p>
            <a:r>
              <a:rPr lang="es-ES"/>
              <a:t>Quick wins (2–4 semanas)</a:t>
            </a:r>
          </a:p>
          <a:p>
            <a:r>
              <a:rPr lang="es-ES">
                <a:ea typeface="+mn-lt"/>
                <a:cs typeface="+mn-lt"/>
              </a:rPr>
              <a:t>DoR + DoD + checklist PR</a:t>
            </a:r>
            <a:endParaRPr lang="es-ES"/>
          </a:p>
          <a:p>
            <a:r>
              <a:rPr lang="es-ES">
                <a:ea typeface="+mn-lt"/>
                <a:cs typeface="+mn-lt"/>
              </a:rPr>
              <a:t>Repositorio plantilla (FUTCO-way)</a:t>
            </a:r>
            <a:endParaRPr lang="es-ES"/>
          </a:p>
          <a:p>
            <a:r>
              <a:rPr lang="es-ES">
                <a:ea typeface="+mn-lt"/>
                <a:cs typeface="+mn-lt"/>
              </a:rPr>
              <a:t>Semillero previo (cohorte corta)</a:t>
            </a:r>
            <a:endParaRPr lang="es-ES"/>
          </a:p>
          <a:p>
            <a:r>
              <a:rPr lang="es-ES">
                <a:ea typeface="+mn-lt"/>
                <a:cs typeface="+mn-lt"/>
              </a:rPr>
              <a:t>Gate mínimo de entrega (UAT + rollback + runbook L1)</a:t>
            </a:r>
            <a:endParaRPr lang="es-ES"/>
          </a:p>
          <a:p>
            <a:r>
              <a:rPr lang="es-ES">
                <a:ea typeface="+mn-lt"/>
                <a:cs typeface="+mn-lt"/>
              </a:rPr>
              <a:t>Si me dices </a:t>
            </a:r>
            <a:r>
              <a:rPr lang="es-ES" b="1">
                <a:ea typeface="+mn-lt"/>
                <a:cs typeface="+mn-lt"/>
              </a:rPr>
              <a:t>cuántos productos activos</a:t>
            </a:r>
            <a:r>
              <a:rPr lang="es-ES">
                <a:ea typeface="+mn-lt"/>
                <a:cs typeface="+mn-lt"/>
              </a:rPr>
              <a:t> tienen hoy y en qué estado están (demo / UAT / piloto / producción), te devuelvo una matriz rápida: </a:t>
            </a:r>
            <a:r>
              <a:rPr lang="es-ES" b="1">
                <a:ea typeface="+mn-lt"/>
                <a:cs typeface="+mn-lt"/>
              </a:rPr>
              <a:t>producto → TRL actual → riesgos → acciones concretas</a:t>
            </a:r>
            <a:r>
              <a:rPr lang="es-ES">
                <a:ea typeface="+mn-lt"/>
                <a:cs typeface="+mn-lt"/>
              </a:rPr>
              <a:t> y así priorizamos mejoras sin inventar burocracia.</a:t>
            </a:r>
            <a:endParaRPr lang="es-ES"/>
          </a:p>
          <a:p>
            <a:pPr marL="514350" indent="-514350">
              <a:buAutoNum type="arabicPeriod"/>
            </a:pPr>
            <a:endParaRPr lang="es-ES" dirty="0"/>
          </a:p>
          <a:p>
            <a:pPr marL="514350" indent="-514350">
              <a:buAutoNum type="arabicPeriod"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2939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5AEFE-671B-674A-27FB-21C8D594F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0D507C-B757-03F0-588E-14F1C9F6D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FF0000"/>
                </a:solidFill>
              </a:rPr>
              <a:t>Modelo Propuesto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F294F5-E5B5-2BAD-E3BE-0FFFE0D51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8380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AF046-217C-EB0D-CE88-40665EC33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Modelo de </a:t>
            </a:r>
            <a:r>
              <a:rPr lang="es-ES" err="1"/>
              <a:t>Operacion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43570A-ECBE-97EA-0F95-A3EA51DC5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25000" lnSpcReduction="20000"/>
          </a:bodyPr>
          <a:lstStyle/>
          <a:p>
            <a:r>
              <a:rPr lang="es-ES">
                <a:ea typeface="+mn-lt"/>
                <a:cs typeface="+mn-lt"/>
              </a:rPr>
              <a:t>Aquí tienes un </a:t>
            </a:r>
            <a:r>
              <a:rPr lang="es-ES" b="1">
                <a:ea typeface="+mn-lt"/>
                <a:cs typeface="+mn-lt"/>
              </a:rPr>
              <a:t>Modelo de Operaciones (</a:t>
            </a:r>
            <a:r>
              <a:rPr lang="es-ES" b="1" err="1">
                <a:ea typeface="+mn-lt"/>
                <a:cs typeface="+mn-lt"/>
              </a:rPr>
              <a:t>Operating</a:t>
            </a:r>
            <a:r>
              <a:rPr lang="es-ES" b="1">
                <a:ea typeface="+mn-lt"/>
                <a:cs typeface="+mn-lt"/>
              </a:rPr>
              <a:t> </a:t>
            </a:r>
            <a:r>
              <a:rPr lang="es-ES" b="1" err="1">
                <a:ea typeface="+mn-lt"/>
                <a:cs typeface="+mn-lt"/>
              </a:rPr>
              <a:t>Model</a:t>
            </a:r>
            <a:r>
              <a:rPr lang="es-ES" b="1">
                <a:ea typeface="+mn-lt"/>
                <a:cs typeface="+mn-lt"/>
              </a:rPr>
              <a:t>) v1.0</a:t>
            </a:r>
            <a:r>
              <a:rPr lang="es-ES">
                <a:ea typeface="+mn-lt"/>
                <a:cs typeface="+mn-lt"/>
              </a:rPr>
              <a:t> para el </a:t>
            </a:r>
            <a:r>
              <a:rPr lang="es-ES" b="1">
                <a:ea typeface="+mn-lt"/>
                <a:cs typeface="+mn-lt"/>
              </a:rPr>
              <a:t>Centro de Desarrollo Tecnológico (CDT) – FUTCO</a:t>
            </a:r>
            <a:r>
              <a:rPr lang="es-ES">
                <a:ea typeface="+mn-lt"/>
                <a:cs typeface="+mn-lt"/>
              </a:rPr>
              <a:t>, diseñado específicamente para </a:t>
            </a:r>
            <a:r>
              <a:rPr lang="es-ES" b="1">
                <a:ea typeface="+mn-lt"/>
                <a:cs typeface="+mn-lt"/>
              </a:rPr>
              <a:t>estudiantes en rotación</a:t>
            </a:r>
            <a:r>
              <a:rPr lang="es-ES">
                <a:ea typeface="+mn-lt"/>
                <a:cs typeface="+mn-lt"/>
              </a:rPr>
              <a:t>, con foco en </a:t>
            </a:r>
            <a:r>
              <a:rPr lang="es-ES" b="1">
                <a:ea typeface="+mn-lt"/>
                <a:cs typeface="+mn-lt"/>
              </a:rPr>
              <a:t>reducir curva de aprendizaje, mejorar tiempos y elevar calidad</a:t>
            </a:r>
            <a:r>
              <a:rPr lang="es-ES">
                <a:ea typeface="+mn-lt"/>
                <a:cs typeface="+mn-lt"/>
              </a:rPr>
              <a:t> sin volverlo burocrático.</a:t>
            </a:r>
            <a:endParaRPr lang="es-ES"/>
          </a:p>
          <a:p>
            <a:r>
              <a:rPr lang="es-ES" dirty="0"/>
              <a:t>Modelo de Operaciones CDT FUTCO (v1.0)</a:t>
            </a:r>
          </a:p>
          <a:p>
            <a:r>
              <a:rPr lang="es-ES" dirty="0"/>
              <a:t>1) Propósito y alcance</a:t>
            </a:r>
          </a:p>
          <a:p>
            <a:r>
              <a:rPr lang="es-ES" b="1" dirty="0">
                <a:ea typeface="+mn-lt"/>
                <a:cs typeface="+mn-lt"/>
              </a:rPr>
              <a:t>Propósito:</a:t>
            </a:r>
            <a:r>
              <a:rPr lang="es-ES" dirty="0">
                <a:ea typeface="+mn-lt"/>
                <a:cs typeface="+mn-lt"/>
              </a:rPr>
              <a:t> entregar soluciones digitales (MVP e iteraciones) a áreas de la universidad con </a:t>
            </a:r>
            <a:r>
              <a:rPr lang="es-ES" b="1" dirty="0">
                <a:ea typeface="+mn-lt"/>
                <a:cs typeface="+mn-lt"/>
              </a:rPr>
              <a:t>velocidad + calidad + trazabilidad</a:t>
            </a:r>
            <a:r>
              <a:rPr lang="es-ES" dirty="0">
                <a:ea typeface="+mn-lt"/>
                <a:cs typeface="+mn-lt"/>
              </a:rPr>
              <a:t>, formando estudiantes en un entorno real.</a:t>
            </a:r>
            <a:endParaRPr lang="es-ES"/>
          </a:p>
          <a:p>
            <a:r>
              <a:rPr lang="es-ES" b="1" dirty="0">
                <a:ea typeface="+mn-lt"/>
                <a:cs typeface="+mn-lt"/>
              </a:rPr>
              <a:t>Alcance CDT (</a:t>
            </a:r>
            <a:r>
              <a:rPr lang="es-ES" b="1" dirty="0" err="1">
                <a:ea typeface="+mn-lt"/>
                <a:cs typeface="+mn-lt"/>
              </a:rPr>
              <a:t>Build</a:t>
            </a:r>
            <a:r>
              <a:rPr lang="es-ES" b="1" dirty="0">
                <a:ea typeface="+mn-lt"/>
                <a:cs typeface="+mn-lt"/>
              </a:rPr>
              <a:t>):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Descubrimiento ligero (problema, alcance MVP, criterios de éxito)</a:t>
            </a:r>
            <a:endParaRPr lang="es-ES"/>
          </a:p>
          <a:p>
            <a:r>
              <a:rPr lang="es-ES" dirty="0">
                <a:ea typeface="+mn-lt"/>
                <a:cs typeface="+mn-lt"/>
              </a:rPr>
              <a:t>Diseño (UI rápida, modelo de datos, arquitectura de solución)</a:t>
            </a:r>
            <a:endParaRPr lang="es-ES"/>
          </a:p>
          <a:p>
            <a:r>
              <a:rPr lang="es-ES" dirty="0">
                <a:ea typeface="+mn-lt"/>
                <a:cs typeface="+mn-lt"/>
              </a:rPr>
              <a:t>Desarrollo, pruebas, documentación</a:t>
            </a:r>
            <a:endParaRPr lang="es-ES"/>
          </a:p>
          <a:p>
            <a:r>
              <a:rPr lang="es-ES" dirty="0">
                <a:ea typeface="+mn-lt"/>
                <a:cs typeface="+mn-lt"/>
              </a:rPr>
              <a:t>Entrega a UAT y preparación de paso a producción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Fuera del alcance CDT (Run – TI Institucional):</a:t>
            </a:r>
            <a:endParaRPr lang="es-ES" dirty="0"/>
          </a:p>
          <a:p>
            <a:r>
              <a:rPr lang="es-ES">
                <a:ea typeface="+mn-lt"/>
                <a:cs typeface="+mn-lt"/>
              </a:rPr>
              <a:t>Operación productiva, mesa de ayuda, continuidad, </a:t>
            </a:r>
            <a:r>
              <a:rPr lang="es-ES" err="1">
                <a:ea typeface="+mn-lt"/>
                <a:cs typeface="+mn-lt"/>
              </a:rPr>
              <a:t>backups</a:t>
            </a:r>
            <a:r>
              <a:rPr lang="es-ES">
                <a:ea typeface="+mn-lt"/>
                <a:cs typeface="+mn-lt"/>
              </a:rPr>
              <a:t>, cuentas, redes/infra</a:t>
            </a:r>
            <a:endParaRPr lang="es-ES"/>
          </a:p>
          <a:p>
            <a:r>
              <a:rPr lang="es-ES">
                <a:ea typeface="+mn-lt"/>
                <a:cs typeface="+mn-lt"/>
              </a:rPr>
              <a:t>Monitoreo productivo y gestión de incidentes (con apoyo del CDT en </a:t>
            </a:r>
            <a:r>
              <a:rPr lang="es-ES" err="1">
                <a:ea typeface="+mn-lt"/>
                <a:cs typeface="+mn-lt"/>
              </a:rPr>
              <a:t>hypercare</a:t>
            </a:r>
            <a:r>
              <a:rPr lang="es-ES">
                <a:ea typeface="+mn-lt"/>
                <a:cs typeface="+mn-lt"/>
              </a:rPr>
              <a:t>)</a:t>
            </a:r>
            <a:endParaRPr lang="es-ES"/>
          </a:p>
          <a:p>
            <a:r>
              <a:rPr lang="es-ES">
                <a:ea typeface="+mn-lt"/>
                <a:cs typeface="+mn-lt"/>
              </a:rPr>
              <a:t>Regla: </a:t>
            </a:r>
            <a:r>
              <a:rPr lang="es-ES" b="1">
                <a:ea typeface="+mn-lt"/>
                <a:cs typeface="+mn-lt"/>
              </a:rPr>
              <a:t>TI opera / CDT construye.</a:t>
            </a:r>
            <a:r>
              <a:rPr lang="es-ES">
                <a:ea typeface="+mn-lt"/>
                <a:cs typeface="+mn-lt"/>
              </a:rPr>
              <a:t> La producción es “territorio TI”.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/>
              <a:t>2) Estructura organizacional mínima (para rotación estudiantil)</a:t>
            </a:r>
          </a:p>
          <a:p>
            <a:r>
              <a:rPr lang="es-ES" b="1">
                <a:ea typeface="+mn-lt"/>
                <a:cs typeface="+mn-lt"/>
              </a:rPr>
              <a:t>Roles núcleo (estables):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Sponsor/Director TI (o Vicerrectoría):</a:t>
            </a:r>
            <a:r>
              <a:rPr lang="es-ES">
                <a:ea typeface="+mn-lt"/>
                <a:cs typeface="+mn-lt"/>
              </a:rPr>
              <a:t> priorización macro, recursos, política.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Coordinador CDT (operativo):</a:t>
            </a:r>
            <a:r>
              <a:rPr lang="es-ES">
                <a:ea typeface="+mn-lt"/>
                <a:cs typeface="+mn-lt"/>
              </a:rPr>
              <a:t> portafolio, relación con áreas, gobierno.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Líder Técnico CDT (</a:t>
            </a:r>
            <a:r>
              <a:rPr lang="es-ES" b="1" err="1">
                <a:ea typeface="+mn-lt"/>
                <a:cs typeface="+mn-lt"/>
              </a:rPr>
              <a:t>Tech</a:t>
            </a:r>
            <a:r>
              <a:rPr lang="es-ES" b="1">
                <a:ea typeface="+mn-lt"/>
                <a:cs typeface="+mn-lt"/>
              </a:rPr>
              <a:t> Lead):</a:t>
            </a:r>
            <a:r>
              <a:rPr lang="es-ES">
                <a:ea typeface="+mn-lt"/>
                <a:cs typeface="+mn-lt"/>
              </a:rPr>
              <a:t> estándares, revisiones, arquitectura, calidad.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Roles por iniciativa (por proyecto):</a:t>
            </a:r>
            <a:endParaRPr lang="es-ES"/>
          </a:p>
          <a:p>
            <a:r>
              <a:rPr lang="es-ES" b="1" err="1">
                <a:ea typeface="+mn-lt"/>
                <a:cs typeface="+mn-lt"/>
              </a:rPr>
              <a:t>Product</a:t>
            </a:r>
            <a:r>
              <a:rPr lang="es-ES" b="1">
                <a:ea typeface="+mn-lt"/>
                <a:cs typeface="+mn-lt"/>
              </a:rPr>
              <a:t> </a:t>
            </a:r>
            <a:r>
              <a:rPr lang="es-ES" b="1" err="1">
                <a:ea typeface="+mn-lt"/>
                <a:cs typeface="+mn-lt"/>
              </a:rPr>
              <a:t>Owner</a:t>
            </a:r>
            <a:r>
              <a:rPr lang="es-ES" b="1">
                <a:ea typeface="+mn-lt"/>
                <a:cs typeface="+mn-lt"/>
              </a:rPr>
              <a:t> (PO) del área:</a:t>
            </a:r>
            <a:r>
              <a:rPr lang="es-ES">
                <a:ea typeface="+mn-lt"/>
                <a:cs typeface="+mn-lt"/>
              </a:rPr>
              <a:t> define necesidad, valida entregables, hace UAT.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Líder funcional (SME):</a:t>
            </a:r>
            <a:r>
              <a:rPr lang="es-ES">
                <a:ea typeface="+mn-lt"/>
                <a:cs typeface="+mn-lt"/>
              </a:rPr>
              <a:t> usuario experto, aclara reglas del proceso.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Equipo estudiantil:</a:t>
            </a:r>
            <a:r>
              <a:rPr lang="es-ES">
                <a:ea typeface="+mn-lt"/>
                <a:cs typeface="+mn-lt"/>
              </a:rPr>
              <a:t> </a:t>
            </a:r>
            <a:r>
              <a:rPr lang="es-ES" err="1">
                <a:ea typeface="+mn-lt"/>
                <a:cs typeface="+mn-lt"/>
              </a:rPr>
              <a:t>devs</a:t>
            </a:r>
            <a:r>
              <a:rPr lang="es-ES">
                <a:ea typeface="+mn-lt"/>
                <a:cs typeface="+mn-lt"/>
              </a:rPr>
              <a:t> (y si aplica: UX, datos).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QA/</a:t>
            </a:r>
            <a:r>
              <a:rPr lang="es-ES" b="1" err="1">
                <a:ea typeface="+mn-lt"/>
                <a:cs typeface="+mn-lt"/>
              </a:rPr>
              <a:t>Tester</a:t>
            </a:r>
            <a:r>
              <a:rPr lang="es-ES" b="1">
                <a:ea typeface="+mn-lt"/>
                <a:cs typeface="+mn-lt"/>
              </a:rPr>
              <a:t> (puede ser rol rotativo con guía):</a:t>
            </a:r>
            <a:r>
              <a:rPr lang="es-ES">
                <a:ea typeface="+mn-lt"/>
                <a:cs typeface="+mn-lt"/>
              </a:rPr>
              <a:t> pruebas y evidencia.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DevOps/Plataforma (TI o CDT según madurez):</a:t>
            </a:r>
            <a:r>
              <a:rPr lang="es-ES">
                <a:ea typeface="+mn-lt"/>
                <a:cs typeface="+mn-lt"/>
              </a:rPr>
              <a:t> CI/CD y despliegues no-</a:t>
            </a:r>
            <a:r>
              <a:rPr lang="es-ES" err="1">
                <a:ea typeface="+mn-lt"/>
                <a:cs typeface="+mn-lt"/>
              </a:rPr>
              <a:t>prod</a:t>
            </a:r>
            <a:r>
              <a:rPr lang="es-ES">
                <a:ea typeface="+mn-lt"/>
                <a:cs typeface="+mn-lt"/>
              </a:rPr>
              <a:t>.</a:t>
            </a:r>
            <a:endParaRPr lang="es-ES"/>
          </a:p>
          <a:p>
            <a:r>
              <a:rPr lang="es-ES">
                <a:ea typeface="+mn-lt"/>
                <a:cs typeface="+mn-lt"/>
              </a:rPr>
              <a:t>Clave para calidad: </a:t>
            </a:r>
            <a:r>
              <a:rPr lang="es-ES" b="1" err="1">
                <a:ea typeface="+mn-lt"/>
                <a:cs typeface="+mn-lt"/>
              </a:rPr>
              <a:t>Tech</a:t>
            </a:r>
            <a:r>
              <a:rPr lang="es-ES" b="1">
                <a:ea typeface="+mn-lt"/>
                <a:cs typeface="+mn-lt"/>
              </a:rPr>
              <a:t> Lead + PO deben ser estables</a:t>
            </a:r>
            <a:r>
              <a:rPr lang="es-ES">
                <a:ea typeface="+mn-lt"/>
                <a:cs typeface="+mn-lt"/>
              </a:rPr>
              <a:t>; lo rotativo son estudiantes.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/>
              <a:t>3) Gobierno liviano (rituales y decisiones)</a:t>
            </a:r>
          </a:p>
          <a:p>
            <a:r>
              <a:rPr lang="es-ES"/>
              <a:t>3.1 Comités (cortos)</a:t>
            </a:r>
          </a:p>
          <a:p>
            <a:r>
              <a:rPr lang="es-ES" b="1">
                <a:ea typeface="+mn-lt"/>
                <a:cs typeface="+mn-lt"/>
              </a:rPr>
              <a:t>Comité de Demanda Digital (quincenal, 30 min)</a:t>
            </a:r>
            <a:endParaRPr lang="es-ES"/>
          </a:p>
          <a:p>
            <a:pPr lvl="1"/>
            <a:r>
              <a:rPr lang="es-ES">
                <a:ea typeface="+mn-lt"/>
                <a:cs typeface="+mn-lt"/>
              </a:rPr>
              <a:t>Decide: qué entra / qué se prioriza</a:t>
            </a:r>
            <a:endParaRPr lang="es-ES"/>
          </a:p>
          <a:p>
            <a:pPr lvl="1"/>
            <a:r>
              <a:rPr lang="es-ES">
                <a:ea typeface="+mn-lt"/>
                <a:cs typeface="+mn-lt"/>
              </a:rPr>
              <a:t>Participan: Coordinador CDT, Director TI, representantes de áreas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Comité Técnico de Arquitectura (semanal, 20 min)</a:t>
            </a:r>
            <a:endParaRPr lang="es-ES"/>
          </a:p>
          <a:p>
            <a:pPr lvl="1"/>
            <a:r>
              <a:rPr lang="es-ES">
                <a:ea typeface="+mn-lt"/>
                <a:cs typeface="+mn-lt"/>
              </a:rPr>
              <a:t>Decide: </a:t>
            </a:r>
            <a:r>
              <a:rPr lang="es-ES" err="1">
                <a:ea typeface="+mn-lt"/>
                <a:cs typeface="+mn-lt"/>
              </a:rPr>
              <a:t>stack</a:t>
            </a:r>
            <a:r>
              <a:rPr lang="es-ES">
                <a:ea typeface="+mn-lt"/>
                <a:cs typeface="+mn-lt"/>
              </a:rPr>
              <a:t>, integraciones, datos, seguridad mínima, excepciones</a:t>
            </a:r>
            <a:endParaRPr lang="es-ES"/>
          </a:p>
          <a:p>
            <a:pPr lvl="1"/>
            <a:r>
              <a:rPr lang="es-ES">
                <a:ea typeface="+mn-lt"/>
                <a:cs typeface="+mn-lt"/>
              </a:rPr>
              <a:t>Participan: </a:t>
            </a:r>
            <a:r>
              <a:rPr lang="es-ES" err="1">
                <a:ea typeface="+mn-lt"/>
                <a:cs typeface="+mn-lt"/>
              </a:rPr>
              <a:t>Tech</a:t>
            </a:r>
            <a:r>
              <a:rPr lang="es-ES">
                <a:ea typeface="+mn-lt"/>
                <a:cs typeface="+mn-lt"/>
              </a:rPr>
              <a:t> Lead CDT + referente TI + (seguridad/datos si existe)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Gate de salida a producción (por </a:t>
            </a:r>
            <a:r>
              <a:rPr lang="es-ES" b="1" err="1">
                <a:ea typeface="+mn-lt"/>
                <a:cs typeface="+mn-lt"/>
              </a:rPr>
              <a:t>release</a:t>
            </a:r>
            <a:r>
              <a:rPr lang="es-ES" b="1">
                <a:ea typeface="+mn-lt"/>
                <a:cs typeface="+mn-lt"/>
              </a:rPr>
              <a:t>, </a:t>
            </a:r>
            <a:r>
              <a:rPr lang="es-ES" b="1" err="1">
                <a:ea typeface="+mn-lt"/>
                <a:cs typeface="+mn-lt"/>
              </a:rPr>
              <a:t>checklist</a:t>
            </a:r>
            <a:r>
              <a:rPr lang="es-ES" b="1">
                <a:ea typeface="+mn-lt"/>
                <a:cs typeface="+mn-lt"/>
              </a:rPr>
              <a:t>)</a:t>
            </a:r>
            <a:endParaRPr lang="es-ES"/>
          </a:p>
          <a:p>
            <a:pPr lvl="1"/>
            <a:r>
              <a:rPr lang="es-ES">
                <a:ea typeface="+mn-lt"/>
                <a:cs typeface="+mn-lt"/>
              </a:rPr>
              <a:t>Decide: listo/no listo para productivo</a:t>
            </a:r>
            <a:endParaRPr lang="es-ES"/>
          </a:p>
          <a:p>
            <a:pPr lvl="1"/>
            <a:r>
              <a:rPr lang="es-ES"/>
              <a:t>3.2 Criterios de priorización (simple)</a:t>
            </a:r>
          </a:p>
          <a:p>
            <a:r>
              <a:rPr lang="es-ES">
                <a:ea typeface="+mn-lt"/>
                <a:cs typeface="+mn-lt"/>
              </a:rPr>
              <a:t>Valor (impacto) 1–5</a:t>
            </a:r>
            <a:endParaRPr lang="es-ES"/>
          </a:p>
          <a:p>
            <a:r>
              <a:rPr lang="es-ES">
                <a:ea typeface="+mn-lt"/>
                <a:cs typeface="+mn-lt"/>
              </a:rPr>
              <a:t>Urgencia 1–5</a:t>
            </a:r>
            <a:endParaRPr lang="es-ES"/>
          </a:p>
          <a:p>
            <a:r>
              <a:rPr lang="es-ES">
                <a:ea typeface="+mn-lt"/>
                <a:cs typeface="+mn-lt"/>
              </a:rPr>
              <a:t>Esfuerzo 1–5 (estimado por </a:t>
            </a:r>
            <a:r>
              <a:rPr lang="es-ES" err="1">
                <a:ea typeface="+mn-lt"/>
                <a:cs typeface="+mn-lt"/>
              </a:rPr>
              <a:t>Tech</a:t>
            </a:r>
            <a:r>
              <a:rPr lang="es-ES">
                <a:ea typeface="+mn-lt"/>
                <a:cs typeface="+mn-lt"/>
              </a:rPr>
              <a:t> Lead)</a:t>
            </a:r>
            <a:endParaRPr lang="es-ES"/>
          </a:p>
          <a:p>
            <a:r>
              <a:rPr lang="es-ES">
                <a:ea typeface="+mn-lt"/>
                <a:cs typeface="+mn-lt"/>
              </a:rPr>
              <a:t>Riesgo/Complejidad 1–5</a:t>
            </a:r>
            <a:br>
              <a:rPr lang="es-ES">
                <a:ea typeface="+mn-lt"/>
                <a:cs typeface="+mn-lt"/>
              </a:rPr>
            </a:br>
            <a:r>
              <a:rPr lang="es-ES">
                <a:ea typeface="+mn-lt"/>
                <a:cs typeface="+mn-lt"/>
              </a:rPr>
              <a:t> </a:t>
            </a:r>
            <a:r>
              <a:rPr lang="es-ES" b="1">
                <a:ea typeface="+mn-lt"/>
                <a:cs typeface="+mn-lt"/>
              </a:rPr>
              <a:t>Score sugerido:</a:t>
            </a:r>
            <a:r>
              <a:rPr lang="es-ES">
                <a:ea typeface="+mn-lt"/>
                <a:cs typeface="+mn-lt"/>
              </a:rPr>
              <a:t> (Valor + Urgencia) – (Esfuerzo + Riesgo)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/>
              <a:t>4) Proceso </a:t>
            </a:r>
            <a:r>
              <a:rPr lang="es-ES" err="1"/>
              <a:t>end-to-end</a:t>
            </a:r>
            <a:r>
              <a:rPr lang="es-ES"/>
              <a:t> (pipeline operativo)</a:t>
            </a:r>
          </a:p>
          <a:p>
            <a:r>
              <a:rPr lang="es-ES"/>
              <a:t>Etapa 0 — </a:t>
            </a:r>
            <a:r>
              <a:rPr lang="es-ES" err="1"/>
              <a:t>Intake</a:t>
            </a:r>
            <a:r>
              <a:rPr lang="es-ES"/>
              <a:t> (1 página)</a:t>
            </a:r>
          </a:p>
          <a:p>
            <a:r>
              <a:rPr lang="es-ES" b="1">
                <a:ea typeface="+mn-lt"/>
                <a:cs typeface="+mn-lt"/>
              </a:rPr>
              <a:t>Entrada:</a:t>
            </a:r>
            <a:r>
              <a:rPr lang="es-ES">
                <a:ea typeface="+mn-lt"/>
                <a:cs typeface="+mn-lt"/>
              </a:rPr>
              <a:t> solicitud del área</a:t>
            </a:r>
            <a:br>
              <a:rPr lang="es-ES">
                <a:ea typeface="+mn-lt"/>
                <a:cs typeface="+mn-lt"/>
              </a:rPr>
            </a:br>
            <a:r>
              <a:rPr lang="es-ES">
                <a:ea typeface="+mn-lt"/>
                <a:cs typeface="+mn-lt"/>
              </a:rPr>
              <a:t> </a:t>
            </a:r>
            <a:r>
              <a:rPr lang="es-ES" b="1">
                <a:ea typeface="+mn-lt"/>
                <a:cs typeface="+mn-lt"/>
              </a:rPr>
              <a:t>Salida:</a:t>
            </a:r>
            <a:r>
              <a:rPr lang="es-ES">
                <a:ea typeface="+mn-lt"/>
                <a:cs typeface="+mn-lt"/>
              </a:rPr>
              <a:t> “Ficha MVP” aprobada para Discovery</a:t>
            </a:r>
            <a:endParaRPr lang="es-ES"/>
          </a:p>
          <a:p>
            <a:r>
              <a:rPr lang="es-ES"/>
              <a:t>Etapa 1 — Discovery (3–5 días)</a:t>
            </a:r>
          </a:p>
          <a:p>
            <a:r>
              <a:rPr lang="es-ES">
                <a:ea typeface="+mn-lt"/>
                <a:cs typeface="+mn-lt"/>
              </a:rPr>
              <a:t>Entender problema, usuarios, reglas, restricciones</a:t>
            </a:r>
            <a:endParaRPr lang="es-ES"/>
          </a:p>
          <a:p>
            <a:r>
              <a:rPr lang="es-ES">
                <a:ea typeface="+mn-lt"/>
                <a:cs typeface="+mn-lt"/>
              </a:rPr>
              <a:t>Definir MVP y criterios de éxito</a:t>
            </a:r>
            <a:br>
              <a:rPr lang="es-ES">
                <a:ea typeface="+mn-lt"/>
                <a:cs typeface="+mn-lt"/>
              </a:rPr>
            </a:br>
            <a:r>
              <a:rPr lang="es-ES">
                <a:ea typeface="+mn-lt"/>
                <a:cs typeface="+mn-lt"/>
              </a:rPr>
              <a:t> </a:t>
            </a:r>
            <a:r>
              <a:rPr lang="es-ES" b="1">
                <a:ea typeface="+mn-lt"/>
                <a:cs typeface="+mn-lt"/>
              </a:rPr>
              <a:t>Salida:</a:t>
            </a:r>
            <a:r>
              <a:rPr lang="es-ES">
                <a:ea typeface="+mn-lt"/>
                <a:cs typeface="+mn-lt"/>
              </a:rPr>
              <a:t> backlog inicial + alcance MVP</a:t>
            </a:r>
            <a:endParaRPr lang="es-ES"/>
          </a:p>
          <a:p>
            <a:r>
              <a:rPr lang="es-ES"/>
              <a:t>Etapa 2 — Diseño ligero (2–5 días)</a:t>
            </a:r>
          </a:p>
          <a:p>
            <a:r>
              <a:rPr lang="es-ES">
                <a:ea typeface="+mn-lt"/>
                <a:cs typeface="+mn-lt"/>
              </a:rPr>
              <a:t>Mockups rápidos / flujo</a:t>
            </a:r>
            <a:endParaRPr lang="es-ES"/>
          </a:p>
          <a:p>
            <a:r>
              <a:rPr lang="es-ES">
                <a:ea typeface="+mn-lt"/>
                <a:cs typeface="+mn-lt"/>
              </a:rPr>
              <a:t>Modelo de datos mínimo</a:t>
            </a:r>
            <a:endParaRPr lang="es-ES"/>
          </a:p>
          <a:p>
            <a:r>
              <a:rPr lang="es-ES">
                <a:ea typeface="+mn-lt"/>
                <a:cs typeface="+mn-lt"/>
              </a:rPr>
              <a:t>Contrato de </a:t>
            </a:r>
            <a:r>
              <a:rPr lang="es-ES" err="1">
                <a:ea typeface="+mn-lt"/>
                <a:cs typeface="+mn-lt"/>
              </a:rPr>
              <a:t>APIs</a:t>
            </a:r>
            <a:r>
              <a:rPr lang="es-ES">
                <a:ea typeface="+mn-lt"/>
                <a:cs typeface="+mn-lt"/>
              </a:rPr>
              <a:t>/integraciones</a:t>
            </a:r>
            <a:br>
              <a:rPr lang="es-ES">
                <a:ea typeface="+mn-lt"/>
                <a:cs typeface="+mn-lt"/>
              </a:rPr>
            </a:br>
            <a:r>
              <a:rPr lang="es-ES">
                <a:ea typeface="+mn-lt"/>
                <a:cs typeface="+mn-lt"/>
              </a:rPr>
              <a:t> </a:t>
            </a:r>
            <a:r>
              <a:rPr lang="es-ES" b="1">
                <a:ea typeface="+mn-lt"/>
                <a:cs typeface="+mn-lt"/>
              </a:rPr>
              <a:t>Salida:</a:t>
            </a:r>
            <a:r>
              <a:rPr lang="es-ES">
                <a:ea typeface="+mn-lt"/>
                <a:cs typeface="+mn-lt"/>
              </a:rPr>
              <a:t> “Diseño de solución 2–4 páginas” (estándar CDT)</a:t>
            </a:r>
            <a:endParaRPr lang="es-ES"/>
          </a:p>
          <a:p>
            <a:r>
              <a:rPr lang="es-ES"/>
              <a:t>Etapa 3 — </a:t>
            </a:r>
            <a:r>
              <a:rPr lang="es-ES" err="1"/>
              <a:t>Delivery</a:t>
            </a:r>
            <a:r>
              <a:rPr lang="es-ES"/>
              <a:t> (</a:t>
            </a:r>
            <a:r>
              <a:rPr lang="es-ES" err="1"/>
              <a:t>sprints</a:t>
            </a:r>
            <a:r>
              <a:rPr lang="es-ES"/>
              <a:t> de 1–2 semanas)</a:t>
            </a:r>
          </a:p>
          <a:p>
            <a:r>
              <a:rPr lang="es-ES">
                <a:ea typeface="+mn-lt"/>
                <a:cs typeface="+mn-lt"/>
              </a:rPr>
              <a:t>Desarrollo por historias pequeñas</a:t>
            </a:r>
            <a:endParaRPr lang="es-ES"/>
          </a:p>
          <a:p>
            <a:r>
              <a:rPr lang="es-ES">
                <a:ea typeface="+mn-lt"/>
                <a:cs typeface="+mn-lt"/>
              </a:rPr>
              <a:t>PR obligatorio + revisión </a:t>
            </a:r>
            <a:r>
              <a:rPr lang="es-ES" err="1">
                <a:ea typeface="+mn-lt"/>
                <a:cs typeface="+mn-lt"/>
              </a:rPr>
              <a:t>Tech</a:t>
            </a:r>
            <a:r>
              <a:rPr lang="es-ES">
                <a:ea typeface="+mn-lt"/>
                <a:cs typeface="+mn-lt"/>
              </a:rPr>
              <a:t> Lead</a:t>
            </a:r>
            <a:endParaRPr lang="es-ES"/>
          </a:p>
          <a:p>
            <a:r>
              <a:rPr lang="es-ES">
                <a:ea typeface="+mn-lt"/>
                <a:cs typeface="+mn-lt"/>
              </a:rPr>
              <a:t>Pruebas mínimas + evidencias</a:t>
            </a:r>
            <a:br>
              <a:rPr lang="es-ES">
                <a:ea typeface="+mn-lt"/>
                <a:cs typeface="+mn-lt"/>
              </a:rPr>
            </a:br>
            <a:r>
              <a:rPr lang="es-ES">
                <a:ea typeface="+mn-lt"/>
                <a:cs typeface="+mn-lt"/>
              </a:rPr>
              <a:t> </a:t>
            </a:r>
            <a:r>
              <a:rPr lang="es-ES" b="1">
                <a:ea typeface="+mn-lt"/>
                <a:cs typeface="+mn-lt"/>
              </a:rPr>
              <a:t>Salida:</a:t>
            </a:r>
            <a:r>
              <a:rPr lang="es-ES">
                <a:ea typeface="+mn-lt"/>
                <a:cs typeface="+mn-lt"/>
              </a:rPr>
              <a:t> demo funcional + </a:t>
            </a:r>
            <a:r>
              <a:rPr lang="es-ES" err="1">
                <a:ea typeface="+mn-lt"/>
                <a:cs typeface="+mn-lt"/>
              </a:rPr>
              <a:t>build</a:t>
            </a:r>
            <a:r>
              <a:rPr lang="es-ES">
                <a:ea typeface="+mn-lt"/>
                <a:cs typeface="+mn-lt"/>
              </a:rPr>
              <a:t> candidato</a:t>
            </a:r>
            <a:endParaRPr lang="es-ES"/>
          </a:p>
          <a:p>
            <a:r>
              <a:rPr lang="es-ES"/>
              <a:t>Etapa 4 — UAT y ajuste (1 semana típica)</a:t>
            </a:r>
          </a:p>
          <a:p>
            <a:r>
              <a:rPr lang="es-ES">
                <a:ea typeface="+mn-lt"/>
                <a:cs typeface="+mn-lt"/>
              </a:rPr>
              <a:t>PO del área valida con </a:t>
            </a:r>
            <a:r>
              <a:rPr lang="es-ES" err="1">
                <a:ea typeface="+mn-lt"/>
                <a:cs typeface="+mn-lt"/>
              </a:rPr>
              <a:t>checklist</a:t>
            </a:r>
            <a:endParaRPr lang="es-ES" err="1"/>
          </a:p>
          <a:p>
            <a:r>
              <a:rPr lang="es-ES">
                <a:ea typeface="+mn-lt"/>
                <a:cs typeface="+mn-lt"/>
              </a:rPr>
              <a:t>Cierre de hallazgos críticos</a:t>
            </a:r>
            <a:br>
              <a:rPr lang="es-ES">
                <a:ea typeface="+mn-lt"/>
                <a:cs typeface="+mn-lt"/>
              </a:rPr>
            </a:br>
            <a:r>
              <a:rPr lang="es-ES">
                <a:ea typeface="+mn-lt"/>
                <a:cs typeface="+mn-lt"/>
              </a:rPr>
              <a:t> </a:t>
            </a:r>
            <a:r>
              <a:rPr lang="es-ES" b="1">
                <a:ea typeface="+mn-lt"/>
                <a:cs typeface="+mn-lt"/>
              </a:rPr>
              <a:t>Salida:</a:t>
            </a:r>
            <a:r>
              <a:rPr lang="es-ES">
                <a:ea typeface="+mn-lt"/>
                <a:cs typeface="+mn-lt"/>
              </a:rPr>
              <a:t> acta breve de aceptación UAT</a:t>
            </a:r>
            <a:endParaRPr lang="es-ES"/>
          </a:p>
          <a:p>
            <a:r>
              <a:rPr lang="es-ES"/>
              <a:t>Etapa 5 — </a:t>
            </a:r>
            <a:r>
              <a:rPr lang="es-ES" err="1"/>
              <a:t>Release</a:t>
            </a:r>
            <a:r>
              <a:rPr lang="es-ES"/>
              <a:t> / Paso a Producción</a:t>
            </a:r>
          </a:p>
          <a:p>
            <a:r>
              <a:rPr lang="es-ES">
                <a:ea typeface="+mn-lt"/>
                <a:cs typeface="+mn-lt"/>
              </a:rPr>
              <a:t>Gate de salida + </a:t>
            </a:r>
            <a:r>
              <a:rPr lang="es-ES" err="1">
                <a:ea typeface="+mn-lt"/>
                <a:cs typeface="+mn-lt"/>
              </a:rPr>
              <a:t>runbook</a:t>
            </a:r>
            <a:r>
              <a:rPr lang="es-ES">
                <a:ea typeface="+mn-lt"/>
                <a:cs typeface="+mn-lt"/>
              </a:rPr>
              <a:t> mínimo + notas de versión</a:t>
            </a:r>
            <a:endParaRPr lang="es-ES"/>
          </a:p>
          <a:p>
            <a:r>
              <a:rPr lang="es-ES">
                <a:ea typeface="+mn-lt"/>
                <a:cs typeface="+mn-lt"/>
              </a:rPr>
              <a:t>Despliegue productivo lo ejecuta TI (con apoyo CDT)</a:t>
            </a:r>
            <a:br>
              <a:rPr lang="es-ES">
                <a:ea typeface="+mn-lt"/>
                <a:cs typeface="+mn-lt"/>
              </a:rPr>
            </a:br>
            <a:r>
              <a:rPr lang="es-ES">
                <a:ea typeface="+mn-lt"/>
                <a:cs typeface="+mn-lt"/>
              </a:rPr>
              <a:t> </a:t>
            </a:r>
            <a:r>
              <a:rPr lang="es-ES" b="1">
                <a:ea typeface="+mn-lt"/>
                <a:cs typeface="+mn-lt"/>
              </a:rPr>
              <a:t>Salida:</a:t>
            </a:r>
            <a:r>
              <a:rPr lang="es-ES">
                <a:ea typeface="+mn-lt"/>
                <a:cs typeface="+mn-lt"/>
              </a:rPr>
              <a:t> </a:t>
            </a:r>
            <a:r>
              <a:rPr lang="es-ES" err="1">
                <a:ea typeface="+mn-lt"/>
                <a:cs typeface="+mn-lt"/>
              </a:rPr>
              <a:t>release</a:t>
            </a:r>
            <a:r>
              <a:rPr lang="es-ES">
                <a:ea typeface="+mn-lt"/>
                <a:cs typeface="+mn-lt"/>
              </a:rPr>
              <a:t> en PROD + </a:t>
            </a:r>
            <a:r>
              <a:rPr lang="es-ES" err="1">
                <a:ea typeface="+mn-lt"/>
                <a:cs typeface="+mn-lt"/>
              </a:rPr>
              <a:t>hypercare</a:t>
            </a:r>
            <a:endParaRPr lang="es-ES" err="1"/>
          </a:p>
          <a:p>
            <a:r>
              <a:rPr lang="es-ES"/>
              <a:t>Etapa 6 — </a:t>
            </a:r>
            <a:r>
              <a:rPr lang="es-ES" err="1"/>
              <a:t>Hypercare</a:t>
            </a:r>
            <a:r>
              <a:rPr lang="es-ES"/>
              <a:t> (1–2 semanas)</a:t>
            </a:r>
          </a:p>
          <a:p>
            <a:r>
              <a:rPr lang="es-ES">
                <a:ea typeface="+mn-lt"/>
                <a:cs typeface="+mn-lt"/>
              </a:rPr>
              <a:t>Seguimiento diario corto</a:t>
            </a:r>
            <a:endParaRPr lang="es-ES"/>
          </a:p>
          <a:p>
            <a:r>
              <a:rPr lang="es-ES">
                <a:ea typeface="+mn-lt"/>
                <a:cs typeface="+mn-lt"/>
              </a:rPr>
              <a:t>Corrección rápida de incidentes</a:t>
            </a:r>
            <a:br>
              <a:rPr lang="es-ES">
                <a:ea typeface="+mn-lt"/>
                <a:cs typeface="+mn-lt"/>
              </a:rPr>
            </a:br>
            <a:r>
              <a:rPr lang="es-ES">
                <a:ea typeface="+mn-lt"/>
                <a:cs typeface="+mn-lt"/>
              </a:rPr>
              <a:t> </a:t>
            </a:r>
            <a:r>
              <a:rPr lang="es-ES" b="1">
                <a:ea typeface="+mn-lt"/>
                <a:cs typeface="+mn-lt"/>
              </a:rPr>
              <a:t>Salida:</a:t>
            </a:r>
            <a:r>
              <a:rPr lang="es-ES">
                <a:ea typeface="+mn-lt"/>
                <a:cs typeface="+mn-lt"/>
              </a:rPr>
              <a:t> cierre de </a:t>
            </a:r>
            <a:r>
              <a:rPr lang="es-ES" err="1">
                <a:ea typeface="+mn-lt"/>
                <a:cs typeface="+mn-lt"/>
              </a:rPr>
              <a:t>hypercare</a:t>
            </a:r>
            <a:r>
              <a:rPr lang="es-ES">
                <a:ea typeface="+mn-lt"/>
                <a:cs typeface="+mn-lt"/>
              </a:rPr>
              <a:t> + traspaso a operación TI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/>
              <a:t>5) Estándares para reducir curva de aprendizaje</a:t>
            </a:r>
          </a:p>
          <a:p>
            <a:r>
              <a:rPr lang="es-ES"/>
              <a:t>5.1 “FUTCO-</a:t>
            </a:r>
            <a:r>
              <a:rPr lang="es-ES" err="1"/>
              <a:t>way</a:t>
            </a:r>
            <a:r>
              <a:rPr lang="es-ES"/>
              <a:t>” (base común)</a:t>
            </a:r>
          </a:p>
          <a:p>
            <a:r>
              <a:rPr lang="es-ES" b="1">
                <a:ea typeface="+mn-lt"/>
                <a:cs typeface="+mn-lt"/>
              </a:rPr>
              <a:t>Plantilla de repositorio</a:t>
            </a:r>
            <a:r>
              <a:rPr lang="es-ES">
                <a:ea typeface="+mn-lt"/>
                <a:cs typeface="+mn-lt"/>
              </a:rPr>
              <a:t> (</a:t>
            </a:r>
            <a:r>
              <a:rPr lang="es-ES" err="1">
                <a:ea typeface="+mn-lt"/>
                <a:cs typeface="+mn-lt"/>
              </a:rPr>
              <a:t>backend</a:t>
            </a:r>
            <a:r>
              <a:rPr lang="es-ES">
                <a:ea typeface="+mn-lt"/>
                <a:cs typeface="+mn-lt"/>
              </a:rPr>
              <a:t>/</a:t>
            </a:r>
            <a:r>
              <a:rPr lang="es-ES" err="1">
                <a:ea typeface="+mn-lt"/>
                <a:cs typeface="+mn-lt"/>
              </a:rPr>
              <a:t>frontend</a:t>
            </a:r>
            <a:r>
              <a:rPr lang="es-ES">
                <a:ea typeface="+mn-lt"/>
                <a:cs typeface="+mn-lt"/>
              </a:rPr>
              <a:t>) con estructura definida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Convenciones</a:t>
            </a:r>
            <a:r>
              <a:rPr lang="es-ES">
                <a:ea typeface="+mn-lt"/>
                <a:cs typeface="+mn-lt"/>
              </a:rPr>
              <a:t>: nombres, arquitectura interna, manejo de errores, </a:t>
            </a:r>
            <a:r>
              <a:rPr lang="es-ES" err="1">
                <a:ea typeface="+mn-lt"/>
                <a:cs typeface="+mn-lt"/>
              </a:rPr>
              <a:t>logging</a:t>
            </a:r>
            <a:endParaRPr lang="es-ES" err="1"/>
          </a:p>
          <a:p>
            <a:r>
              <a:rPr lang="es-ES" b="1">
                <a:ea typeface="+mn-lt"/>
                <a:cs typeface="+mn-lt"/>
              </a:rPr>
              <a:t>Guías</a:t>
            </a:r>
            <a:r>
              <a:rPr lang="es-ES">
                <a:ea typeface="+mn-lt"/>
                <a:cs typeface="+mn-lt"/>
              </a:rPr>
              <a:t>: “cómo correr local”, “cómo desplegar a QA”, “cómo hacer PR”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Catálogo de componentes reutilizables</a:t>
            </a:r>
            <a:r>
              <a:rPr lang="es-ES">
                <a:ea typeface="+mn-lt"/>
                <a:cs typeface="+mn-lt"/>
              </a:rPr>
              <a:t>: </a:t>
            </a:r>
            <a:r>
              <a:rPr lang="es-ES" err="1">
                <a:ea typeface="+mn-lt"/>
                <a:cs typeface="+mn-lt"/>
              </a:rPr>
              <a:t>auth</a:t>
            </a:r>
            <a:r>
              <a:rPr lang="es-ES">
                <a:ea typeface="+mn-lt"/>
                <a:cs typeface="+mn-lt"/>
              </a:rPr>
              <a:t>, roles, </a:t>
            </a:r>
            <a:r>
              <a:rPr lang="es-ES" err="1">
                <a:ea typeface="+mn-lt"/>
                <a:cs typeface="+mn-lt"/>
              </a:rPr>
              <a:t>layouts</a:t>
            </a:r>
            <a:r>
              <a:rPr lang="es-ES">
                <a:ea typeface="+mn-lt"/>
                <a:cs typeface="+mn-lt"/>
              </a:rPr>
              <a:t>, </a:t>
            </a:r>
            <a:r>
              <a:rPr lang="es-ES" err="1">
                <a:ea typeface="+mn-lt"/>
                <a:cs typeface="+mn-lt"/>
              </a:rPr>
              <a:t>APIs</a:t>
            </a:r>
            <a:r>
              <a:rPr lang="es-ES">
                <a:ea typeface="+mn-lt"/>
                <a:cs typeface="+mn-lt"/>
              </a:rPr>
              <a:t> base</a:t>
            </a:r>
            <a:endParaRPr lang="es-ES"/>
          </a:p>
          <a:p>
            <a:r>
              <a:rPr lang="es-ES"/>
              <a:t>5.2 Política de Git (mínima)</a:t>
            </a:r>
          </a:p>
          <a:p>
            <a:r>
              <a:rPr lang="es-ES">
                <a:ea typeface="+mn-lt"/>
                <a:cs typeface="+mn-lt"/>
              </a:rPr>
              <a:t>Rama principal protegida</a:t>
            </a:r>
            <a:endParaRPr lang="es-ES"/>
          </a:p>
          <a:p>
            <a:r>
              <a:rPr lang="es-ES">
                <a:ea typeface="+mn-lt"/>
                <a:cs typeface="+mn-lt"/>
              </a:rPr>
              <a:t>PR obligatorio + 1 revisor (</a:t>
            </a:r>
            <a:r>
              <a:rPr lang="es-ES" err="1">
                <a:ea typeface="+mn-lt"/>
                <a:cs typeface="+mn-lt"/>
              </a:rPr>
              <a:t>Tech</a:t>
            </a:r>
            <a:r>
              <a:rPr lang="es-ES">
                <a:ea typeface="+mn-lt"/>
                <a:cs typeface="+mn-lt"/>
              </a:rPr>
              <a:t> Lead o monitor)</a:t>
            </a:r>
            <a:endParaRPr lang="es-ES"/>
          </a:p>
          <a:p>
            <a:r>
              <a:rPr lang="es-ES" err="1">
                <a:ea typeface="+mn-lt"/>
                <a:cs typeface="+mn-lt"/>
              </a:rPr>
              <a:t>Checklist</a:t>
            </a:r>
            <a:r>
              <a:rPr lang="es-ES">
                <a:ea typeface="+mn-lt"/>
                <a:cs typeface="+mn-lt"/>
              </a:rPr>
              <a:t> de PR: estilo, pruebas, seguridad básica, documentación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/>
              <a:t>6) Calidad y seguridad (gates mínimos)</a:t>
            </a:r>
          </a:p>
          <a:p>
            <a:r>
              <a:rPr lang="es-ES" err="1"/>
              <a:t>Definition</a:t>
            </a:r>
            <a:r>
              <a:rPr lang="es-ES"/>
              <a:t> </a:t>
            </a:r>
            <a:r>
              <a:rPr lang="es-ES" err="1"/>
              <a:t>of</a:t>
            </a:r>
            <a:r>
              <a:rPr lang="es-ES"/>
              <a:t> Done (</a:t>
            </a:r>
            <a:r>
              <a:rPr lang="es-ES" err="1"/>
              <a:t>DoD</a:t>
            </a:r>
            <a:r>
              <a:rPr lang="es-ES"/>
              <a:t>) del CDT (obligatoria)</a:t>
            </a:r>
          </a:p>
          <a:p>
            <a:r>
              <a:rPr lang="es-ES">
                <a:ea typeface="+mn-lt"/>
                <a:cs typeface="+mn-lt"/>
              </a:rPr>
              <a:t>Funcionalidad completa según historia + criterios de aceptación</a:t>
            </a:r>
            <a:endParaRPr lang="es-ES"/>
          </a:p>
          <a:p>
            <a:r>
              <a:rPr lang="es-ES">
                <a:ea typeface="+mn-lt"/>
                <a:cs typeface="+mn-lt"/>
              </a:rPr>
              <a:t>PR revisado</a:t>
            </a:r>
            <a:endParaRPr lang="es-ES"/>
          </a:p>
          <a:p>
            <a:r>
              <a:rPr lang="es-ES">
                <a:ea typeface="+mn-lt"/>
                <a:cs typeface="+mn-lt"/>
              </a:rPr>
              <a:t>Pruebas mínimas (unitarias o API) y casos borde</a:t>
            </a:r>
            <a:endParaRPr lang="es-ES"/>
          </a:p>
          <a:p>
            <a:r>
              <a:rPr lang="es-ES">
                <a:ea typeface="+mn-lt"/>
                <a:cs typeface="+mn-lt"/>
              </a:rPr>
              <a:t>Logs + manejo de errores</a:t>
            </a:r>
            <a:endParaRPr lang="es-ES"/>
          </a:p>
          <a:p>
            <a:r>
              <a:rPr lang="es-ES">
                <a:ea typeface="+mn-lt"/>
                <a:cs typeface="+mn-lt"/>
              </a:rPr>
              <a:t>README actualizado</a:t>
            </a:r>
            <a:endParaRPr lang="es-ES"/>
          </a:p>
          <a:p>
            <a:r>
              <a:rPr lang="es-ES">
                <a:ea typeface="+mn-lt"/>
                <a:cs typeface="+mn-lt"/>
              </a:rPr>
              <a:t>Evidencia de UAT (capturas o acta breve)</a:t>
            </a:r>
            <a:endParaRPr lang="es-ES"/>
          </a:p>
          <a:p>
            <a:r>
              <a:rPr lang="es-ES">
                <a:ea typeface="+mn-lt"/>
                <a:cs typeface="+mn-lt"/>
              </a:rPr>
              <a:t>Sin secretos en código (variables de entorno)</a:t>
            </a:r>
            <a:endParaRPr lang="es-ES"/>
          </a:p>
          <a:p>
            <a:r>
              <a:rPr lang="es-ES"/>
              <a:t>Gate para producción (TI + CDT)</a:t>
            </a:r>
          </a:p>
          <a:p>
            <a:r>
              <a:rPr lang="es-ES" err="1">
                <a:ea typeface="+mn-lt"/>
                <a:cs typeface="+mn-lt"/>
              </a:rPr>
              <a:t>Checklist</a:t>
            </a:r>
            <a:r>
              <a:rPr lang="es-ES">
                <a:ea typeface="+mn-lt"/>
                <a:cs typeface="+mn-lt"/>
              </a:rPr>
              <a:t> seguridad básica (roles/permisos, control acceso)</a:t>
            </a:r>
            <a:endParaRPr lang="es-ES"/>
          </a:p>
          <a:p>
            <a:r>
              <a:rPr lang="es-ES" err="1">
                <a:ea typeface="+mn-lt"/>
                <a:cs typeface="+mn-lt"/>
              </a:rPr>
              <a:t>Backups</a:t>
            </a:r>
            <a:r>
              <a:rPr lang="es-ES">
                <a:ea typeface="+mn-lt"/>
                <a:cs typeface="+mn-lt"/>
              </a:rPr>
              <a:t>/</a:t>
            </a:r>
            <a:r>
              <a:rPr lang="es-ES" err="1">
                <a:ea typeface="+mn-lt"/>
                <a:cs typeface="+mn-lt"/>
              </a:rPr>
              <a:t>rollback</a:t>
            </a:r>
            <a:r>
              <a:rPr lang="es-ES">
                <a:ea typeface="+mn-lt"/>
                <a:cs typeface="+mn-lt"/>
              </a:rPr>
              <a:t> definidos</a:t>
            </a:r>
            <a:endParaRPr lang="es-ES"/>
          </a:p>
          <a:p>
            <a:r>
              <a:rPr lang="es-ES">
                <a:ea typeface="+mn-lt"/>
                <a:cs typeface="+mn-lt"/>
              </a:rPr>
              <a:t>Monitoreo básico (logs, disponibilidad)</a:t>
            </a:r>
            <a:endParaRPr lang="es-ES"/>
          </a:p>
          <a:p>
            <a:r>
              <a:rPr lang="es-ES" err="1">
                <a:ea typeface="+mn-lt"/>
                <a:cs typeface="+mn-lt"/>
              </a:rPr>
              <a:t>Runbook</a:t>
            </a:r>
            <a:r>
              <a:rPr lang="es-ES">
                <a:ea typeface="+mn-lt"/>
                <a:cs typeface="+mn-lt"/>
              </a:rPr>
              <a:t> mínimo L1 (qué hacer si falla)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/>
              <a:t>7) Modelo de rotación estudiantil (para continuidad)</a:t>
            </a:r>
          </a:p>
          <a:p>
            <a:r>
              <a:rPr lang="es-ES" b="1" err="1">
                <a:ea typeface="+mn-lt"/>
                <a:cs typeface="+mn-lt"/>
              </a:rPr>
              <a:t>Onboarding</a:t>
            </a:r>
            <a:r>
              <a:rPr lang="es-ES" b="1">
                <a:ea typeface="+mn-lt"/>
                <a:cs typeface="+mn-lt"/>
              </a:rPr>
              <a:t> estándar (2 semanas):</a:t>
            </a:r>
            <a:endParaRPr lang="es-ES"/>
          </a:p>
          <a:p>
            <a:r>
              <a:rPr lang="es-ES">
                <a:ea typeface="+mn-lt"/>
                <a:cs typeface="+mn-lt"/>
              </a:rPr>
              <a:t>Semana 1: </a:t>
            </a:r>
            <a:r>
              <a:rPr lang="es-ES" err="1">
                <a:ea typeface="+mn-lt"/>
                <a:cs typeface="+mn-lt"/>
              </a:rPr>
              <a:t>stack</a:t>
            </a:r>
            <a:r>
              <a:rPr lang="es-ES">
                <a:ea typeface="+mn-lt"/>
                <a:cs typeface="+mn-lt"/>
              </a:rPr>
              <a:t> + repos + flujo Git + tareas guiadas</a:t>
            </a:r>
            <a:endParaRPr lang="es-ES"/>
          </a:p>
          <a:p>
            <a:r>
              <a:rPr lang="es-ES">
                <a:ea typeface="+mn-lt"/>
                <a:cs typeface="+mn-lt"/>
              </a:rPr>
              <a:t>Semana 2: </a:t>
            </a:r>
            <a:r>
              <a:rPr lang="es-ES" err="1">
                <a:ea typeface="+mn-lt"/>
                <a:cs typeface="+mn-lt"/>
              </a:rPr>
              <a:t>bugfix</a:t>
            </a:r>
            <a:r>
              <a:rPr lang="es-ES">
                <a:ea typeface="+mn-lt"/>
                <a:cs typeface="+mn-lt"/>
              </a:rPr>
              <a:t> real + </a:t>
            </a:r>
            <a:r>
              <a:rPr lang="es-ES" err="1">
                <a:ea typeface="+mn-lt"/>
                <a:cs typeface="+mn-lt"/>
              </a:rPr>
              <a:t>feature</a:t>
            </a:r>
            <a:r>
              <a:rPr lang="es-ES">
                <a:ea typeface="+mn-lt"/>
                <a:cs typeface="+mn-lt"/>
              </a:rPr>
              <a:t> pequeño + demo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Estructura recomendada por cohorte:</a:t>
            </a:r>
            <a:endParaRPr lang="es-ES"/>
          </a:p>
          <a:p>
            <a:r>
              <a:rPr lang="es-ES">
                <a:ea typeface="+mn-lt"/>
                <a:cs typeface="+mn-lt"/>
              </a:rPr>
              <a:t>1 </a:t>
            </a:r>
            <a:r>
              <a:rPr lang="es-ES" err="1">
                <a:ea typeface="+mn-lt"/>
                <a:cs typeface="+mn-lt"/>
              </a:rPr>
              <a:t>Tech</a:t>
            </a:r>
            <a:r>
              <a:rPr lang="es-ES">
                <a:ea typeface="+mn-lt"/>
                <a:cs typeface="+mn-lt"/>
              </a:rPr>
              <a:t> Lead (estable)</a:t>
            </a:r>
            <a:endParaRPr lang="es-ES"/>
          </a:p>
          <a:p>
            <a:r>
              <a:rPr lang="es-ES">
                <a:ea typeface="+mn-lt"/>
                <a:cs typeface="+mn-lt"/>
              </a:rPr>
              <a:t>1 Monitor/Dev </a:t>
            </a:r>
            <a:r>
              <a:rPr lang="es-ES" err="1">
                <a:ea typeface="+mn-lt"/>
                <a:cs typeface="+mn-lt"/>
              </a:rPr>
              <a:t>semi-senior</a:t>
            </a:r>
            <a:r>
              <a:rPr lang="es-ES">
                <a:ea typeface="+mn-lt"/>
                <a:cs typeface="+mn-lt"/>
              </a:rPr>
              <a:t> (estudiante avanzado, por semestre)</a:t>
            </a:r>
            <a:endParaRPr lang="es-ES"/>
          </a:p>
          <a:p>
            <a:r>
              <a:rPr lang="es-ES">
                <a:ea typeface="+mn-lt"/>
                <a:cs typeface="+mn-lt"/>
              </a:rPr>
              <a:t>4–8 estudiantes rotando</a:t>
            </a:r>
            <a:endParaRPr lang="es-ES"/>
          </a:p>
          <a:p>
            <a:r>
              <a:rPr lang="es-ES" b="1" err="1">
                <a:ea typeface="+mn-lt"/>
                <a:cs typeface="+mn-lt"/>
              </a:rPr>
              <a:t>Buddy</a:t>
            </a:r>
            <a:r>
              <a:rPr lang="es-ES" b="1">
                <a:ea typeface="+mn-lt"/>
                <a:cs typeface="+mn-lt"/>
              </a:rPr>
              <a:t> </a:t>
            </a:r>
            <a:r>
              <a:rPr lang="es-ES" b="1" err="1">
                <a:ea typeface="+mn-lt"/>
                <a:cs typeface="+mn-lt"/>
              </a:rPr>
              <a:t>system</a:t>
            </a:r>
            <a:r>
              <a:rPr lang="es-ES" b="1">
                <a:ea typeface="+mn-lt"/>
                <a:cs typeface="+mn-lt"/>
              </a:rPr>
              <a:t>:</a:t>
            </a:r>
            <a:r>
              <a:rPr lang="es-ES">
                <a:ea typeface="+mn-lt"/>
                <a:cs typeface="+mn-lt"/>
              </a:rPr>
              <a:t> cada nuevo estudiante emparejado con alguien con 1 ciclo previo.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Base de conocimiento CDT (obligatoria):</a:t>
            </a:r>
            <a:endParaRPr lang="es-ES"/>
          </a:p>
          <a:p>
            <a:r>
              <a:rPr lang="es-ES">
                <a:ea typeface="+mn-lt"/>
                <a:cs typeface="+mn-lt"/>
              </a:rPr>
              <a:t>Wiki/</a:t>
            </a:r>
            <a:r>
              <a:rPr lang="es-ES" err="1">
                <a:ea typeface="+mn-lt"/>
                <a:cs typeface="+mn-lt"/>
              </a:rPr>
              <a:t>Notion</a:t>
            </a:r>
            <a:r>
              <a:rPr lang="es-ES">
                <a:ea typeface="+mn-lt"/>
                <a:cs typeface="+mn-lt"/>
              </a:rPr>
              <a:t>/</a:t>
            </a:r>
            <a:r>
              <a:rPr lang="es-ES" err="1">
                <a:ea typeface="+mn-lt"/>
                <a:cs typeface="+mn-lt"/>
              </a:rPr>
              <a:t>Confluence</a:t>
            </a:r>
            <a:r>
              <a:rPr lang="es-ES">
                <a:ea typeface="+mn-lt"/>
                <a:cs typeface="+mn-lt"/>
              </a:rPr>
              <a:t> con: estándares, tutoriales, “cómo desplegar”, </a:t>
            </a:r>
            <a:r>
              <a:rPr lang="es-ES" err="1">
                <a:ea typeface="+mn-lt"/>
                <a:cs typeface="+mn-lt"/>
              </a:rPr>
              <a:t>runbooks</a:t>
            </a:r>
            <a:endParaRPr lang="es-ES" err="1"/>
          </a:p>
          <a:p>
            <a:br>
              <a:rPr lang="en-US"/>
            </a:br>
            <a:endParaRPr lang="en-US"/>
          </a:p>
          <a:p>
            <a:r>
              <a:rPr lang="es-ES"/>
              <a:t>8) Catálogo de servicios CDT (qué ofrece oficialmente)</a:t>
            </a:r>
          </a:p>
          <a:p>
            <a:r>
              <a:rPr lang="es-ES">
                <a:ea typeface="+mn-lt"/>
                <a:cs typeface="+mn-lt"/>
              </a:rPr>
              <a:t>Desarrollo de MVP</a:t>
            </a:r>
            <a:endParaRPr lang="es-ES"/>
          </a:p>
          <a:p>
            <a:r>
              <a:rPr lang="es-ES">
                <a:ea typeface="+mn-lt"/>
                <a:cs typeface="+mn-lt"/>
              </a:rPr>
              <a:t>Evolución/mejoras de MVP existentes</a:t>
            </a:r>
            <a:endParaRPr lang="es-ES"/>
          </a:p>
          <a:p>
            <a:r>
              <a:rPr lang="es-ES">
                <a:ea typeface="+mn-lt"/>
                <a:cs typeface="+mn-lt"/>
              </a:rPr>
              <a:t>Automatizaciones internas (formularios, flujos, reportes)</a:t>
            </a:r>
            <a:endParaRPr lang="es-ES"/>
          </a:p>
          <a:p>
            <a:r>
              <a:rPr lang="es-ES">
                <a:ea typeface="+mn-lt"/>
                <a:cs typeface="+mn-lt"/>
              </a:rPr>
              <a:t>Integraciones (sujetas a arquitectura TI)</a:t>
            </a:r>
            <a:endParaRPr lang="es-ES"/>
          </a:p>
          <a:p>
            <a:r>
              <a:rPr lang="es-ES">
                <a:ea typeface="+mn-lt"/>
                <a:cs typeface="+mn-lt"/>
              </a:rPr>
              <a:t>Prototipado UX básico</a:t>
            </a:r>
            <a:endParaRPr lang="es-ES"/>
          </a:p>
          <a:p>
            <a:r>
              <a:rPr lang="es-ES">
                <a:ea typeface="+mn-lt"/>
                <a:cs typeface="+mn-lt"/>
              </a:rPr>
              <a:t>Analítica ligera (</a:t>
            </a:r>
            <a:r>
              <a:rPr lang="es-ES" err="1">
                <a:ea typeface="+mn-lt"/>
                <a:cs typeface="+mn-lt"/>
              </a:rPr>
              <a:t>dashboards</a:t>
            </a:r>
            <a:r>
              <a:rPr lang="es-ES">
                <a:ea typeface="+mn-lt"/>
                <a:cs typeface="+mn-lt"/>
              </a:rPr>
              <a:t> simples) — si aplica</a:t>
            </a:r>
            <a:endParaRPr lang="es-ES"/>
          </a:p>
          <a:p>
            <a:r>
              <a:rPr lang="es-ES">
                <a:ea typeface="+mn-lt"/>
                <a:cs typeface="+mn-lt"/>
              </a:rPr>
              <a:t>Cada servicio tiene: tiempos típicos, entregables y condiciones (UAT, datos, acceso).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/>
              <a:t>9) </a:t>
            </a:r>
            <a:r>
              <a:rPr lang="es-ES" err="1"/>
              <a:t>KPIs</a:t>
            </a:r>
            <a:r>
              <a:rPr lang="es-ES"/>
              <a:t> de operación (pocos, útiles)</a:t>
            </a:r>
          </a:p>
          <a:p>
            <a:r>
              <a:rPr lang="es-ES" b="1">
                <a:ea typeface="+mn-lt"/>
                <a:cs typeface="+mn-lt"/>
              </a:rPr>
              <a:t>Lead Time</a:t>
            </a:r>
            <a:r>
              <a:rPr lang="es-ES">
                <a:ea typeface="+mn-lt"/>
                <a:cs typeface="+mn-lt"/>
              </a:rPr>
              <a:t>: solicitud → primera entrega</a:t>
            </a:r>
            <a:endParaRPr lang="es-ES"/>
          </a:p>
          <a:p>
            <a:r>
              <a:rPr lang="es-ES" b="1" err="1">
                <a:ea typeface="+mn-lt"/>
                <a:cs typeface="+mn-lt"/>
              </a:rPr>
              <a:t>Cycle</a:t>
            </a:r>
            <a:r>
              <a:rPr lang="es-ES" b="1">
                <a:ea typeface="+mn-lt"/>
                <a:cs typeface="+mn-lt"/>
              </a:rPr>
              <a:t> Time</a:t>
            </a:r>
            <a:r>
              <a:rPr lang="es-ES">
                <a:ea typeface="+mn-lt"/>
                <a:cs typeface="+mn-lt"/>
              </a:rPr>
              <a:t>: inicio </a:t>
            </a:r>
            <a:r>
              <a:rPr lang="es-ES" err="1">
                <a:ea typeface="+mn-lt"/>
                <a:cs typeface="+mn-lt"/>
              </a:rPr>
              <a:t>dev</a:t>
            </a:r>
            <a:r>
              <a:rPr lang="es-ES">
                <a:ea typeface="+mn-lt"/>
                <a:cs typeface="+mn-lt"/>
              </a:rPr>
              <a:t> → listo para UAT</a:t>
            </a:r>
            <a:endParaRPr lang="es-ES"/>
          </a:p>
          <a:p>
            <a:r>
              <a:rPr lang="es-ES" b="1" err="1">
                <a:ea typeface="+mn-lt"/>
                <a:cs typeface="+mn-lt"/>
              </a:rPr>
              <a:t>Defect</a:t>
            </a:r>
            <a:r>
              <a:rPr lang="es-ES" b="1">
                <a:ea typeface="+mn-lt"/>
                <a:cs typeface="+mn-lt"/>
              </a:rPr>
              <a:t> escape</a:t>
            </a:r>
            <a:r>
              <a:rPr lang="es-ES">
                <a:ea typeface="+mn-lt"/>
                <a:cs typeface="+mn-lt"/>
              </a:rPr>
              <a:t>: bugs en PROD / total entregas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% entregas que pasan gate a la primera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Tiempo de </a:t>
            </a:r>
            <a:r>
              <a:rPr lang="es-ES" b="1" err="1">
                <a:ea typeface="+mn-lt"/>
                <a:cs typeface="+mn-lt"/>
              </a:rPr>
              <a:t>onboarding</a:t>
            </a:r>
            <a:r>
              <a:rPr lang="es-ES">
                <a:ea typeface="+mn-lt"/>
                <a:cs typeface="+mn-lt"/>
              </a:rPr>
              <a:t> (hasta primer PR aceptado)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Satisfacción del área</a:t>
            </a:r>
            <a:r>
              <a:rPr lang="es-ES">
                <a:ea typeface="+mn-lt"/>
                <a:cs typeface="+mn-lt"/>
              </a:rPr>
              <a:t> (1–5 al cierre)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/>
              <a:t>10) Entregables estándar por proyecto (paquete mínimo)</a:t>
            </a:r>
          </a:p>
          <a:p>
            <a:r>
              <a:rPr lang="es-ES">
                <a:ea typeface="+mn-lt"/>
                <a:cs typeface="+mn-lt"/>
              </a:rPr>
              <a:t>Ficha MVP (1 pág.)</a:t>
            </a:r>
            <a:endParaRPr lang="es-ES"/>
          </a:p>
          <a:p>
            <a:r>
              <a:rPr lang="es-ES">
                <a:ea typeface="+mn-lt"/>
                <a:cs typeface="+mn-lt"/>
              </a:rPr>
              <a:t>Diseño de solución (2–4 págs.)</a:t>
            </a:r>
            <a:endParaRPr lang="es-ES"/>
          </a:p>
          <a:p>
            <a:r>
              <a:rPr lang="es-ES">
                <a:ea typeface="+mn-lt"/>
                <a:cs typeface="+mn-lt"/>
              </a:rPr>
              <a:t>Backlog en herramienta (historias + criterios)</a:t>
            </a:r>
            <a:endParaRPr lang="es-ES"/>
          </a:p>
          <a:p>
            <a:r>
              <a:rPr lang="es-ES">
                <a:ea typeface="+mn-lt"/>
                <a:cs typeface="+mn-lt"/>
              </a:rPr>
              <a:t>Evidencia de pruebas + UAT</a:t>
            </a:r>
            <a:endParaRPr lang="es-ES"/>
          </a:p>
          <a:p>
            <a:r>
              <a:rPr lang="es-ES">
                <a:ea typeface="+mn-lt"/>
                <a:cs typeface="+mn-lt"/>
              </a:rPr>
              <a:t>Notas de versión</a:t>
            </a:r>
            <a:endParaRPr lang="es-ES"/>
          </a:p>
          <a:p>
            <a:r>
              <a:rPr lang="es-ES" err="1">
                <a:ea typeface="+mn-lt"/>
                <a:cs typeface="+mn-lt"/>
              </a:rPr>
              <a:t>Runbook</a:t>
            </a:r>
            <a:r>
              <a:rPr lang="es-ES">
                <a:ea typeface="+mn-lt"/>
                <a:cs typeface="+mn-lt"/>
              </a:rPr>
              <a:t> L1 (operación básica)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/>
              <a:t>Anexos listos para usar (plantillas)</a:t>
            </a:r>
          </a:p>
          <a:p>
            <a:r>
              <a:rPr lang="es-ES"/>
              <a:t>A) Ficha MVP (1 página)</a:t>
            </a:r>
          </a:p>
          <a:p>
            <a:r>
              <a:rPr lang="es-ES">
                <a:ea typeface="+mn-lt"/>
                <a:cs typeface="+mn-lt"/>
              </a:rPr>
              <a:t>Área solicitante / PO</a:t>
            </a:r>
            <a:endParaRPr lang="es-ES"/>
          </a:p>
          <a:p>
            <a:r>
              <a:rPr lang="es-ES">
                <a:ea typeface="+mn-lt"/>
                <a:cs typeface="+mn-lt"/>
              </a:rPr>
              <a:t>Problema y objetivo</a:t>
            </a:r>
            <a:endParaRPr lang="es-ES"/>
          </a:p>
          <a:p>
            <a:r>
              <a:rPr lang="es-ES">
                <a:ea typeface="+mn-lt"/>
                <a:cs typeface="+mn-lt"/>
              </a:rPr>
              <a:t>Usuarios y alcance MVP</a:t>
            </a:r>
            <a:endParaRPr lang="es-ES"/>
          </a:p>
          <a:p>
            <a:r>
              <a:rPr lang="es-ES">
                <a:ea typeface="+mn-lt"/>
                <a:cs typeface="+mn-lt"/>
              </a:rPr>
              <a:t>Fuera de alcance</a:t>
            </a:r>
            <a:endParaRPr lang="es-ES"/>
          </a:p>
          <a:p>
            <a:r>
              <a:rPr lang="es-ES">
                <a:ea typeface="+mn-lt"/>
                <a:cs typeface="+mn-lt"/>
              </a:rPr>
              <a:t>Criterios de éxito (3–5)</a:t>
            </a:r>
            <a:endParaRPr lang="es-ES"/>
          </a:p>
          <a:p>
            <a:r>
              <a:rPr lang="es-ES">
                <a:ea typeface="+mn-lt"/>
                <a:cs typeface="+mn-lt"/>
              </a:rPr>
              <a:t>Restricciones (datos, accesos, tiempo)</a:t>
            </a:r>
            <a:endParaRPr lang="es-ES"/>
          </a:p>
          <a:p>
            <a:r>
              <a:rPr lang="es-ES">
                <a:ea typeface="+mn-lt"/>
                <a:cs typeface="+mn-lt"/>
              </a:rPr>
              <a:t>Prioridad (score)</a:t>
            </a:r>
            <a:endParaRPr lang="es-ES"/>
          </a:p>
          <a:p>
            <a:r>
              <a:rPr lang="es-ES">
                <a:ea typeface="+mn-lt"/>
                <a:cs typeface="+mn-lt"/>
              </a:rPr>
              <a:t>Fecha objetivo demo / UAT</a:t>
            </a:r>
            <a:endParaRPr lang="es-ES"/>
          </a:p>
          <a:p>
            <a:r>
              <a:rPr lang="es-ES"/>
              <a:t>B) </a:t>
            </a:r>
            <a:r>
              <a:rPr lang="es-ES" err="1"/>
              <a:t>Checklist</a:t>
            </a:r>
            <a:r>
              <a:rPr lang="es-ES"/>
              <a:t> Gate Producción (resumen)</a:t>
            </a:r>
          </a:p>
          <a:p>
            <a:r>
              <a:rPr lang="es-ES">
                <a:ea typeface="+mn-lt"/>
                <a:cs typeface="+mn-lt"/>
              </a:rPr>
              <a:t>Accesos/roles revisados</a:t>
            </a:r>
            <a:endParaRPr lang="es-ES"/>
          </a:p>
          <a:p>
            <a:r>
              <a:rPr lang="es-ES">
                <a:ea typeface="+mn-lt"/>
                <a:cs typeface="+mn-lt"/>
              </a:rPr>
              <a:t>Variables/secretos OK</a:t>
            </a:r>
            <a:endParaRPr lang="es-ES"/>
          </a:p>
          <a:p>
            <a:r>
              <a:rPr lang="es-ES" err="1">
                <a:ea typeface="+mn-lt"/>
                <a:cs typeface="+mn-lt"/>
              </a:rPr>
              <a:t>Backups</a:t>
            </a:r>
            <a:r>
              <a:rPr lang="es-ES">
                <a:ea typeface="+mn-lt"/>
                <a:cs typeface="+mn-lt"/>
              </a:rPr>
              <a:t>/</a:t>
            </a:r>
            <a:r>
              <a:rPr lang="es-ES" err="1">
                <a:ea typeface="+mn-lt"/>
                <a:cs typeface="+mn-lt"/>
              </a:rPr>
              <a:t>rollback</a:t>
            </a:r>
            <a:r>
              <a:rPr lang="es-ES">
                <a:ea typeface="+mn-lt"/>
                <a:cs typeface="+mn-lt"/>
              </a:rPr>
              <a:t> definido</a:t>
            </a:r>
            <a:endParaRPr lang="es-ES"/>
          </a:p>
          <a:p>
            <a:r>
              <a:rPr lang="es-ES">
                <a:ea typeface="+mn-lt"/>
                <a:cs typeface="+mn-lt"/>
              </a:rPr>
              <a:t>Logs/monitoreo básico</a:t>
            </a:r>
            <a:endParaRPr lang="es-ES"/>
          </a:p>
          <a:p>
            <a:r>
              <a:rPr lang="es-ES" err="1">
                <a:ea typeface="+mn-lt"/>
                <a:cs typeface="+mn-lt"/>
              </a:rPr>
              <a:t>Runbook</a:t>
            </a:r>
            <a:r>
              <a:rPr lang="es-ES">
                <a:ea typeface="+mn-lt"/>
                <a:cs typeface="+mn-lt"/>
              </a:rPr>
              <a:t> L1 disponible</a:t>
            </a:r>
            <a:endParaRPr lang="es-ES"/>
          </a:p>
          <a:p>
            <a:r>
              <a:rPr lang="es-ES">
                <a:ea typeface="+mn-lt"/>
                <a:cs typeface="+mn-lt"/>
              </a:rPr>
              <a:t>Evidencia UAT firmada</a:t>
            </a:r>
            <a:endParaRPr lang="es-ES"/>
          </a:p>
          <a:p>
            <a:r>
              <a:rPr lang="es-ES">
                <a:ea typeface="+mn-lt"/>
                <a:cs typeface="+mn-lt"/>
              </a:rPr>
              <a:t>Aprobación TI + </a:t>
            </a:r>
            <a:r>
              <a:rPr lang="es-ES" err="1">
                <a:ea typeface="+mn-lt"/>
                <a:cs typeface="+mn-lt"/>
              </a:rPr>
              <a:t>Tech</a:t>
            </a:r>
            <a:r>
              <a:rPr lang="es-ES">
                <a:ea typeface="+mn-lt"/>
                <a:cs typeface="+mn-lt"/>
              </a:rPr>
              <a:t> Lead</a:t>
            </a:r>
            <a:endParaRPr lang="es-ES"/>
          </a:p>
          <a:p>
            <a:r>
              <a:rPr lang="es-ES"/>
              <a:t>C) RACI mínimo (por proyecto)</a:t>
            </a:r>
          </a:p>
          <a:p>
            <a:r>
              <a:rPr lang="es-ES">
                <a:ea typeface="+mn-lt"/>
                <a:cs typeface="+mn-lt"/>
              </a:rPr>
              <a:t>PO Área: A (aprueba) en alcance/UAT</a:t>
            </a:r>
            <a:endParaRPr lang="es-ES"/>
          </a:p>
          <a:p>
            <a:r>
              <a:rPr lang="es-ES">
                <a:ea typeface="+mn-lt"/>
                <a:cs typeface="+mn-lt"/>
              </a:rPr>
              <a:t>Coordinador CDT: A en priorización operativa</a:t>
            </a:r>
            <a:endParaRPr lang="es-ES"/>
          </a:p>
          <a:p>
            <a:r>
              <a:rPr lang="es-ES" err="1">
                <a:ea typeface="+mn-lt"/>
                <a:cs typeface="+mn-lt"/>
              </a:rPr>
              <a:t>Tech</a:t>
            </a:r>
            <a:r>
              <a:rPr lang="es-ES">
                <a:ea typeface="+mn-lt"/>
                <a:cs typeface="+mn-lt"/>
              </a:rPr>
              <a:t> Lead CDT: A en estándares/calidad</a:t>
            </a:r>
            <a:endParaRPr lang="es-ES"/>
          </a:p>
          <a:p>
            <a:r>
              <a:rPr lang="es-ES">
                <a:ea typeface="+mn-lt"/>
                <a:cs typeface="+mn-lt"/>
              </a:rPr>
              <a:t>Estudiantes: R (ejecutan) </a:t>
            </a:r>
            <a:r>
              <a:rPr lang="es-ES" err="1">
                <a:ea typeface="+mn-lt"/>
                <a:cs typeface="+mn-lt"/>
              </a:rPr>
              <a:t>dev</a:t>
            </a:r>
            <a:r>
              <a:rPr lang="es-ES">
                <a:ea typeface="+mn-lt"/>
                <a:cs typeface="+mn-lt"/>
              </a:rPr>
              <a:t>/pruebas</a:t>
            </a:r>
            <a:endParaRPr lang="es-ES"/>
          </a:p>
          <a:p>
            <a:r>
              <a:rPr lang="es-ES">
                <a:ea typeface="+mn-lt"/>
                <a:cs typeface="+mn-lt"/>
              </a:rPr>
              <a:t>TI: A en producción/operación</a:t>
            </a:r>
            <a:endParaRPr lang="es-ES"/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5385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1636D7-99A6-2B71-44FB-0CACE2DD4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Modelo de Gobierno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A1577F-5C6E-B7D7-75BA-AF32399E0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25000" lnSpcReduction="20000"/>
          </a:bodyPr>
          <a:lstStyle/>
          <a:p>
            <a:r>
              <a:rPr lang="es-ES">
                <a:ea typeface="+mn-lt"/>
                <a:cs typeface="+mn-lt"/>
              </a:rPr>
              <a:t>Pensó durante 15s</a:t>
            </a:r>
            <a:endParaRPr lang="es-ES"/>
          </a:p>
          <a:p>
            <a:r>
              <a:rPr lang="es-ES">
                <a:ea typeface="+mn-lt"/>
                <a:cs typeface="+mn-lt"/>
              </a:rPr>
              <a:t>Perfecto. Entonces te propongo un </a:t>
            </a:r>
            <a:r>
              <a:rPr lang="es-ES" b="1">
                <a:ea typeface="+mn-lt"/>
                <a:cs typeface="+mn-lt"/>
              </a:rPr>
              <a:t>Modelo de Gobierno “base”</a:t>
            </a:r>
            <a:r>
              <a:rPr lang="es-ES">
                <a:ea typeface="+mn-lt"/>
                <a:cs typeface="+mn-lt"/>
              </a:rPr>
              <a:t> (asumiendo que </a:t>
            </a:r>
            <a:r>
              <a:rPr lang="es-ES" i="1">
                <a:ea typeface="+mn-lt"/>
                <a:cs typeface="+mn-lt"/>
              </a:rPr>
              <a:t>no existe CAB formal</a:t>
            </a:r>
            <a:r>
              <a:rPr lang="es-ES">
                <a:ea typeface="+mn-lt"/>
                <a:cs typeface="+mn-lt"/>
              </a:rPr>
              <a:t> ni un gobierno ya definido). Está pensado para FUTCO: </a:t>
            </a:r>
            <a:r>
              <a:rPr lang="es-ES" b="1">
                <a:ea typeface="+mn-lt"/>
                <a:cs typeface="+mn-lt"/>
              </a:rPr>
              <a:t>TI institucional + CDT con estudiantes rotando</a:t>
            </a:r>
            <a:r>
              <a:rPr lang="es-ES">
                <a:ea typeface="+mn-lt"/>
                <a:cs typeface="+mn-lt"/>
              </a:rPr>
              <a:t>, con foco en </a:t>
            </a:r>
            <a:r>
              <a:rPr lang="es-ES" b="1">
                <a:ea typeface="+mn-lt"/>
                <a:cs typeface="+mn-lt"/>
              </a:rPr>
              <a:t>priorización clara, tiempos más cortos y calidad controlada</a:t>
            </a:r>
            <a:r>
              <a:rPr lang="es-ES">
                <a:ea typeface="+mn-lt"/>
                <a:cs typeface="+mn-lt"/>
              </a:rPr>
              <a:t>.</a:t>
            </a:r>
            <a:endParaRPr lang="es-ES"/>
          </a:p>
          <a:p>
            <a:r>
              <a:rPr lang="es-ES"/>
              <a:t>Modelo de Gobierno CDT – FUTCO (Baseline)</a:t>
            </a:r>
          </a:p>
          <a:p>
            <a:r>
              <a:rPr lang="es-ES"/>
              <a:t>1) Objetivo del gobierno</a:t>
            </a:r>
          </a:p>
          <a:p>
            <a:r>
              <a:rPr lang="es-ES">
                <a:ea typeface="+mn-lt"/>
                <a:cs typeface="+mn-lt"/>
              </a:rPr>
              <a:t>Asegurar que el CDT entregue soluciones (MVP e iteraciones) con: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Prioridades claras (qué se hace primero y por qué)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Estándares mínimos (cómo se construye)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Control de calidad y seguridad (cuándo puede pasar a producción)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Continuidad operativa (quién mantiene y cómo se soporta)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/>
              <a:t>2) Estructura de gobierno (4 instancias, cero burocracia)</a:t>
            </a:r>
          </a:p>
          <a:p>
            <a:r>
              <a:rPr lang="es-ES"/>
              <a:t>A. Steering Digital (Mensual – 45 min)</a:t>
            </a:r>
          </a:p>
          <a:p>
            <a:r>
              <a:rPr lang="es-ES" b="1">
                <a:ea typeface="+mn-lt"/>
                <a:cs typeface="+mn-lt"/>
              </a:rPr>
              <a:t>Decide:</a:t>
            </a:r>
            <a:r>
              <a:rPr lang="es-ES">
                <a:ea typeface="+mn-lt"/>
                <a:cs typeface="+mn-lt"/>
              </a:rPr>
              <a:t> prioridades estratégicas, conflictos entre áreas, capacidad del CDT.</a:t>
            </a:r>
            <a:br>
              <a:rPr lang="es-ES">
                <a:ea typeface="+mn-lt"/>
                <a:cs typeface="+mn-lt"/>
              </a:rPr>
            </a:br>
            <a:r>
              <a:rPr lang="es-ES">
                <a:ea typeface="+mn-lt"/>
                <a:cs typeface="+mn-lt"/>
              </a:rPr>
              <a:t> </a:t>
            </a:r>
            <a:r>
              <a:rPr lang="es-ES" b="1">
                <a:ea typeface="+mn-lt"/>
                <a:cs typeface="+mn-lt"/>
              </a:rPr>
              <a:t>Participan:</a:t>
            </a:r>
            <a:r>
              <a:rPr lang="es-ES">
                <a:ea typeface="+mn-lt"/>
                <a:cs typeface="+mn-lt"/>
              </a:rPr>
              <a:t> Dirección/Académico (o delegado), Director TI, Coordinación CDT, 2–3 líderes de área.</a:t>
            </a:r>
            <a:br>
              <a:rPr lang="es-ES">
                <a:ea typeface="+mn-lt"/>
                <a:cs typeface="+mn-lt"/>
              </a:rPr>
            </a:br>
            <a:r>
              <a:rPr lang="es-ES">
                <a:ea typeface="+mn-lt"/>
                <a:cs typeface="+mn-lt"/>
              </a:rPr>
              <a:t> </a:t>
            </a:r>
            <a:r>
              <a:rPr lang="es-ES" b="1">
                <a:ea typeface="+mn-lt"/>
                <a:cs typeface="+mn-lt"/>
              </a:rPr>
              <a:t>Salida:</a:t>
            </a:r>
            <a:r>
              <a:rPr lang="es-ES">
                <a:ea typeface="+mn-lt"/>
                <a:cs typeface="+mn-lt"/>
              </a:rPr>
              <a:t> top prioridades del mes + decisiones de desbloqueo.</a:t>
            </a:r>
            <a:endParaRPr lang="es-ES"/>
          </a:p>
          <a:p>
            <a:r>
              <a:rPr lang="es-ES"/>
              <a:t>B. Comité de Demanda CDT (Quincenal – 30 min)</a:t>
            </a:r>
          </a:p>
          <a:p>
            <a:r>
              <a:rPr lang="es-ES" b="1">
                <a:ea typeface="+mn-lt"/>
                <a:cs typeface="+mn-lt"/>
              </a:rPr>
              <a:t>Decide:</a:t>
            </a:r>
            <a:r>
              <a:rPr lang="es-ES">
                <a:ea typeface="+mn-lt"/>
                <a:cs typeface="+mn-lt"/>
              </a:rPr>
              <a:t> qué solicitudes entran, orden del backlog, alcance de MVP (mínimo viable).</a:t>
            </a:r>
            <a:br>
              <a:rPr lang="es-ES">
                <a:ea typeface="+mn-lt"/>
                <a:cs typeface="+mn-lt"/>
              </a:rPr>
            </a:br>
            <a:r>
              <a:rPr lang="es-ES">
                <a:ea typeface="+mn-lt"/>
                <a:cs typeface="+mn-lt"/>
              </a:rPr>
              <a:t> </a:t>
            </a:r>
            <a:r>
              <a:rPr lang="es-ES" b="1">
                <a:ea typeface="+mn-lt"/>
                <a:cs typeface="+mn-lt"/>
              </a:rPr>
              <a:t>Participan:</a:t>
            </a:r>
            <a:r>
              <a:rPr lang="es-ES">
                <a:ea typeface="+mn-lt"/>
                <a:cs typeface="+mn-lt"/>
              </a:rPr>
              <a:t> Coordinador CDT, Líder Técnico CDT, POs (dueños del proceso) de áreas solicitantes, Enlace TI.</a:t>
            </a:r>
            <a:br>
              <a:rPr lang="es-ES">
                <a:ea typeface="+mn-lt"/>
                <a:cs typeface="+mn-lt"/>
              </a:rPr>
            </a:br>
            <a:r>
              <a:rPr lang="es-ES">
                <a:ea typeface="+mn-lt"/>
                <a:cs typeface="+mn-lt"/>
              </a:rPr>
              <a:t> </a:t>
            </a:r>
            <a:r>
              <a:rPr lang="es-ES" b="1">
                <a:ea typeface="+mn-lt"/>
                <a:cs typeface="+mn-lt"/>
              </a:rPr>
              <a:t>Salida:</a:t>
            </a:r>
            <a:r>
              <a:rPr lang="es-ES">
                <a:ea typeface="+mn-lt"/>
                <a:cs typeface="+mn-lt"/>
              </a:rPr>
              <a:t> backlog priorizado + fecha de demo por iniciativa.</a:t>
            </a:r>
            <a:endParaRPr lang="es-ES"/>
          </a:p>
          <a:p>
            <a:r>
              <a:rPr lang="es-ES"/>
              <a:t>C. Comité Técnico / Arquitectura (Semanal – 20 min)</a:t>
            </a:r>
          </a:p>
          <a:p>
            <a:r>
              <a:rPr lang="es-ES" b="1">
                <a:ea typeface="+mn-lt"/>
                <a:cs typeface="+mn-lt"/>
              </a:rPr>
              <a:t>Decide:</a:t>
            </a:r>
            <a:r>
              <a:rPr lang="es-ES">
                <a:ea typeface="+mn-lt"/>
                <a:cs typeface="+mn-lt"/>
              </a:rPr>
              <a:t> stack, patrones, integraciones, datos, seguridad mínima, excepciones.</a:t>
            </a:r>
            <a:br>
              <a:rPr lang="es-ES">
                <a:ea typeface="+mn-lt"/>
                <a:cs typeface="+mn-lt"/>
              </a:rPr>
            </a:br>
            <a:r>
              <a:rPr lang="es-ES">
                <a:ea typeface="+mn-lt"/>
                <a:cs typeface="+mn-lt"/>
              </a:rPr>
              <a:t> </a:t>
            </a:r>
            <a:r>
              <a:rPr lang="es-ES" b="1">
                <a:ea typeface="+mn-lt"/>
                <a:cs typeface="+mn-lt"/>
              </a:rPr>
              <a:t>Participan:</a:t>
            </a:r>
            <a:r>
              <a:rPr lang="es-ES">
                <a:ea typeface="+mn-lt"/>
                <a:cs typeface="+mn-lt"/>
              </a:rPr>
              <a:t> Líder Técnico CDT + referente TI (y seguridad/datos si existe).</a:t>
            </a:r>
            <a:br>
              <a:rPr lang="es-ES">
                <a:ea typeface="+mn-lt"/>
                <a:cs typeface="+mn-lt"/>
              </a:rPr>
            </a:br>
            <a:r>
              <a:rPr lang="es-ES">
                <a:ea typeface="+mn-lt"/>
                <a:cs typeface="+mn-lt"/>
              </a:rPr>
              <a:t> </a:t>
            </a:r>
            <a:r>
              <a:rPr lang="es-ES" b="1">
                <a:ea typeface="+mn-lt"/>
                <a:cs typeface="+mn-lt"/>
              </a:rPr>
              <a:t>Salida:</a:t>
            </a:r>
            <a:r>
              <a:rPr lang="es-ES">
                <a:ea typeface="+mn-lt"/>
                <a:cs typeface="+mn-lt"/>
              </a:rPr>
              <a:t> “OK técnico” para iniciar + registro de excepciones (si aplica).</a:t>
            </a:r>
            <a:endParaRPr lang="es-ES"/>
          </a:p>
          <a:p>
            <a:r>
              <a:rPr lang="es-ES"/>
              <a:t>D. Gate de Release a Producción (Por entrega – checklist)</a:t>
            </a:r>
          </a:p>
          <a:p>
            <a:r>
              <a:rPr lang="es-ES" b="1">
                <a:ea typeface="+mn-lt"/>
                <a:cs typeface="+mn-lt"/>
              </a:rPr>
              <a:t>Decide:</a:t>
            </a:r>
            <a:r>
              <a:rPr lang="es-ES">
                <a:ea typeface="+mn-lt"/>
                <a:cs typeface="+mn-lt"/>
              </a:rPr>
              <a:t> listo / no listo para producción.</a:t>
            </a:r>
            <a:br>
              <a:rPr lang="es-ES">
                <a:ea typeface="+mn-lt"/>
                <a:cs typeface="+mn-lt"/>
              </a:rPr>
            </a:br>
            <a:r>
              <a:rPr lang="es-ES">
                <a:ea typeface="+mn-lt"/>
                <a:cs typeface="+mn-lt"/>
              </a:rPr>
              <a:t> </a:t>
            </a:r>
            <a:r>
              <a:rPr lang="es-ES" b="1">
                <a:ea typeface="+mn-lt"/>
                <a:cs typeface="+mn-lt"/>
              </a:rPr>
              <a:t>Participan:</a:t>
            </a:r>
            <a:r>
              <a:rPr lang="es-ES">
                <a:ea typeface="+mn-lt"/>
                <a:cs typeface="+mn-lt"/>
              </a:rPr>
              <a:t> TI (dueño de prod), Líder Técnico CDT, PO del área (UAT).</a:t>
            </a:r>
            <a:br>
              <a:rPr lang="es-ES">
                <a:ea typeface="+mn-lt"/>
                <a:cs typeface="+mn-lt"/>
              </a:rPr>
            </a:br>
            <a:r>
              <a:rPr lang="es-ES">
                <a:ea typeface="+mn-lt"/>
                <a:cs typeface="+mn-lt"/>
              </a:rPr>
              <a:t> </a:t>
            </a:r>
            <a:r>
              <a:rPr lang="es-ES" b="1">
                <a:ea typeface="+mn-lt"/>
                <a:cs typeface="+mn-lt"/>
              </a:rPr>
              <a:t>Salida:</a:t>
            </a:r>
            <a:r>
              <a:rPr lang="es-ES">
                <a:ea typeface="+mn-lt"/>
                <a:cs typeface="+mn-lt"/>
              </a:rPr>
              <a:t> acta corta de aprobación + plan de despliegue + rollback + hypercare.</a:t>
            </a:r>
            <a:endParaRPr lang="es-ES"/>
          </a:p>
          <a:p>
            <a:r>
              <a:rPr lang="es-ES">
                <a:ea typeface="+mn-lt"/>
                <a:cs typeface="+mn-lt"/>
              </a:rPr>
              <a:t>Si no existe CAB: </a:t>
            </a:r>
            <a:r>
              <a:rPr lang="es-ES" b="1">
                <a:ea typeface="+mn-lt"/>
                <a:cs typeface="+mn-lt"/>
              </a:rPr>
              <a:t>este Gate cumple el rol de “mini CAB”</a:t>
            </a:r>
            <a:r>
              <a:rPr lang="es-ES">
                <a:ea typeface="+mn-lt"/>
                <a:cs typeface="+mn-lt"/>
              </a:rPr>
              <a:t> solo para lo que va a producción.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/>
              <a:t>3) Roles y responsabilidades (mínimos y claros)</a:t>
            </a:r>
          </a:p>
          <a:p>
            <a:r>
              <a:rPr lang="es-ES" b="1">
                <a:ea typeface="+mn-lt"/>
                <a:cs typeface="+mn-lt"/>
              </a:rPr>
              <a:t>Director TI (A en Producción):</a:t>
            </a:r>
            <a:r>
              <a:rPr lang="es-ES">
                <a:ea typeface="+mn-lt"/>
                <a:cs typeface="+mn-lt"/>
              </a:rPr>
              <a:t> seguridad, operación, despliegues, continuidad.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Coordinador CDT (A en Portafolio):</a:t>
            </a:r>
            <a:r>
              <a:rPr lang="es-ES">
                <a:ea typeface="+mn-lt"/>
                <a:cs typeface="+mn-lt"/>
              </a:rPr>
              <a:t> intake, priorización, relación con áreas, reportes.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Líder Técnico CDT (A en Estándares):</a:t>
            </a:r>
            <a:r>
              <a:rPr lang="es-ES">
                <a:ea typeface="+mn-lt"/>
                <a:cs typeface="+mn-lt"/>
              </a:rPr>
              <a:t> arquitectura, calidad, mentoría, revisión PR.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PO del área (A en UAT):</a:t>
            </a:r>
            <a:r>
              <a:rPr lang="es-ES">
                <a:ea typeface="+mn-lt"/>
                <a:cs typeface="+mn-lt"/>
              </a:rPr>
              <a:t> define necesidad, valida criterios, acepta entrega.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Equipo CDT (R):</a:t>
            </a:r>
            <a:r>
              <a:rPr lang="es-ES">
                <a:ea typeface="+mn-lt"/>
                <a:cs typeface="+mn-lt"/>
              </a:rPr>
              <a:t> estudiantes (dev/qa/ux) ejecutan bajo estándar.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Enlace TI (R/C):</a:t>
            </a:r>
            <a:r>
              <a:rPr lang="es-ES">
                <a:ea typeface="+mn-lt"/>
                <a:cs typeface="+mn-lt"/>
              </a:rPr>
              <a:t> accesos, ambientes, integración, observabilidad básica.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Regla de oro:</a:t>
            </a:r>
            <a:r>
              <a:rPr lang="es-ES">
                <a:ea typeface="+mn-lt"/>
                <a:cs typeface="+mn-lt"/>
              </a:rPr>
              <a:t> </a:t>
            </a:r>
            <a:r>
              <a:rPr lang="es-ES" i="1">
                <a:ea typeface="+mn-lt"/>
                <a:cs typeface="+mn-lt"/>
              </a:rPr>
              <a:t>TI es dueño de “Run/Prod”, CDT dueño de “Build/Dev”.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/>
              <a:t>4) Matriz de decisiones (quién decide qué)</a:t>
            </a:r>
          </a:p>
          <a:p>
            <a:r>
              <a:rPr lang="es-ES" b="1">
                <a:ea typeface="+mn-lt"/>
                <a:cs typeface="+mn-lt"/>
              </a:rPr>
              <a:t>Qué se hace / prioridad</a:t>
            </a:r>
            <a:r>
              <a:rPr lang="es-ES">
                <a:ea typeface="+mn-lt"/>
                <a:cs typeface="+mn-lt"/>
              </a:rPr>
              <a:t> → Comité Demanda (y Steering si hay conflicto)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Alcance del MVP</a:t>
            </a:r>
            <a:r>
              <a:rPr lang="es-ES">
                <a:ea typeface="+mn-lt"/>
                <a:cs typeface="+mn-lt"/>
              </a:rPr>
              <a:t> → PO del área + Coordinación CDT (con límite de capacidad)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Cómo se construye (arquitectura/stack)</a:t>
            </a:r>
            <a:r>
              <a:rPr lang="es-ES">
                <a:ea typeface="+mn-lt"/>
                <a:cs typeface="+mn-lt"/>
              </a:rPr>
              <a:t> → Comité Técnico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Paso a producción</a:t>
            </a:r>
            <a:r>
              <a:rPr lang="es-ES">
                <a:ea typeface="+mn-lt"/>
                <a:cs typeface="+mn-lt"/>
              </a:rPr>
              <a:t> → TI + Gate Release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Excepciones a estándares</a:t>
            </a:r>
            <a:r>
              <a:rPr lang="es-ES">
                <a:ea typeface="+mn-lt"/>
                <a:cs typeface="+mn-lt"/>
              </a:rPr>
              <a:t> → Comité Técnico (con fecha de caducidad)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/>
              <a:t>5) Procesos de gobierno (pipeline operativo)</a:t>
            </a:r>
          </a:p>
          <a:p>
            <a:r>
              <a:rPr lang="es-ES"/>
              <a:t>5.1 Intake (entrada de solicitudes)</a:t>
            </a:r>
          </a:p>
          <a:p>
            <a:r>
              <a:rPr lang="es-ES">
                <a:ea typeface="+mn-lt"/>
                <a:cs typeface="+mn-lt"/>
              </a:rPr>
              <a:t>Formato </a:t>
            </a:r>
            <a:r>
              <a:rPr lang="es-ES" b="1">
                <a:ea typeface="+mn-lt"/>
                <a:cs typeface="+mn-lt"/>
              </a:rPr>
              <a:t>1 página</a:t>
            </a:r>
            <a:r>
              <a:rPr lang="es-ES">
                <a:ea typeface="+mn-lt"/>
                <a:cs typeface="+mn-lt"/>
              </a:rPr>
              <a:t> obligatorio:</a:t>
            </a:r>
            <a:endParaRPr lang="es-ES"/>
          </a:p>
          <a:p>
            <a:r>
              <a:rPr lang="es-ES">
                <a:ea typeface="+mn-lt"/>
                <a:cs typeface="+mn-lt"/>
              </a:rPr>
              <a:t>Problema, objetivo, usuarios</a:t>
            </a:r>
            <a:endParaRPr lang="es-ES"/>
          </a:p>
          <a:p>
            <a:r>
              <a:rPr lang="es-ES">
                <a:ea typeface="+mn-lt"/>
                <a:cs typeface="+mn-lt"/>
              </a:rPr>
              <a:t>Alcance MVP y “no alcance”</a:t>
            </a:r>
            <a:endParaRPr lang="es-ES"/>
          </a:p>
          <a:p>
            <a:r>
              <a:rPr lang="es-ES">
                <a:ea typeface="+mn-lt"/>
                <a:cs typeface="+mn-lt"/>
              </a:rPr>
              <a:t>Datos requeridos / dependencias</a:t>
            </a:r>
            <a:endParaRPr lang="es-ES"/>
          </a:p>
          <a:p>
            <a:r>
              <a:rPr lang="es-ES">
                <a:ea typeface="+mn-lt"/>
                <a:cs typeface="+mn-lt"/>
              </a:rPr>
              <a:t>PO responsable</a:t>
            </a:r>
            <a:endParaRPr lang="es-ES"/>
          </a:p>
          <a:p>
            <a:r>
              <a:rPr lang="es-ES">
                <a:ea typeface="+mn-lt"/>
                <a:cs typeface="+mn-lt"/>
              </a:rPr>
              <a:t>Urgencia y valor esperado</a:t>
            </a:r>
            <a:endParaRPr lang="es-ES"/>
          </a:p>
          <a:p>
            <a:r>
              <a:rPr lang="es-ES"/>
              <a:t>5.2 Priorización (cada 2 semanas)</a:t>
            </a:r>
          </a:p>
          <a:p>
            <a:r>
              <a:rPr lang="es-ES">
                <a:ea typeface="+mn-lt"/>
                <a:cs typeface="+mn-lt"/>
              </a:rPr>
              <a:t>Criterio simple:</a:t>
            </a:r>
            <a:endParaRPr lang="es-ES"/>
          </a:p>
          <a:p>
            <a:r>
              <a:rPr lang="es-ES">
                <a:ea typeface="+mn-lt"/>
                <a:cs typeface="+mn-lt"/>
              </a:rPr>
              <a:t>Valor (1–5) + Urgencia (1–5) – Esfuerzo (1–5) – Riesgo (1–5)</a:t>
            </a:r>
            <a:br>
              <a:rPr lang="es-ES">
                <a:ea typeface="+mn-lt"/>
                <a:cs typeface="+mn-lt"/>
              </a:rPr>
            </a:br>
            <a:r>
              <a:rPr lang="es-ES">
                <a:ea typeface="+mn-lt"/>
                <a:cs typeface="+mn-lt"/>
              </a:rPr>
              <a:t> Salida: backlog priorizado + compromiso de demo.</a:t>
            </a:r>
            <a:endParaRPr lang="es-ES"/>
          </a:p>
          <a:p>
            <a:r>
              <a:rPr lang="es-ES"/>
              <a:t>5.3 Delivery (sprints 1–2 semanas)</a:t>
            </a:r>
          </a:p>
          <a:p>
            <a:r>
              <a:rPr lang="es-ES">
                <a:ea typeface="+mn-lt"/>
                <a:cs typeface="+mn-lt"/>
              </a:rPr>
              <a:t>Tablero visible (Trello/Jira/Sheets)</a:t>
            </a:r>
            <a:endParaRPr lang="es-ES"/>
          </a:p>
          <a:p>
            <a:r>
              <a:rPr lang="es-ES">
                <a:ea typeface="+mn-lt"/>
                <a:cs typeface="+mn-lt"/>
              </a:rPr>
              <a:t>Demo semanal o quincenal</a:t>
            </a:r>
            <a:endParaRPr lang="es-ES"/>
          </a:p>
          <a:p>
            <a:r>
              <a:rPr lang="es-ES">
                <a:ea typeface="+mn-lt"/>
                <a:cs typeface="+mn-lt"/>
              </a:rPr>
              <a:t>PR obligatorio + revisión</a:t>
            </a:r>
            <a:endParaRPr lang="es-ES"/>
          </a:p>
          <a:p>
            <a:r>
              <a:rPr lang="es-ES"/>
              <a:t>5.4 UAT (validación del área)</a:t>
            </a:r>
          </a:p>
          <a:p>
            <a:r>
              <a:rPr lang="es-ES">
                <a:ea typeface="+mn-lt"/>
                <a:cs typeface="+mn-lt"/>
              </a:rPr>
              <a:t>Checklist de aceptación + evidencias (capturas / acta breve).</a:t>
            </a:r>
            <a:endParaRPr lang="es-ES"/>
          </a:p>
          <a:p>
            <a:r>
              <a:rPr lang="es-ES"/>
              <a:t>5.5 Release (paso a producción)</a:t>
            </a:r>
          </a:p>
          <a:p>
            <a:r>
              <a:rPr lang="es-ES">
                <a:ea typeface="+mn-lt"/>
                <a:cs typeface="+mn-lt"/>
              </a:rPr>
              <a:t>Gate con checklist mínimo:</a:t>
            </a:r>
            <a:endParaRPr lang="es-ES"/>
          </a:p>
          <a:p>
            <a:r>
              <a:rPr lang="es-ES">
                <a:ea typeface="+mn-lt"/>
                <a:cs typeface="+mn-lt"/>
              </a:rPr>
              <a:t>UAT aprobado</a:t>
            </a:r>
            <a:endParaRPr lang="es-ES"/>
          </a:p>
          <a:p>
            <a:r>
              <a:rPr lang="es-ES">
                <a:ea typeface="+mn-lt"/>
                <a:cs typeface="+mn-lt"/>
              </a:rPr>
              <a:t>Seguridad básica (roles/permisos, secretos fuera del código)</a:t>
            </a:r>
            <a:endParaRPr lang="es-ES"/>
          </a:p>
          <a:p>
            <a:r>
              <a:rPr lang="es-ES">
                <a:ea typeface="+mn-lt"/>
                <a:cs typeface="+mn-lt"/>
              </a:rPr>
              <a:t>Logs y manejo de errores</a:t>
            </a:r>
            <a:endParaRPr lang="es-ES"/>
          </a:p>
          <a:p>
            <a:r>
              <a:rPr lang="es-ES">
                <a:ea typeface="+mn-lt"/>
                <a:cs typeface="+mn-lt"/>
              </a:rPr>
              <a:t>Plan rollback</a:t>
            </a:r>
            <a:endParaRPr lang="es-ES"/>
          </a:p>
          <a:p>
            <a:r>
              <a:rPr lang="es-ES">
                <a:ea typeface="+mn-lt"/>
                <a:cs typeface="+mn-lt"/>
              </a:rPr>
              <a:t>Runbook L1</a:t>
            </a:r>
            <a:endParaRPr lang="es-ES"/>
          </a:p>
          <a:p>
            <a:r>
              <a:rPr lang="es-ES">
                <a:ea typeface="+mn-lt"/>
                <a:cs typeface="+mn-lt"/>
              </a:rPr>
              <a:t>Ventana de despliegue definida</a:t>
            </a:r>
            <a:endParaRPr lang="es-ES"/>
          </a:p>
          <a:p>
            <a:r>
              <a:rPr lang="es-ES"/>
              <a:t>5.6 Hypercare (1–2 semanas)</a:t>
            </a:r>
          </a:p>
          <a:p>
            <a:r>
              <a:rPr lang="es-ES">
                <a:ea typeface="+mn-lt"/>
                <a:cs typeface="+mn-lt"/>
              </a:rPr>
              <a:t>Seguimiento corto (diario 10 min o 2–3 veces por semana).</a:t>
            </a:r>
            <a:br>
              <a:rPr lang="es-ES">
                <a:ea typeface="+mn-lt"/>
                <a:cs typeface="+mn-lt"/>
              </a:rPr>
            </a:br>
            <a:r>
              <a:rPr lang="es-ES">
                <a:ea typeface="+mn-lt"/>
                <a:cs typeface="+mn-lt"/>
              </a:rPr>
              <a:t> Cierre con traspaso a TI.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/>
              <a:t>6) Estándares mínimos (lo que baja la curva de aprendizaje)</a:t>
            </a:r>
          </a:p>
          <a:p>
            <a:r>
              <a:rPr lang="es-ES"/>
              <a:t>Definition of Done (DoD) CDT</a:t>
            </a:r>
          </a:p>
          <a:p>
            <a:r>
              <a:rPr lang="es-ES">
                <a:ea typeface="+mn-lt"/>
                <a:cs typeface="+mn-lt"/>
              </a:rPr>
              <a:t>Para decir “terminado”:</a:t>
            </a:r>
            <a:endParaRPr lang="es-ES"/>
          </a:p>
          <a:p>
            <a:r>
              <a:rPr lang="es-ES">
                <a:ea typeface="+mn-lt"/>
                <a:cs typeface="+mn-lt"/>
              </a:rPr>
              <a:t>PR revisado</a:t>
            </a:r>
            <a:endParaRPr lang="es-ES"/>
          </a:p>
          <a:p>
            <a:r>
              <a:rPr lang="es-ES">
                <a:ea typeface="+mn-lt"/>
                <a:cs typeface="+mn-lt"/>
              </a:rPr>
              <a:t>Pruebas mínimas (unitarias o API) + casos borde</a:t>
            </a:r>
            <a:endParaRPr lang="es-ES"/>
          </a:p>
          <a:p>
            <a:r>
              <a:rPr lang="es-ES">
                <a:ea typeface="+mn-lt"/>
                <a:cs typeface="+mn-lt"/>
              </a:rPr>
              <a:t>Manejo de errores + logging</a:t>
            </a:r>
            <a:endParaRPr lang="es-ES"/>
          </a:p>
          <a:p>
            <a:r>
              <a:rPr lang="es-ES">
                <a:ea typeface="+mn-lt"/>
                <a:cs typeface="+mn-lt"/>
              </a:rPr>
              <a:t>README (cómo correr y desplegar)</a:t>
            </a:r>
            <a:endParaRPr lang="es-ES"/>
          </a:p>
          <a:p>
            <a:r>
              <a:rPr lang="es-ES">
                <a:ea typeface="+mn-lt"/>
                <a:cs typeface="+mn-lt"/>
              </a:rPr>
              <a:t>Evidencia UAT</a:t>
            </a:r>
            <a:endParaRPr lang="es-ES"/>
          </a:p>
          <a:p>
            <a:r>
              <a:rPr lang="es-ES">
                <a:ea typeface="+mn-lt"/>
                <a:cs typeface="+mn-lt"/>
              </a:rPr>
              <a:t>Sin credenciales en repositorio</a:t>
            </a:r>
            <a:endParaRPr lang="es-ES"/>
          </a:p>
          <a:p>
            <a:r>
              <a:rPr lang="es-ES"/>
              <a:t>Plantilla técnica (“FUTCO-way”)</a:t>
            </a:r>
          </a:p>
          <a:p>
            <a:r>
              <a:rPr lang="es-ES">
                <a:ea typeface="+mn-lt"/>
                <a:cs typeface="+mn-lt"/>
              </a:rPr>
              <a:t>Template de repositorio + estructura estándar</a:t>
            </a:r>
            <a:endParaRPr lang="es-ES"/>
          </a:p>
          <a:p>
            <a:r>
              <a:rPr lang="es-ES">
                <a:ea typeface="+mn-lt"/>
                <a:cs typeface="+mn-lt"/>
              </a:rPr>
              <a:t>Convenciones de nombres, capas, validaciones</a:t>
            </a:r>
            <a:endParaRPr lang="es-ES"/>
          </a:p>
          <a:p>
            <a:r>
              <a:rPr lang="es-ES">
                <a:ea typeface="+mn-lt"/>
                <a:cs typeface="+mn-lt"/>
              </a:rPr>
              <a:t>Guía rápida de onboarding (1–2 semanas)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/>
              <a:t>7) Artefactos obligatorios (ligeros)</a:t>
            </a:r>
          </a:p>
          <a:p>
            <a:r>
              <a:rPr lang="es-ES" b="1">
                <a:ea typeface="+mn-lt"/>
                <a:cs typeface="+mn-lt"/>
              </a:rPr>
              <a:t>Catálogo de servicios del CDT</a:t>
            </a:r>
            <a:r>
              <a:rPr lang="es-ES">
                <a:ea typeface="+mn-lt"/>
                <a:cs typeface="+mn-lt"/>
              </a:rPr>
              <a:t> (qué hace y qué no hace)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Backlog único</a:t>
            </a:r>
            <a:r>
              <a:rPr lang="es-ES">
                <a:ea typeface="+mn-lt"/>
                <a:cs typeface="+mn-lt"/>
              </a:rPr>
              <a:t> (con estado y prioridades)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Estándares/guías</a:t>
            </a:r>
            <a:r>
              <a:rPr lang="es-ES">
                <a:ea typeface="+mn-lt"/>
                <a:cs typeface="+mn-lt"/>
              </a:rPr>
              <a:t> (stack, patrones, seguridad básica)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Registro de excepciones</a:t>
            </a:r>
            <a:r>
              <a:rPr lang="es-ES">
                <a:ea typeface="+mn-lt"/>
                <a:cs typeface="+mn-lt"/>
              </a:rPr>
              <a:t> (motivo + dueño + fecha de expiración)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Checklists</a:t>
            </a:r>
            <a:r>
              <a:rPr lang="es-ES">
                <a:ea typeface="+mn-lt"/>
                <a:cs typeface="+mn-lt"/>
              </a:rPr>
              <a:t>: UAT + Release + Runbook L1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/>
              <a:t>8) KPIs de gobierno (los 5 que realmente sirven)</a:t>
            </a:r>
          </a:p>
          <a:p>
            <a:r>
              <a:rPr lang="es-ES" b="1">
                <a:ea typeface="+mn-lt"/>
                <a:cs typeface="+mn-lt"/>
              </a:rPr>
              <a:t>Lead time:</a:t>
            </a:r>
            <a:r>
              <a:rPr lang="es-ES">
                <a:ea typeface="+mn-lt"/>
                <a:cs typeface="+mn-lt"/>
              </a:rPr>
              <a:t> solicitud → primera entrega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Cycle time:</a:t>
            </a:r>
            <a:r>
              <a:rPr lang="es-ES">
                <a:ea typeface="+mn-lt"/>
                <a:cs typeface="+mn-lt"/>
              </a:rPr>
              <a:t> inicio dev → listo para UAT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% releases que pasan Gate a la primera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Defectos en producción por release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Tiempo de onboarding:</a:t>
            </a:r>
            <a:r>
              <a:rPr lang="es-ES">
                <a:ea typeface="+mn-lt"/>
                <a:cs typeface="+mn-lt"/>
              </a:rPr>
              <a:t> hasta primer PR aceptado</a:t>
            </a:r>
            <a:endParaRPr lang="es-ES"/>
          </a:p>
          <a:p>
            <a:r>
              <a:rPr lang="es-ES">
                <a:ea typeface="+mn-lt"/>
                <a:cs typeface="+mn-lt"/>
              </a:rPr>
              <a:t>Reporte: 1 slide quincenal del CDT para Dirección/TI.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/>
              <a:t>9) Implementación rápida (4 semanas)</a:t>
            </a:r>
          </a:p>
          <a:p>
            <a:r>
              <a:rPr lang="es-ES" b="1">
                <a:ea typeface="+mn-lt"/>
                <a:cs typeface="+mn-lt"/>
              </a:rPr>
              <a:t>Semana 1:</a:t>
            </a:r>
            <a:r>
              <a:rPr lang="es-ES">
                <a:ea typeface="+mn-lt"/>
                <a:cs typeface="+mn-lt"/>
              </a:rPr>
              <a:t> roles + instancias + formatos (Ficha MVP, DoD, Gate)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Semana 2:</a:t>
            </a:r>
            <a:r>
              <a:rPr lang="es-ES">
                <a:ea typeface="+mn-lt"/>
                <a:cs typeface="+mn-lt"/>
              </a:rPr>
              <a:t> tablero único + template repos + política PR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Semana 3:</a:t>
            </a:r>
            <a:r>
              <a:rPr lang="es-ES">
                <a:ea typeface="+mn-lt"/>
                <a:cs typeface="+mn-lt"/>
              </a:rPr>
              <a:t> primer proyecto ya bajo estándar + comité técnico semanal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Semana 4:</a:t>
            </a:r>
            <a:r>
              <a:rPr lang="es-ES">
                <a:ea typeface="+mn-lt"/>
                <a:cs typeface="+mn-lt"/>
              </a:rPr>
              <a:t> primer release con Gate + hypercare + medición KPIs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>
                <a:ea typeface="+mn-lt"/>
                <a:cs typeface="+mn-lt"/>
              </a:rPr>
              <a:t>Si quieres, te dejo listo el paquete “presentable” en formato documento: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Carta de Gobierno CDT (2–3 páginas)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RACI completo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Plantillas</a:t>
            </a:r>
            <a:r>
              <a:rPr lang="es-ES">
                <a:ea typeface="+mn-lt"/>
                <a:cs typeface="+mn-lt"/>
              </a:rPr>
              <a:t>: Ficha MVP, Acta UAT, Checklist Release, Runbook L1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Agenda tipo</a:t>
            </a:r>
            <a:r>
              <a:rPr lang="es-ES">
                <a:ea typeface="+mn-lt"/>
                <a:cs typeface="+mn-lt"/>
              </a:rPr>
              <a:t> para cada comité</a:t>
            </a:r>
            <a:endParaRPr lang="es-ES"/>
          </a:p>
          <a:p>
            <a:r>
              <a:rPr lang="es-ES">
                <a:ea typeface="+mn-lt"/>
                <a:cs typeface="+mn-lt"/>
              </a:rPr>
              <a:t>Y lo hago con nombres y cargos genéricos (sin depender de que exista CAB).</a:t>
            </a:r>
            <a:endParaRPr lang="es-ES"/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9899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23D20-B5A3-5A95-F452-79ED18561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D5DEAD-4A02-4888-5507-A50D50D88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Arquitectura </a:t>
            </a:r>
            <a:r>
              <a:rPr lang="es-ES" err="1"/>
              <a:t>EMpresarial</a:t>
            </a:r>
            <a:r>
              <a:rPr lang="es-ES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0EAE76-B714-9254-E182-CAA4ED04A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25000" lnSpcReduction="20000"/>
          </a:bodyPr>
          <a:lstStyle/>
          <a:p>
            <a:r>
              <a:rPr lang="es-ES">
                <a:ea typeface="+mn-lt"/>
                <a:cs typeface="+mn-lt"/>
              </a:rPr>
              <a:t>Listo. Te propongo una </a:t>
            </a:r>
            <a:r>
              <a:rPr lang="es-ES" b="1">
                <a:ea typeface="+mn-lt"/>
                <a:cs typeface="+mn-lt"/>
              </a:rPr>
              <a:t>Arquitectura Empresarial (EA) del Centro de Desarrollo Tecnológico (CDT) – FUTCO</a:t>
            </a:r>
            <a:r>
              <a:rPr lang="es-ES">
                <a:ea typeface="+mn-lt"/>
                <a:cs typeface="+mn-lt"/>
              </a:rPr>
              <a:t> en versión </a:t>
            </a:r>
            <a:r>
              <a:rPr lang="es-ES" b="1">
                <a:ea typeface="+mn-lt"/>
                <a:cs typeface="+mn-lt"/>
              </a:rPr>
              <a:t>“usable”</a:t>
            </a:r>
            <a:r>
              <a:rPr lang="es-ES">
                <a:ea typeface="+mn-lt"/>
                <a:cs typeface="+mn-lt"/>
              </a:rPr>
              <a:t>: capas, componentes, integraciones con TI institucional y estándares para bajar curva de aprendizaje y subir calidad.</a:t>
            </a:r>
            <a:endParaRPr lang="es-ES"/>
          </a:p>
          <a:p>
            <a:r>
              <a:rPr lang="es-ES"/>
              <a:t>Arquitectura Empresarial del CDT – FUTCO (v1.0)</a:t>
            </a:r>
          </a:p>
          <a:p>
            <a:r>
              <a:rPr lang="es-ES"/>
              <a:t>0) Propósito de la EA del CDT</a:t>
            </a:r>
          </a:p>
          <a:p>
            <a:r>
              <a:rPr lang="es-ES">
                <a:ea typeface="+mn-lt"/>
                <a:cs typeface="+mn-lt"/>
              </a:rPr>
              <a:t>Asegurar que el CDT funcione como una </a:t>
            </a:r>
            <a:r>
              <a:rPr lang="es-ES" b="1">
                <a:ea typeface="+mn-lt"/>
                <a:cs typeface="+mn-lt"/>
              </a:rPr>
              <a:t>fábrica de producto</a:t>
            </a:r>
            <a:r>
              <a:rPr lang="es-ES">
                <a:ea typeface="+mn-lt"/>
                <a:cs typeface="+mn-lt"/>
              </a:rPr>
              <a:t> (MVP → iteraciones) con:</a:t>
            </a:r>
            <a:endParaRPr lang="es-ES"/>
          </a:p>
          <a:p>
            <a:r>
              <a:rPr lang="es-ES" b="1" err="1">
                <a:ea typeface="+mn-lt"/>
                <a:cs typeface="+mn-lt"/>
              </a:rPr>
              <a:t>Onboarding</a:t>
            </a:r>
            <a:r>
              <a:rPr lang="es-ES" b="1">
                <a:ea typeface="+mn-lt"/>
                <a:cs typeface="+mn-lt"/>
              </a:rPr>
              <a:t> rápido</a:t>
            </a:r>
            <a:r>
              <a:rPr lang="es-ES">
                <a:ea typeface="+mn-lt"/>
                <a:cs typeface="+mn-lt"/>
              </a:rPr>
              <a:t> de estudiantes (rotación)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Entrega predecible</a:t>
            </a:r>
            <a:r>
              <a:rPr lang="es-ES">
                <a:ea typeface="+mn-lt"/>
                <a:cs typeface="+mn-lt"/>
              </a:rPr>
              <a:t> (tiempos)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Calidad y seguridad mínimas</a:t>
            </a:r>
            <a:r>
              <a:rPr lang="es-ES">
                <a:ea typeface="+mn-lt"/>
                <a:cs typeface="+mn-lt"/>
              </a:rPr>
              <a:t> consistentes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Transición limpia a operación TI</a:t>
            </a:r>
            <a:r>
              <a:rPr lang="es-ES">
                <a:ea typeface="+mn-lt"/>
                <a:cs typeface="+mn-lt"/>
              </a:rPr>
              <a:t> (cuando pase a producción)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/>
              <a:t>1) Principios de arquitectura (reglas no negociables)</a:t>
            </a:r>
          </a:p>
          <a:p>
            <a:r>
              <a:rPr lang="es-ES" b="1">
                <a:ea typeface="+mn-lt"/>
                <a:cs typeface="+mn-lt"/>
              </a:rPr>
              <a:t>TI opera / CDT construye</a:t>
            </a:r>
            <a:r>
              <a:rPr lang="es-ES">
                <a:ea typeface="+mn-lt"/>
                <a:cs typeface="+mn-lt"/>
              </a:rPr>
              <a:t> (producción es de TI).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Estándares por defecto</a:t>
            </a:r>
            <a:r>
              <a:rPr lang="es-ES">
                <a:ea typeface="+mn-lt"/>
                <a:cs typeface="+mn-lt"/>
              </a:rPr>
              <a:t> (</a:t>
            </a:r>
            <a:r>
              <a:rPr lang="es-ES" err="1">
                <a:ea typeface="+mn-lt"/>
                <a:cs typeface="+mn-lt"/>
              </a:rPr>
              <a:t>templates</a:t>
            </a:r>
            <a:r>
              <a:rPr lang="es-ES">
                <a:ea typeface="+mn-lt"/>
                <a:cs typeface="+mn-lt"/>
              </a:rPr>
              <a:t> + “FUTCO-</a:t>
            </a:r>
            <a:r>
              <a:rPr lang="es-ES" err="1">
                <a:ea typeface="+mn-lt"/>
                <a:cs typeface="+mn-lt"/>
              </a:rPr>
              <a:t>way</a:t>
            </a:r>
            <a:r>
              <a:rPr lang="es-ES">
                <a:ea typeface="+mn-lt"/>
                <a:cs typeface="+mn-lt"/>
              </a:rPr>
              <a:t>”).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Automatización primero</a:t>
            </a:r>
            <a:r>
              <a:rPr lang="es-ES">
                <a:ea typeface="+mn-lt"/>
                <a:cs typeface="+mn-lt"/>
              </a:rPr>
              <a:t> (CI/CD, pruebas, </a:t>
            </a:r>
            <a:r>
              <a:rPr lang="es-ES" err="1">
                <a:ea typeface="+mn-lt"/>
                <a:cs typeface="+mn-lt"/>
              </a:rPr>
              <a:t>lint</a:t>
            </a:r>
            <a:r>
              <a:rPr lang="es-ES">
                <a:ea typeface="+mn-lt"/>
                <a:cs typeface="+mn-lt"/>
              </a:rPr>
              <a:t>, despliegues no-</a:t>
            </a:r>
            <a:r>
              <a:rPr lang="es-ES" err="1">
                <a:ea typeface="+mn-lt"/>
                <a:cs typeface="+mn-lt"/>
              </a:rPr>
              <a:t>prod</a:t>
            </a:r>
            <a:r>
              <a:rPr lang="es-ES">
                <a:ea typeface="+mn-lt"/>
                <a:cs typeface="+mn-lt"/>
              </a:rPr>
              <a:t>).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Seguridad integrada</a:t>
            </a:r>
            <a:r>
              <a:rPr lang="es-ES">
                <a:ea typeface="+mn-lt"/>
                <a:cs typeface="+mn-lt"/>
              </a:rPr>
              <a:t> (SSO/IAM, secretos fuera del código, mínimos controles).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Documentar lo esencial</a:t>
            </a:r>
            <a:r>
              <a:rPr lang="es-ES">
                <a:ea typeface="+mn-lt"/>
                <a:cs typeface="+mn-lt"/>
              </a:rPr>
              <a:t> (</a:t>
            </a:r>
            <a:r>
              <a:rPr lang="es-ES" err="1">
                <a:ea typeface="+mn-lt"/>
                <a:cs typeface="+mn-lt"/>
              </a:rPr>
              <a:t>runbook</a:t>
            </a:r>
            <a:r>
              <a:rPr lang="es-ES">
                <a:ea typeface="+mn-lt"/>
                <a:cs typeface="+mn-lt"/>
              </a:rPr>
              <a:t> L1 + README + decisiones técnicas).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Reutilización</a:t>
            </a:r>
            <a:r>
              <a:rPr lang="es-ES">
                <a:ea typeface="+mn-lt"/>
                <a:cs typeface="+mn-lt"/>
              </a:rPr>
              <a:t> (componentes y patrones compartidos).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/>
              <a:t>2) Arquitectura de Negocio del CDT</a:t>
            </a:r>
          </a:p>
          <a:p>
            <a:r>
              <a:rPr lang="es-ES"/>
              <a:t>2.1 Capacidades (</a:t>
            </a:r>
            <a:r>
              <a:rPr lang="es-ES" err="1"/>
              <a:t>capability</a:t>
            </a:r>
            <a:r>
              <a:rPr lang="es-ES"/>
              <a:t> map)</a:t>
            </a:r>
          </a:p>
          <a:p>
            <a:r>
              <a:rPr lang="es-ES" b="1">
                <a:ea typeface="+mn-lt"/>
                <a:cs typeface="+mn-lt"/>
              </a:rPr>
              <a:t>Gobierno y Portafolio</a:t>
            </a:r>
            <a:endParaRPr lang="es-ES"/>
          </a:p>
          <a:p>
            <a:r>
              <a:rPr lang="es-ES">
                <a:ea typeface="+mn-lt"/>
                <a:cs typeface="+mn-lt"/>
              </a:rPr>
              <a:t>Gestión de demanda e intake</a:t>
            </a:r>
            <a:endParaRPr lang="es-ES"/>
          </a:p>
          <a:p>
            <a:r>
              <a:rPr lang="es-ES">
                <a:ea typeface="+mn-lt"/>
                <a:cs typeface="+mn-lt"/>
              </a:rPr>
              <a:t>Priorización y </a:t>
            </a:r>
            <a:r>
              <a:rPr lang="es-ES" err="1">
                <a:ea typeface="+mn-lt"/>
                <a:cs typeface="+mn-lt"/>
              </a:rPr>
              <a:t>roadmap</a:t>
            </a:r>
            <a:endParaRPr lang="es-ES" err="1"/>
          </a:p>
          <a:p>
            <a:r>
              <a:rPr lang="es-ES">
                <a:ea typeface="+mn-lt"/>
                <a:cs typeface="+mn-lt"/>
              </a:rPr>
              <a:t>Gestión de riesgos y calidad</a:t>
            </a:r>
            <a:endParaRPr lang="es-ES"/>
          </a:p>
          <a:p>
            <a:r>
              <a:rPr lang="es-ES">
                <a:ea typeface="+mn-lt"/>
                <a:cs typeface="+mn-lt"/>
              </a:rPr>
              <a:t>Gestión de conocimiento (base CDT)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Entrega</a:t>
            </a:r>
            <a:endParaRPr lang="es-ES"/>
          </a:p>
          <a:p>
            <a:r>
              <a:rPr lang="es-ES">
                <a:ea typeface="+mn-lt"/>
                <a:cs typeface="+mn-lt"/>
              </a:rPr>
              <a:t>Discovery ligero (MVP)</a:t>
            </a:r>
            <a:endParaRPr lang="es-ES"/>
          </a:p>
          <a:p>
            <a:r>
              <a:rPr lang="es-ES">
                <a:ea typeface="+mn-lt"/>
                <a:cs typeface="+mn-lt"/>
              </a:rPr>
              <a:t>Diseño UX básico</a:t>
            </a:r>
            <a:endParaRPr lang="es-ES"/>
          </a:p>
          <a:p>
            <a:r>
              <a:rPr lang="es-ES">
                <a:ea typeface="+mn-lt"/>
                <a:cs typeface="+mn-lt"/>
              </a:rPr>
              <a:t>Desarrollo</a:t>
            </a:r>
            <a:endParaRPr lang="es-ES"/>
          </a:p>
          <a:p>
            <a:r>
              <a:rPr lang="es-ES">
                <a:ea typeface="+mn-lt"/>
                <a:cs typeface="+mn-lt"/>
              </a:rPr>
              <a:t>Pruebas (QA + UAT)</a:t>
            </a:r>
            <a:endParaRPr lang="es-ES"/>
          </a:p>
          <a:p>
            <a:r>
              <a:rPr lang="es-ES" err="1">
                <a:ea typeface="+mn-lt"/>
                <a:cs typeface="+mn-lt"/>
              </a:rPr>
              <a:t>Release</a:t>
            </a:r>
            <a:r>
              <a:rPr lang="es-ES">
                <a:ea typeface="+mn-lt"/>
                <a:cs typeface="+mn-lt"/>
              </a:rPr>
              <a:t> + </a:t>
            </a:r>
            <a:r>
              <a:rPr lang="es-ES" err="1">
                <a:ea typeface="+mn-lt"/>
                <a:cs typeface="+mn-lt"/>
              </a:rPr>
              <a:t>hypercare</a:t>
            </a:r>
            <a:endParaRPr lang="es-ES" err="1"/>
          </a:p>
          <a:p>
            <a:r>
              <a:rPr lang="es-ES">
                <a:ea typeface="+mn-lt"/>
                <a:cs typeface="+mn-lt"/>
              </a:rPr>
              <a:t>Mantenimiento evolutivo (post-MVP)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Plataforma de desarrollo</a:t>
            </a:r>
            <a:endParaRPr lang="es-ES"/>
          </a:p>
          <a:p>
            <a:r>
              <a:rPr lang="es-ES">
                <a:ea typeface="+mn-lt"/>
                <a:cs typeface="+mn-lt"/>
              </a:rPr>
              <a:t>Gestión de repositorios</a:t>
            </a:r>
            <a:endParaRPr lang="es-ES"/>
          </a:p>
          <a:p>
            <a:r>
              <a:rPr lang="es-ES">
                <a:ea typeface="+mn-lt"/>
                <a:cs typeface="+mn-lt"/>
              </a:rPr>
              <a:t>CI/CD</a:t>
            </a:r>
            <a:endParaRPr lang="es-ES"/>
          </a:p>
          <a:p>
            <a:r>
              <a:rPr lang="es-ES">
                <a:ea typeface="+mn-lt"/>
                <a:cs typeface="+mn-lt"/>
              </a:rPr>
              <a:t>Gestión de artefactos/</a:t>
            </a:r>
            <a:r>
              <a:rPr lang="es-ES" err="1">
                <a:ea typeface="+mn-lt"/>
                <a:cs typeface="+mn-lt"/>
              </a:rPr>
              <a:t>releases</a:t>
            </a:r>
            <a:endParaRPr lang="es-ES" err="1"/>
          </a:p>
          <a:p>
            <a:r>
              <a:rPr lang="es-ES" err="1">
                <a:ea typeface="+mn-lt"/>
                <a:cs typeface="+mn-lt"/>
              </a:rPr>
              <a:t>Observabilidad</a:t>
            </a:r>
            <a:r>
              <a:rPr lang="es-ES">
                <a:ea typeface="+mn-lt"/>
                <a:cs typeface="+mn-lt"/>
              </a:rPr>
              <a:t> (logs/monitoreo)</a:t>
            </a:r>
            <a:endParaRPr lang="es-ES"/>
          </a:p>
          <a:p>
            <a:r>
              <a:rPr lang="es-ES">
                <a:ea typeface="+mn-lt"/>
                <a:cs typeface="+mn-lt"/>
              </a:rPr>
              <a:t>Gestión de accesos y secretos</a:t>
            </a:r>
            <a:endParaRPr lang="es-ES"/>
          </a:p>
          <a:p>
            <a:r>
              <a:rPr lang="es-ES"/>
              <a:t>2.2 Cadena de valor (value stream) CDT</a:t>
            </a:r>
          </a:p>
          <a:p>
            <a:r>
              <a:rPr lang="es-ES">
                <a:ea typeface="+mn-lt"/>
                <a:cs typeface="+mn-lt"/>
              </a:rPr>
              <a:t>Solicitud → Ficha MVP → Diseño ligero → Sprint(s) → UAT → Gate Release → PROD (TI) → Hypercare → Operación TI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/>
              <a:t>3) Arquitectura de Información (Datos)</a:t>
            </a:r>
          </a:p>
          <a:p>
            <a:r>
              <a:rPr lang="es-ES"/>
              <a:t>3.1 Objetos de información “core”</a:t>
            </a:r>
          </a:p>
          <a:p>
            <a:r>
              <a:rPr lang="es-ES" b="1">
                <a:ea typeface="+mn-lt"/>
                <a:cs typeface="+mn-lt"/>
              </a:rPr>
              <a:t>Solicitud / Ficha MVP</a:t>
            </a:r>
            <a:r>
              <a:rPr lang="es-ES">
                <a:ea typeface="+mn-lt"/>
                <a:cs typeface="+mn-lt"/>
              </a:rPr>
              <a:t> (problema, alcance, PO, criterios éxito)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Backlog</a:t>
            </a:r>
            <a:r>
              <a:rPr lang="es-ES">
                <a:ea typeface="+mn-lt"/>
                <a:cs typeface="+mn-lt"/>
              </a:rPr>
              <a:t> (épicas, historias, criterios aceptación)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Decisiones de arquitectura</a:t>
            </a:r>
            <a:r>
              <a:rPr lang="es-ES">
                <a:ea typeface="+mn-lt"/>
                <a:cs typeface="+mn-lt"/>
              </a:rPr>
              <a:t> (ADR)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Evidencias de pruebas/UAT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Versiones / </a:t>
            </a:r>
            <a:r>
              <a:rPr lang="es-ES" b="1" err="1">
                <a:ea typeface="+mn-lt"/>
                <a:cs typeface="+mn-lt"/>
              </a:rPr>
              <a:t>Releases</a:t>
            </a:r>
            <a:endParaRPr lang="es-ES" err="1"/>
          </a:p>
          <a:p>
            <a:r>
              <a:rPr lang="es-ES" b="1" err="1">
                <a:ea typeface="+mn-lt"/>
                <a:cs typeface="+mn-lt"/>
              </a:rPr>
              <a:t>Runbooks</a:t>
            </a:r>
            <a:r>
              <a:rPr lang="es-ES">
                <a:ea typeface="+mn-lt"/>
                <a:cs typeface="+mn-lt"/>
              </a:rPr>
              <a:t> (L1–L2)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Métricas</a:t>
            </a:r>
            <a:r>
              <a:rPr lang="es-ES">
                <a:ea typeface="+mn-lt"/>
                <a:cs typeface="+mn-lt"/>
              </a:rPr>
              <a:t> (lead time, defectos, throughput)</a:t>
            </a:r>
            <a:endParaRPr lang="es-ES"/>
          </a:p>
          <a:p>
            <a:r>
              <a:rPr lang="es-ES"/>
              <a:t>3.2 Gobierno de datos (mínimo)</a:t>
            </a:r>
          </a:p>
          <a:p>
            <a:r>
              <a:rPr lang="es-ES" b="1">
                <a:ea typeface="+mn-lt"/>
                <a:cs typeface="+mn-lt"/>
              </a:rPr>
              <a:t>Clasificación de datos</a:t>
            </a:r>
            <a:r>
              <a:rPr lang="es-ES">
                <a:ea typeface="+mn-lt"/>
                <a:cs typeface="+mn-lt"/>
              </a:rPr>
              <a:t> (público / interno / sensible)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Reglas</a:t>
            </a:r>
            <a:r>
              <a:rPr lang="es-ES">
                <a:ea typeface="+mn-lt"/>
                <a:cs typeface="+mn-lt"/>
              </a:rPr>
              <a:t>: no datos sensibles en entornos no autorizados; enmascaramiento si aplica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Dueño del dato</a:t>
            </a:r>
            <a:r>
              <a:rPr lang="es-ES">
                <a:ea typeface="+mn-lt"/>
                <a:cs typeface="+mn-lt"/>
              </a:rPr>
              <a:t>: el </a:t>
            </a:r>
            <a:r>
              <a:rPr lang="es-ES" b="1">
                <a:ea typeface="+mn-lt"/>
                <a:cs typeface="+mn-lt"/>
              </a:rPr>
              <a:t>PO del área</a:t>
            </a:r>
            <a:r>
              <a:rPr lang="es-ES">
                <a:ea typeface="+mn-lt"/>
                <a:cs typeface="+mn-lt"/>
              </a:rPr>
              <a:t> y TI valida producción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/>
              <a:t>4) Arquitectura de Aplicaciones (plataforma del CDT)</a:t>
            </a:r>
          </a:p>
          <a:p>
            <a:r>
              <a:rPr lang="es-ES">
                <a:ea typeface="+mn-lt"/>
                <a:cs typeface="+mn-lt"/>
              </a:rPr>
              <a:t>Piensa el CDT como un “producto interno” que necesita su </a:t>
            </a:r>
            <a:r>
              <a:rPr lang="es-ES" b="1">
                <a:ea typeface="+mn-lt"/>
                <a:cs typeface="+mn-lt"/>
              </a:rPr>
              <a:t>toolchain</a:t>
            </a:r>
            <a:r>
              <a:rPr lang="es-ES">
                <a:ea typeface="+mn-lt"/>
                <a:cs typeface="+mn-lt"/>
              </a:rPr>
              <a:t> estándar:</a:t>
            </a:r>
            <a:endParaRPr lang="es-ES"/>
          </a:p>
          <a:p>
            <a:r>
              <a:rPr lang="es-ES"/>
              <a:t>4.1 Aplicaciones esenciales (TO-BE)</a:t>
            </a:r>
          </a:p>
          <a:p>
            <a:r>
              <a:rPr lang="es-ES" b="1">
                <a:ea typeface="+mn-lt"/>
                <a:cs typeface="+mn-lt"/>
              </a:rPr>
              <a:t>Gestión de trabajo</a:t>
            </a:r>
            <a:r>
              <a:rPr lang="es-ES">
                <a:ea typeface="+mn-lt"/>
                <a:cs typeface="+mn-lt"/>
              </a:rPr>
              <a:t>: Jira / Trello / Azure Boards (o Sheets como mínimo)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Control de versiones</a:t>
            </a:r>
            <a:r>
              <a:rPr lang="es-ES">
                <a:ea typeface="+mn-lt"/>
                <a:cs typeface="+mn-lt"/>
              </a:rPr>
              <a:t>: GitHub / GitLab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CI/CD</a:t>
            </a:r>
            <a:r>
              <a:rPr lang="es-ES">
                <a:ea typeface="+mn-lt"/>
                <a:cs typeface="+mn-lt"/>
              </a:rPr>
              <a:t>: GitHub Actions / GitLab CI / Azure DevOps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Repositorio de artefactos</a:t>
            </a:r>
            <a:r>
              <a:rPr lang="es-ES">
                <a:ea typeface="+mn-lt"/>
                <a:cs typeface="+mn-lt"/>
              </a:rPr>
              <a:t>: Packages / Nexus / Artifacts (opcional al inicio)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Documentación / conocimiento</a:t>
            </a:r>
            <a:r>
              <a:rPr lang="es-ES">
                <a:ea typeface="+mn-lt"/>
                <a:cs typeface="+mn-lt"/>
              </a:rPr>
              <a:t>: Wiki / Notion / Confluence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Gestión de incidencias/soporte</a:t>
            </a:r>
            <a:r>
              <a:rPr lang="es-ES">
                <a:ea typeface="+mn-lt"/>
                <a:cs typeface="+mn-lt"/>
              </a:rPr>
              <a:t> (cuando pase a TI): ITSM (GLPI/Jira Service, etc.)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Observabilidad</a:t>
            </a:r>
            <a:r>
              <a:rPr lang="es-ES">
                <a:ea typeface="+mn-lt"/>
                <a:cs typeface="+mn-lt"/>
              </a:rPr>
              <a:t>: logs centralizados + monitoreo (mínimo en QA/PROD)</a:t>
            </a:r>
            <a:endParaRPr lang="es-ES"/>
          </a:p>
          <a:p>
            <a:r>
              <a:rPr lang="es-ES"/>
              <a:t>4.2 Integraciones clave con TI institucional</a:t>
            </a:r>
          </a:p>
          <a:p>
            <a:r>
              <a:rPr lang="es-ES" b="1">
                <a:ea typeface="+mn-lt"/>
                <a:cs typeface="+mn-lt"/>
              </a:rPr>
              <a:t>SSO/IAM</a:t>
            </a:r>
            <a:r>
              <a:rPr lang="es-ES">
                <a:ea typeface="+mn-lt"/>
                <a:cs typeface="+mn-lt"/>
              </a:rPr>
              <a:t> (ideal): LDAP/AD/Google Workspace → para apps internas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Correo / notificaciones</a:t>
            </a:r>
            <a:r>
              <a:rPr lang="es-ES">
                <a:ea typeface="+mn-lt"/>
                <a:cs typeface="+mn-lt"/>
              </a:rPr>
              <a:t> institucionales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ITSM</a:t>
            </a:r>
            <a:r>
              <a:rPr lang="es-ES">
                <a:ea typeface="+mn-lt"/>
                <a:cs typeface="+mn-lt"/>
              </a:rPr>
              <a:t> (si existe): traspaso a soporte TI + tickets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Infra/Redes</a:t>
            </a:r>
            <a:r>
              <a:rPr lang="es-ES">
                <a:ea typeface="+mn-lt"/>
                <a:cs typeface="+mn-lt"/>
              </a:rPr>
              <a:t>: DNS, certificados, firewalls/WAF si aplica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Backups</a:t>
            </a:r>
            <a:r>
              <a:rPr lang="es-ES">
                <a:ea typeface="+mn-lt"/>
                <a:cs typeface="+mn-lt"/>
              </a:rPr>
              <a:t> y políticas de continuidad en producción (TI)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/>
              <a:t>5) Arquitectura Tecnológica (Infraestructura y ambientes)</a:t>
            </a:r>
          </a:p>
          <a:p>
            <a:r>
              <a:rPr lang="es-ES"/>
              <a:t>5.1 Ambientes estándar</a:t>
            </a:r>
          </a:p>
          <a:p>
            <a:r>
              <a:rPr lang="es-ES" b="1">
                <a:ea typeface="+mn-lt"/>
                <a:cs typeface="+mn-lt"/>
              </a:rPr>
              <a:t>DEV</a:t>
            </a:r>
            <a:r>
              <a:rPr lang="es-ES">
                <a:ea typeface="+mn-lt"/>
                <a:cs typeface="+mn-lt"/>
              </a:rPr>
              <a:t> (local + contenedores)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QA</a:t>
            </a:r>
            <a:r>
              <a:rPr lang="es-ES">
                <a:ea typeface="+mn-lt"/>
                <a:cs typeface="+mn-lt"/>
              </a:rPr>
              <a:t> (pruebas técnicas/funcionales)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UAT</a:t>
            </a:r>
            <a:r>
              <a:rPr lang="es-ES">
                <a:ea typeface="+mn-lt"/>
                <a:cs typeface="+mn-lt"/>
              </a:rPr>
              <a:t> (validación con el área)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PROD</a:t>
            </a:r>
            <a:r>
              <a:rPr lang="es-ES">
                <a:ea typeface="+mn-lt"/>
                <a:cs typeface="+mn-lt"/>
              </a:rPr>
              <a:t> (operado por TI)</a:t>
            </a:r>
            <a:endParaRPr lang="es-ES"/>
          </a:p>
          <a:p>
            <a:r>
              <a:rPr lang="es-ES"/>
              <a:t>5.2 Plataforma recomendada (neutral)</a:t>
            </a:r>
          </a:p>
          <a:p>
            <a:r>
              <a:rPr lang="es-ES">
                <a:ea typeface="+mn-lt"/>
                <a:cs typeface="+mn-lt"/>
              </a:rPr>
              <a:t>Contenedores </a:t>
            </a:r>
            <a:r>
              <a:rPr lang="es-ES" b="1">
                <a:ea typeface="+mn-lt"/>
                <a:cs typeface="+mn-lt"/>
              </a:rPr>
              <a:t>Docker</a:t>
            </a:r>
            <a:r>
              <a:rPr lang="es-ES">
                <a:ea typeface="+mn-lt"/>
                <a:cs typeface="+mn-lt"/>
              </a:rPr>
              <a:t> (para homogeneidad)</a:t>
            </a:r>
            <a:endParaRPr lang="es-ES"/>
          </a:p>
          <a:p>
            <a:r>
              <a:rPr lang="es-ES">
                <a:ea typeface="+mn-lt"/>
                <a:cs typeface="+mn-lt"/>
              </a:rPr>
              <a:t>Despliegue: servidor institucional / VM / Kubernetes (si existe) / PaaS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Gestión de configuración</a:t>
            </a:r>
            <a:r>
              <a:rPr lang="es-ES">
                <a:ea typeface="+mn-lt"/>
                <a:cs typeface="+mn-lt"/>
              </a:rPr>
              <a:t> por variables de entorno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Secret manager</a:t>
            </a:r>
            <a:r>
              <a:rPr lang="es-ES">
                <a:ea typeface="+mn-lt"/>
                <a:cs typeface="+mn-lt"/>
              </a:rPr>
              <a:t> (aunque sea básico): nunca credenciales en repositorio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/>
              <a:t>6) Arquitectura de Integración (cómo se conectan los MVP)</a:t>
            </a:r>
          </a:p>
          <a:p>
            <a:r>
              <a:rPr lang="es-ES">
                <a:ea typeface="+mn-lt"/>
                <a:cs typeface="+mn-lt"/>
              </a:rPr>
              <a:t>Define 3 patrones permitidos (para no improvisar):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API REST</a:t>
            </a:r>
            <a:r>
              <a:rPr lang="es-ES">
                <a:ea typeface="+mn-lt"/>
                <a:cs typeface="+mn-lt"/>
              </a:rPr>
              <a:t> (estándar base)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Eventos/Mensajería</a:t>
            </a:r>
            <a:r>
              <a:rPr lang="es-ES">
                <a:ea typeface="+mn-lt"/>
                <a:cs typeface="+mn-lt"/>
              </a:rPr>
              <a:t> (si ya existe plataforma)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Integración por BD</a:t>
            </a:r>
            <a:r>
              <a:rPr lang="es-ES">
                <a:ea typeface="+mn-lt"/>
                <a:cs typeface="+mn-lt"/>
              </a:rPr>
              <a:t> (solo excepcional y controlada)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Contrato mínimo de API:</a:t>
            </a:r>
            <a:r>
              <a:rPr lang="es-ES">
                <a:ea typeface="+mn-lt"/>
                <a:cs typeface="+mn-lt"/>
              </a:rPr>
              <a:t> versionado + autenticación + manejo de errores + logs.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/>
              <a:t>7) Arquitectura de Seguridad (mínimos obligatorios)</a:t>
            </a:r>
          </a:p>
          <a:p>
            <a:r>
              <a:rPr lang="es-ES" b="1">
                <a:ea typeface="+mn-lt"/>
                <a:cs typeface="+mn-lt"/>
              </a:rPr>
              <a:t>Autenticación</a:t>
            </a:r>
            <a:r>
              <a:rPr lang="es-ES">
                <a:ea typeface="+mn-lt"/>
                <a:cs typeface="+mn-lt"/>
              </a:rPr>
              <a:t>: SSO cuando sea posible; si no, OAuth2/JWT con roles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Autorización</a:t>
            </a:r>
            <a:r>
              <a:rPr lang="es-ES">
                <a:ea typeface="+mn-lt"/>
                <a:cs typeface="+mn-lt"/>
              </a:rPr>
              <a:t>: RBAC (roles por perfil)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Secretos</a:t>
            </a:r>
            <a:r>
              <a:rPr lang="es-ES">
                <a:ea typeface="+mn-lt"/>
                <a:cs typeface="+mn-lt"/>
              </a:rPr>
              <a:t>: vault/secret manager (o variables protegidas CI)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Registro/Auditoría</a:t>
            </a:r>
            <a:r>
              <a:rPr lang="es-ES">
                <a:ea typeface="+mn-lt"/>
                <a:cs typeface="+mn-lt"/>
              </a:rPr>
              <a:t>: logs de acceso y acciones clave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Dependencias</a:t>
            </a:r>
            <a:r>
              <a:rPr lang="es-ES">
                <a:ea typeface="+mn-lt"/>
                <a:cs typeface="+mn-lt"/>
              </a:rPr>
              <a:t>: escaneo básico (SCA) si CI lo permite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Checklist Gate a producción</a:t>
            </a:r>
            <a:r>
              <a:rPr lang="es-ES">
                <a:ea typeface="+mn-lt"/>
                <a:cs typeface="+mn-lt"/>
              </a:rPr>
              <a:t>: UAT + rollback + permisos + monitoreo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/>
              <a:t>8) “FUTCO-way”: Arquitecturas de referencia (para acelerar estudiantes)</a:t>
            </a:r>
          </a:p>
          <a:p>
            <a:r>
              <a:rPr lang="es-ES">
                <a:ea typeface="+mn-lt"/>
                <a:cs typeface="+mn-lt"/>
              </a:rPr>
              <a:t>Para bajar curva de aprendizaje, el CDT debe tener 2–3 “blueprints” listos:</a:t>
            </a:r>
            <a:endParaRPr lang="es-ES"/>
          </a:p>
          <a:p>
            <a:r>
              <a:rPr lang="es-ES"/>
              <a:t>A) Web App institucional típica</a:t>
            </a:r>
          </a:p>
          <a:p>
            <a:r>
              <a:rPr lang="es-ES">
                <a:ea typeface="+mn-lt"/>
                <a:cs typeface="+mn-lt"/>
              </a:rPr>
              <a:t>Frontend (SPA) → API Backend → DB</a:t>
            </a:r>
            <a:endParaRPr lang="es-ES"/>
          </a:p>
          <a:p>
            <a:r>
              <a:rPr lang="es-ES">
                <a:ea typeface="+mn-lt"/>
                <a:cs typeface="+mn-lt"/>
              </a:rPr>
              <a:t>Auth + Roles + Logs + Pruebas mínimas + CI/CD</a:t>
            </a:r>
            <a:endParaRPr lang="es-ES"/>
          </a:p>
          <a:p>
            <a:r>
              <a:rPr lang="es-ES"/>
              <a:t>B) Servicio/API de integración</a:t>
            </a:r>
          </a:p>
          <a:p>
            <a:r>
              <a:rPr lang="es-ES">
                <a:ea typeface="+mn-lt"/>
                <a:cs typeface="+mn-lt"/>
              </a:rPr>
              <a:t>API → Validaciones → Persistencia → Integración con sistema institucional</a:t>
            </a:r>
            <a:endParaRPr lang="es-ES"/>
          </a:p>
          <a:p>
            <a:r>
              <a:rPr lang="es-ES">
                <a:ea typeface="+mn-lt"/>
                <a:cs typeface="+mn-lt"/>
              </a:rPr>
              <a:t>versionado + contratos + observabilidad</a:t>
            </a:r>
            <a:endParaRPr lang="es-ES"/>
          </a:p>
          <a:p>
            <a:r>
              <a:rPr lang="es-ES"/>
              <a:t>C) App de formularios/flujo</a:t>
            </a:r>
          </a:p>
          <a:p>
            <a:r>
              <a:rPr lang="es-ES">
                <a:ea typeface="+mn-lt"/>
                <a:cs typeface="+mn-lt"/>
              </a:rPr>
              <a:t>UI simple → reglas → aprobaciones → reportes</a:t>
            </a:r>
            <a:endParaRPr lang="es-ES"/>
          </a:p>
          <a:p>
            <a:r>
              <a:rPr lang="es-ES">
                <a:ea typeface="+mn-lt"/>
                <a:cs typeface="+mn-lt"/>
              </a:rPr>
              <a:t>trazabilidad + permisos</a:t>
            </a:r>
            <a:endParaRPr lang="es-ES"/>
          </a:p>
          <a:p>
            <a:r>
              <a:rPr lang="es-ES">
                <a:ea typeface="+mn-lt"/>
                <a:cs typeface="+mn-lt"/>
              </a:rPr>
              <a:t>Cada blueprint con: template repo, estructura de carpetas, ejemplo de endpoints, pruebas base y guía de despliegue.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/>
              <a:t>9) Vista en capas (diagrama simple)</a:t>
            </a:r>
          </a:p>
          <a:p>
            <a:r>
              <a:rPr lang="es-ES">
                <a:latin typeface="Consolas"/>
              </a:rPr>
              <a:t>Usuarios (Áreas / Estudiantes / TI)
        │
Canales (Web / Móvil / Formularios / APIs)
        │
Servicios CDT (MVPs + iteraciones + integraciones)
        │
Plataforma CDT (Backlog + Git + CI/CD + Docs + QA + Observabilidad)
        │
Datos (modelos, reglas, evidencias, métricas)
        │
Infra (DEV/QA/UAT/PROD) + Seguridad (SSO, secretos, backups)
        │
TI Institucional (operación PROD + soporte + continuidad)
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/>
              <a:t>10) Roadmap de adopción (rápido)</a:t>
            </a:r>
          </a:p>
          <a:p>
            <a:r>
              <a:rPr lang="es-ES" b="1">
                <a:ea typeface="+mn-lt"/>
                <a:cs typeface="+mn-lt"/>
              </a:rPr>
              <a:t>0–30 días</a:t>
            </a:r>
            <a:endParaRPr lang="es-ES"/>
          </a:p>
          <a:p>
            <a:r>
              <a:rPr lang="es-ES">
                <a:ea typeface="+mn-lt"/>
                <a:cs typeface="+mn-lt"/>
              </a:rPr>
              <a:t>Definir toolchain mínimo (tablero + git + docs)</a:t>
            </a:r>
            <a:endParaRPr lang="es-ES"/>
          </a:p>
          <a:p>
            <a:r>
              <a:rPr lang="es-ES">
                <a:ea typeface="+mn-lt"/>
                <a:cs typeface="+mn-lt"/>
              </a:rPr>
              <a:t>Crear templates “FUTCO-way”</a:t>
            </a:r>
            <a:endParaRPr lang="es-ES"/>
          </a:p>
          <a:p>
            <a:r>
              <a:rPr lang="es-ES">
                <a:ea typeface="+mn-lt"/>
                <a:cs typeface="+mn-lt"/>
              </a:rPr>
              <a:t>DoD + Gate Release (checklists)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31–60 días</a:t>
            </a:r>
            <a:endParaRPr lang="es-ES"/>
          </a:p>
          <a:p>
            <a:r>
              <a:rPr lang="es-ES">
                <a:ea typeface="+mn-lt"/>
                <a:cs typeface="+mn-lt"/>
              </a:rPr>
              <a:t>CI básico (lint + pruebas + build)</a:t>
            </a:r>
            <a:endParaRPr lang="es-ES"/>
          </a:p>
          <a:p>
            <a:r>
              <a:rPr lang="es-ES">
                <a:ea typeface="+mn-lt"/>
                <a:cs typeface="+mn-lt"/>
              </a:rPr>
              <a:t>Ambientes QA/UAT estandarizados</a:t>
            </a:r>
            <a:endParaRPr lang="es-ES"/>
          </a:p>
          <a:p>
            <a:r>
              <a:rPr lang="es-ES">
                <a:ea typeface="+mn-lt"/>
                <a:cs typeface="+mn-lt"/>
              </a:rPr>
              <a:t>ADR + runbook L1 obligatorio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61–90 días</a:t>
            </a:r>
            <a:endParaRPr lang="es-ES"/>
          </a:p>
          <a:p>
            <a:r>
              <a:rPr lang="es-ES">
                <a:ea typeface="+mn-lt"/>
                <a:cs typeface="+mn-lt"/>
              </a:rPr>
              <a:t>Observabilidad mínima centralizada</a:t>
            </a:r>
            <a:endParaRPr lang="es-ES"/>
          </a:p>
          <a:p>
            <a:r>
              <a:rPr lang="es-ES">
                <a:ea typeface="+mn-lt"/>
                <a:cs typeface="+mn-lt"/>
              </a:rPr>
              <a:t>SSO/IAM integrado (si está disponible)</a:t>
            </a:r>
            <a:endParaRPr lang="es-ES"/>
          </a:p>
          <a:p>
            <a:r>
              <a:rPr lang="es-ES">
                <a:ea typeface="+mn-lt"/>
                <a:cs typeface="+mn-lt"/>
              </a:rPr>
              <a:t>Catálogo de servicios CDT + métricas y reporte quincenal</a:t>
            </a:r>
            <a:endParaRPr lang="es-ES"/>
          </a:p>
          <a:p>
            <a:br>
              <a:rPr lang="en-US"/>
            </a:br>
            <a:endParaRPr lang="en-US"/>
          </a:p>
          <a:p>
            <a:r>
              <a:rPr lang="es-ES">
                <a:ea typeface="+mn-lt"/>
                <a:cs typeface="+mn-lt"/>
              </a:rPr>
              <a:t>Si quieres, te lo dejo ya como </a:t>
            </a:r>
            <a:r>
              <a:rPr lang="es-ES" b="1">
                <a:ea typeface="+mn-lt"/>
                <a:cs typeface="+mn-lt"/>
              </a:rPr>
              <a:t>documento formal</a:t>
            </a:r>
            <a:r>
              <a:rPr lang="es-ES">
                <a:ea typeface="+mn-lt"/>
                <a:cs typeface="+mn-lt"/>
              </a:rPr>
              <a:t> para aprobación (con secciones “AS-IS / TO-BE”, catálogo de estándares, diagramas y matriz de integraciones). Y, si hoy no tienen herramientas, también te puedo proponer una versión “mínima viable” usando solo </a:t>
            </a:r>
            <a:r>
              <a:rPr lang="es-ES" b="1">
                <a:ea typeface="+mn-lt"/>
                <a:cs typeface="+mn-lt"/>
              </a:rPr>
              <a:t>Google Workspace + GitHub</a:t>
            </a:r>
            <a:r>
              <a:rPr lang="es-ES">
                <a:ea typeface="+mn-lt"/>
                <a:cs typeface="+mn-lt"/>
              </a:rPr>
              <a:t> como arranque.</a:t>
            </a:r>
            <a:endParaRPr lang="es-ES"/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45122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8EF8B-87D6-27A0-9933-F778D15AA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Como reducir la curva de aprendizaje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C0981B-C623-6B83-ECEE-CD18AE8FB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08847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s-ES" dirty="0"/>
          </a:p>
          <a:p>
            <a:endParaRPr lang="es-ES">
              <a:ea typeface="+mn-lt"/>
              <a:cs typeface="+mn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0D2A29E-9AB4-681B-773C-76BC039D8CB8}"/>
              </a:ext>
            </a:extLst>
          </p:cNvPr>
          <p:cNvSpPr txBox="1"/>
          <p:nvPr/>
        </p:nvSpPr>
        <p:spPr>
          <a:xfrm>
            <a:off x="3048000" y="3429000"/>
            <a:ext cx="6096000" cy="275152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Para bajar la </a:t>
            </a:r>
            <a:r>
              <a:rPr lang="en-US" b="1"/>
              <a:t>curva de aprendizaje</a:t>
            </a:r>
            <a:r>
              <a:rPr lang="en-US"/>
              <a:t> en el CDT (con estudiantes rotando) necesitas convertir lo “tácito” (lo que hoy sabe el líder técnico) en </a:t>
            </a:r>
            <a:r>
              <a:rPr lang="en-US" b="1"/>
              <a:t>estándares + plantillas + rutina guiada</a:t>
            </a:r>
            <a:r>
              <a:rPr lang="en-US"/>
              <a:t>. Ustedes ya trabajan con Scrum (backlog, sprints, dailys, revisión y retrospectiva), así que se puede montar encima sin cambiarlo todo. </a:t>
            </a:r>
          </a:p>
          <a:p>
            <a:r>
              <a:rPr lang="en-US"/>
              <a:t>230-CDSOFT-02-003 PROCEDIMIENTO…</a:t>
            </a:r>
          </a:p>
          <a:p>
            <a:r>
              <a:rPr lang="en-US" b="1"/>
              <a:t>10 palancas que funcionan (y son ligeras)</a:t>
            </a:r>
          </a:p>
          <a:p>
            <a:r>
              <a:rPr lang="en-US" b="1"/>
              <a:t>1) “FUTCO-way” (1 kit único para todos)</a:t>
            </a:r>
          </a:p>
          <a:p>
            <a:r>
              <a:rPr lang="en-US"/>
              <a:t>Un paquete estándar con: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Template de repositorio</a:t>
            </a:r>
            <a:r>
              <a:rPr lang="en-US"/>
              <a:t> (estructura de carpetas, capas, ejemplos)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Convenciones</a:t>
            </a:r>
            <a:r>
              <a:rPr lang="en-US"/>
              <a:t> (nombres, estilo, logging, errores)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Guía “cómo correr local / QA”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Checklist de PR y Definition of Done</a:t>
            </a:r>
            <a:br>
              <a:rPr lang="en-US"/>
            </a:br>
            <a:r>
              <a:rPr lang="en-US"/>
              <a:t>Esto alinea el trabajo del equipo que hoy ejecuta tareas por sprint. </a:t>
            </a:r>
          </a:p>
          <a:p>
            <a:pPr marL="228600" indent="-228600">
              <a:buFont typeface=""/>
              <a:buChar char="•"/>
            </a:pPr>
            <a:r>
              <a:rPr lang="en-US"/>
              <a:t>230-CDSOFT-02-003 PROCEDIMIENTO…</a:t>
            </a:r>
          </a:p>
          <a:p>
            <a:r>
              <a:rPr lang="en-US" b="1"/>
              <a:t>2) Onboarding de 10 días (con resultado medible)</a:t>
            </a:r>
          </a:p>
          <a:p>
            <a:r>
              <a:rPr lang="en-US"/>
              <a:t>Objetivo: que cada estudiante haga </a:t>
            </a:r>
            <a:r>
              <a:rPr lang="en-US" b="1"/>
              <a:t>su primer PR real</a:t>
            </a:r>
            <a:r>
              <a:rPr lang="en-US"/>
              <a:t> rápido.</a:t>
            </a:r>
          </a:p>
          <a:p>
            <a:pPr marL="228600" indent="-228600">
              <a:buFont typeface=""/>
              <a:buChar char="•"/>
            </a:pPr>
            <a:r>
              <a:rPr lang="en-US"/>
              <a:t>D1–D2: entorno, repo, flujo Git, correr el proyecto</a:t>
            </a:r>
          </a:p>
          <a:p>
            <a:pPr marL="228600" indent="-228600">
              <a:buFont typeface=""/>
              <a:buChar char="•"/>
            </a:pPr>
            <a:r>
              <a:rPr lang="en-US"/>
              <a:t>D3–D5: bug pequeño + pruebas mínimas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Semana 2: feature pequeña + demo</a:t>
            </a:r>
            <a:br>
              <a:rPr lang="en-US"/>
            </a:br>
            <a:r>
              <a:rPr lang="en-US"/>
              <a:t>Métrica: </a:t>
            </a:r>
            <a:r>
              <a:rPr lang="en-US" b="1"/>
              <a:t>tiempo a primer PR aceptado</a:t>
            </a:r>
            <a:r>
              <a:rPr lang="en-US"/>
              <a:t>.</a:t>
            </a:r>
          </a:p>
          <a:p>
            <a:r>
              <a:rPr lang="en-US" b="1"/>
              <a:t>3) Buddy system obligatorio (reduce errores y bloqueos)</a:t>
            </a:r>
          </a:p>
          <a:p>
            <a:r>
              <a:rPr lang="en-US"/>
              <a:t>Cada nuevo estudiante emparejado con uno “semi-senior” (monitor) para:</a:t>
            </a:r>
          </a:p>
          <a:p>
            <a:pPr marL="228600" indent="-228600">
              <a:buFont typeface=""/>
              <a:buChar char="•"/>
            </a:pPr>
            <a:r>
              <a:rPr lang="en-US"/>
              <a:t>revisar PR</a:t>
            </a:r>
          </a:p>
          <a:p>
            <a:pPr marL="228600" indent="-228600">
              <a:buFont typeface=""/>
              <a:buChar char="•"/>
            </a:pPr>
            <a:r>
              <a:rPr lang="en-US"/>
              <a:t>explicar arquitectura y patrones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evitar retrabajo</a:t>
            </a:r>
          </a:p>
          <a:p>
            <a:r>
              <a:rPr lang="en-US" b="1"/>
              <a:t>4) “Primer sprint de aterrizaje” (historias tipo entrenamiento)</a:t>
            </a:r>
          </a:p>
          <a:p>
            <a:r>
              <a:rPr lang="en-US"/>
              <a:t>Antes de tocar un MVP grande:</a:t>
            </a:r>
          </a:p>
          <a:p>
            <a:pPr marL="228600" indent="-228600">
              <a:buFont typeface=""/>
              <a:buChar char="•"/>
            </a:pPr>
            <a:r>
              <a:rPr lang="en-US"/>
              <a:t>3–5 historias pequeñas de la plataforma base (auth, CRUD, validaciones, UI simple)</a:t>
            </a:r>
            <a:br>
              <a:rPr lang="en-US"/>
            </a:br>
            <a:r>
              <a:rPr lang="en-US"/>
              <a:t>Así el aprendizaje se hace “haciendo”.</a:t>
            </a:r>
          </a:p>
          <a:p>
            <a:r>
              <a:rPr lang="en-US" b="1"/>
              <a:t>5) Base de conocimiento viva (Wiki/Notion)</a:t>
            </a:r>
          </a:p>
          <a:p>
            <a:r>
              <a:rPr lang="en-US"/>
              <a:t>No más onboarding “de memoria”. Debe tener: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cómo se levantan proyectos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decisiones técnicas (ADR)</a:t>
            </a:r>
          </a:p>
          <a:p>
            <a:pPr marL="228600" indent="-228600">
              <a:buFont typeface=""/>
              <a:buChar char="•"/>
            </a:pPr>
            <a:r>
              <a:rPr lang="en-US"/>
              <a:t>ejemplos de SRS/UML y prototipos (para conectar con su fase de análisis/diseño) </a:t>
            </a:r>
          </a:p>
          <a:p>
            <a:pPr marL="228600" indent="-228600">
              <a:buFont typeface=""/>
              <a:buChar char="•"/>
            </a:pPr>
            <a:r>
              <a:rPr lang="en-US"/>
              <a:t>230-CDSOFT-02-001 PROCEDIMIENTO…</a:t>
            </a:r>
          </a:p>
          <a:p>
            <a:pPr marL="228600" indent="-228600">
              <a:buFont typeface=""/>
              <a:buChar char="•"/>
            </a:pPr>
            <a:endParaRPr lang="en-US"/>
          </a:p>
          <a:p>
            <a:pPr marL="228600" indent="-228600">
              <a:buFont typeface=""/>
              <a:buChar char="•"/>
            </a:pPr>
            <a:r>
              <a:rPr lang="en-US"/>
              <a:t>230-CDSOFT-02-002 PROCEDIMIENTO…</a:t>
            </a:r>
          </a:p>
          <a:p>
            <a:r>
              <a:rPr lang="en-US" b="1"/>
              <a:t>6) Automatizar feedback (CI básico)</a:t>
            </a:r>
          </a:p>
          <a:p>
            <a:r>
              <a:rPr lang="en-US"/>
              <a:t>La curva baja cuando el estudiante recibe feedback inmediato:</a:t>
            </a:r>
          </a:p>
          <a:p>
            <a:pPr marL="228600" indent="-228600">
              <a:buFont typeface=""/>
              <a:buChar char="•"/>
            </a:pPr>
            <a:r>
              <a:rPr lang="en-US"/>
              <a:t>lint/format</a:t>
            </a:r>
          </a:p>
          <a:p>
            <a:pPr marL="228600" indent="-228600">
              <a:buFont typeface=""/>
              <a:buChar char="•"/>
            </a:pPr>
            <a:r>
              <a:rPr lang="en-US"/>
              <a:t>tests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build</a:t>
            </a:r>
            <a:br>
              <a:rPr lang="en-US"/>
            </a:br>
            <a:r>
              <a:rPr lang="en-US"/>
              <a:t>Hoy el procedimiento de testing se centra en </a:t>
            </a:r>
            <a:r>
              <a:rPr lang="en-US" b="1"/>
              <a:t>pruebas unitarias</a:t>
            </a:r>
            <a:r>
              <a:rPr lang="en-US"/>
              <a:t> y revisión de texto; súmale automatización para que el estudiante aprenda “por señales” del pipeline. </a:t>
            </a:r>
          </a:p>
          <a:p>
            <a:pPr marL="228600" indent="-228600">
              <a:buFont typeface=""/>
              <a:buChar char="•"/>
            </a:pPr>
            <a:r>
              <a:rPr lang="en-US"/>
              <a:t>230-CDSOFT-02-004 PROCEDIMIENTO…</a:t>
            </a:r>
          </a:p>
          <a:p>
            <a:pPr marL="228600" indent="-228600">
              <a:buFont typeface=""/>
              <a:buChar char="•"/>
            </a:pPr>
            <a:endParaRPr lang="en-US"/>
          </a:p>
          <a:p>
            <a:pPr marL="228600" indent="-228600">
              <a:buFont typeface=""/>
              <a:buChar char="•"/>
            </a:pPr>
            <a:r>
              <a:rPr lang="en-US"/>
              <a:t>230-CDSOFT-02-004 PROCEDIMIENTO…</a:t>
            </a:r>
          </a:p>
          <a:p>
            <a:r>
              <a:rPr lang="en-US" b="1"/>
              <a:t>7) Definición de Done (DoD) única del CDT</a:t>
            </a:r>
          </a:p>
          <a:p>
            <a:r>
              <a:rPr lang="en-US"/>
              <a:t>Para decir “terminado”:</a:t>
            </a:r>
          </a:p>
          <a:p>
            <a:pPr marL="228600" indent="-228600">
              <a:buFont typeface=""/>
              <a:buChar char="•"/>
            </a:pPr>
            <a:r>
              <a:rPr lang="en-US"/>
              <a:t>PR revisado</a:t>
            </a:r>
          </a:p>
          <a:p>
            <a:pPr marL="228600" indent="-228600">
              <a:buFont typeface=""/>
              <a:buChar char="•"/>
            </a:pPr>
            <a:r>
              <a:rPr lang="en-US"/>
              <a:t>pruebas mínimas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README actualizado</a:t>
            </a:r>
          </a:p>
          <a:p>
            <a:pPr marL="228600" indent="-228600">
              <a:buFont typeface=""/>
              <a:buChar char="•"/>
            </a:pPr>
            <a:r>
              <a:rPr lang="en-US"/>
              <a:t>evidencia UAT (si aplica)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sin secretos en código</a:t>
            </a:r>
          </a:p>
          <a:p>
            <a:r>
              <a:rPr lang="en-US" b="1"/>
              <a:t>8) Checklist de entrega a TIC “empaquetado”</a:t>
            </a:r>
          </a:p>
          <a:p>
            <a:r>
              <a:rPr lang="en-US"/>
              <a:t>Como ustedes entregan </a:t>
            </a:r>
            <a:r>
              <a:rPr lang="en-US" b="1"/>
              <a:t>manual de usuario, manual técnico y código fuente</a:t>
            </a:r>
            <a:r>
              <a:rPr lang="en-US"/>
              <a:t>, conviértanlo en un paquete estándar con plantilla y estructura fija. </a:t>
            </a:r>
          </a:p>
          <a:p>
            <a:r>
              <a:rPr lang="en-US"/>
              <a:t>230-CDSOFT-02-005 PROCEDIMIENTO…</a:t>
            </a:r>
          </a:p>
          <a:p>
            <a:br>
              <a:rPr lang="en-US"/>
            </a:br>
            <a:r>
              <a:rPr lang="en-US"/>
              <a:t>Eso reduce dudas y correcciones al final.</a:t>
            </a:r>
          </a:p>
          <a:p>
            <a:r>
              <a:rPr lang="en-US" b="1"/>
              <a:t>9) Clínica técnica semanal (30 min)</a:t>
            </a:r>
          </a:p>
          <a:p>
            <a:r>
              <a:rPr lang="en-US"/>
              <a:t>Un espacio fijo para:</a:t>
            </a:r>
          </a:p>
          <a:p>
            <a:pPr marL="228600" indent="-228600">
              <a:buFont typeface=""/>
              <a:buChar char="•"/>
            </a:pPr>
            <a:r>
              <a:rPr lang="en-US"/>
              <a:t>dudas comunes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patrones de la semana</a:t>
            </a:r>
          </a:p>
          <a:p>
            <a:pPr marL="228600" indent="-228600">
              <a:buFont typeface=""/>
              <a:buChar char="•"/>
            </a:pPr>
            <a:r>
              <a:rPr lang="en-US"/>
              <a:t>“cómo se hace acá”</a:t>
            </a:r>
            <a:br>
              <a:rPr lang="en-US"/>
            </a:br>
            <a:r>
              <a:rPr lang="en-US"/>
              <a:t>Esto acelera mucho a los nuevos.</a:t>
            </a:r>
          </a:p>
          <a:p>
            <a:r>
              <a:rPr lang="en-US" b="1"/>
              <a:t>10) Roles estables (aunque roten estudiantes)</a:t>
            </a:r>
          </a:p>
          <a:p>
            <a:r>
              <a:rPr lang="en-US"/>
              <a:t>Mantén estables estos 2: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Líder técnico</a:t>
            </a:r>
            <a:r>
              <a:rPr lang="en-US"/>
              <a:t> (estándares y revisión)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Coordinación CDT</a:t>
            </a:r>
            <a:r>
              <a:rPr lang="en-US"/>
              <a:t> (calidad y entrega formal) </a:t>
            </a:r>
          </a:p>
          <a:p>
            <a:pPr marL="228600" indent="-228600">
              <a:buFont typeface=""/>
              <a:buChar char="•"/>
            </a:pPr>
            <a:r>
              <a:rPr lang="en-US"/>
              <a:t>230-CDSOFT-02-003 PROCEDIMIENTO…</a:t>
            </a:r>
          </a:p>
          <a:p>
            <a:pPr marL="228600" indent="-228600">
              <a:buFont typeface=""/>
              <a:buChar char="•"/>
            </a:pPr>
            <a:br>
              <a:rPr lang="en-US"/>
            </a:br>
            <a:r>
              <a:rPr lang="en-US"/>
              <a:t>La estabilidad es lo que amortigua la rotación.</a:t>
            </a:r>
          </a:p>
          <a:p>
            <a:r>
              <a:rPr lang="en-US" b="1"/>
              <a:t>Plan rápido (30 días) para que se note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Semana 1:</a:t>
            </a:r>
            <a:r>
              <a:rPr lang="en-US"/>
              <a:t> kit FUTCO-way + DoD + plantilla de entrega a TIC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Semana 2:</a:t>
            </a:r>
            <a:r>
              <a:rPr lang="en-US"/>
              <a:t> onboarding 10 días + buddy system + primer sprint de aterrizaje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Semana 3:</a:t>
            </a:r>
            <a:r>
              <a:rPr lang="en-US"/>
              <a:t> CI básico + checklist PR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Semana 4:</a:t>
            </a:r>
            <a:r>
              <a:rPr lang="en-US"/>
              <a:t> medir: tiempo a primer PR, defectos por sprint, retrabajo en entrega</a:t>
            </a:r>
          </a:p>
          <a:p>
            <a:r>
              <a:rPr lang="en-US"/>
              <a:t>Si quieres, con base en tus 5 procedimientos, te armo </a:t>
            </a:r>
            <a:r>
              <a:rPr lang="en-US" b="1"/>
              <a:t>dos anexos listos</a:t>
            </a:r>
            <a:r>
              <a:rPr lang="en-US"/>
              <a:t> para pegar:</a:t>
            </a:r>
          </a:p>
          <a:p>
            <a:pPr marL="228600" indent="-228600">
              <a:buFont typeface=""/>
              <a:buAutoNum type="arabicPeriod"/>
            </a:pPr>
            <a:r>
              <a:rPr lang="en-US" b="1"/>
              <a:t>Guía de Onboarding CDT (10 días)</a:t>
            </a:r>
            <a:r>
              <a:rPr lang="en-US"/>
              <a:t> y 2) </a:t>
            </a:r>
            <a:r>
              <a:rPr lang="en-US" b="1"/>
              <a:t>DoD + Checklist de PR + Checklist de entrega a TIC</a:t>
            </a:r>
            <a:r>
              <a:rPr lang="en-US"/>
              <a:t> (alineados a lo que ya tienen).</a:t>
            </a:r>
          </a:p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85051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2D863-A393-4EAB-198F-DF14CC531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373393-353D-446F-B3FA-1F9D1E386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Semillero de </a:t>
            </a:r>
            <a:r>
              <a:rPr lang="es-ES" dirty="0" err="1"/>
              <a:t>Formacion</a:t>
            </a:r>
            <a:r>
              <a:rPr lang="es-ES" dirty="0"/>
              <a:t> CDT FUTCO (Previo a la practica)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29201A-1A88-F46D-0AC6-15CD9433E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25000" lnSpcReduction="20000"/>
          </a:bodyPr>
          <a:lstStyle/>
          <a:p>
            <a:r>
              <a:rPr lang="es-ES"/>
              <a:t>Semillero de Formación CDT (Previo a la práctica)</a:t>
            </a:r>
          </a:p>
          <a:p>
            <a:r>
              <a:rPr lang="es-ES"/>
              <a:t>1) Propósito</a:t>
            </a:r>
          </a:p>
          <a:p>
            <a:r>
              <a:rPr lang="es-ES">
                <a:ea typeface="+mn-lt"/>
                <a:cs typeface="+mn-lt"/>
              </a:rPr>
              <a:t>Formar estudiantes </a:t>
            </a:r>
            <a:r>
              <a:rPr lang="es-ES" b="1">
                <a:ea typeface="+mn-lt"/>
                <a:cs typeface="+mn-lt"/>
              </a:rPr>
              <a:t>antes</a:t>
            </a:r>
            <a:r>
              <a:rPr lang="es-ES">
                <a:ea typeface="+mn-lt"/>
                <a:cs typeface="+mn-lt"/>
              </a:rPr>
              <a:t> de entrar a proyectos reales, de modo que ingresen con:</a:t>
            </a:r>
          </a:p>
          <a:p>
            <a:r>
              <a:rPr lang="es-ES">
                <a:ea typeface="+mn-lt"/>
                <a:cs typeface="+mn-lt"/>
              </a:rPr>
              <a:t>manejo del flujo Scrum (backlog/sprint/daily/review/retro) </a:t>
            </a:r>
          </a:p>
          <a:p>
            <a:r>
              <a:rPr lang="es-ES">
                <a:ea typeface="+mn-lt"/>
                <a:cs typeface="+mn-lt"/>
              </a:rPr>
              <a:t>230-CDSOFT-02-003 PROCEDIMIENTO…</a:t>
            </a:r>
          </a:p>
          <a:p>
            <a:r>
              <a:rPr lang="es-ES">
                <a:ea typeface="+mn-lt"/>
                <a:cs typeface="+mn-lt"/>
              </a:rPr>
              <a:t>230-CDSOFT-02-003 PROCEDIMIENTO…</a:t>
            </a:r>
          </a:p>
          <a:p>
            <a:r>
              <a:rPr lang="es-ES">
                <a:ea typeface="+mn-lt"/>
                <a:cs typeface="+mn-lt"/>
              </a:rPr>
              <a:t>habilidades de requerimientos (visión/SRC/SRS, casos de uso, historias) </a:t>
            </a:r>
          </a:p>
          <a:p>
            <a:r>
              <a:rPr lang="es-ES">
                <a:ea typeface="+mn-lt"/>
                <a:cs typeface="+mn-lt"/>
              </a:rPr>
              <a:t>230-CDSOFT-02-001 PROCEDIMIENTO…</a:t>
            </a:r>
          </a:p>
          <a:p>
            <a:r>
              <a:rPr lang="es-ES">
                <a:ea typeface="+mn-lt"/>
                <a:cs typeface="+mn-lt"/>
              </a:rPr>
              <a:t>diseño (UML + prototipo no funcional + acta de aprobación) </a:t>
            </a:r>
          </a:p>
          <a:p>
            <a:r>
              <a:rPr lang="es-ES">
                <a:ea typeface="+mn-lt"/>
                <a:cs typeface="+mn-lt"/>
              </a:rPr>
              <a:t>230-CDSOFT-02-002 PROCEDIMIENTO…</a:t>
            </a:r>
          </a:p>
          <a:p>
            <a:r>
              <a:rPr lang="es-ES">
                <a:ea typeface="+mn-lt"/>
                <a:cs typeface="+mn-lt"/>
              </a:rPr>
              <a:t>230-CDSOFT-02-002 PROCEDIMIENTO…</a:t>
            </a:r>
          </a:p>
          <a:p>
            <a:r>
              <a:rPr lang="es-ES">
                <a:ea typeface="+mn-lt"/>
                <a:cs typeface="+mn-lt"/>
              </a:rPr>
              <a:t>testing (plan de pruebas + unitarias + retroalimentación) </a:t>
            </a:r>
          </a:p>
          <a:p>
            <a:r>
              <a:rPr lang="es-ES">
                <a:ea typeface="+mn-lt"/>
                <a:cs typeface="+mn-lt"/>
              </a:rPr>
              <a:t>230-CDSOFT-02-004 PROCEDIMIENTO…</a:t>
            </a:r>
          </a:p>
          <a:p>
            <a:r>
              <a:rPr lang="es-ES">
                <a:ea typeface="+mn-lt"/>
                <a:cs typeface="+mn-lt"/>
              </a:rPr>
              <a:t>230-CDSOFT-02-004 PROCEDIMIENTO…</a:t>
            </a:r>
          </a:p>
          <a:p>
            <a:r>
              <a:rPr lang="es-ES">
                <a:ea typeface="+mn-lt"/>
                <a:cs typeface="+mn-lt"/>
              </a:rPr>
              <a:t>entrega formal a TIC (manuales + código + acta, OTRS) </a:t>
            </a:r>
          </a:p>
          <a:p>
            <a:r>
              <a:rPr lang="es-ES">
                <a:ea typeface="+mn-lt"/>
                <a:cs typeface="+mn-lt"/>
              </a:rPr>
              <a:t>230-CDSOFT-02-005 PROCEDIMIENTO…</a:t>
            </a:r>
          </a:p>
          <a:p>
            <a:r>
              <a:rPr lang="es-ES">
                <a:ea typeface="+mn-lt"/>
                <a:cs typeface="+mn-lt"/>
              </a:rPr>
              <a:t>230-CDSOFT-02-005 PROCEDIMIENTO…</a:t>
            </a:r>
          </a:p>
          <a:p>
            <a:r>
              <a:rPr lang="es-ES">
                <a:ea typeface="+mn-lt"/>
                <a:cs typeface="+mn-lt"/>
              </a:rPr>
              <a:t>230-CDSOFT-02-005 PROCEDIMIENTO…</a:t>
            </a:r>
          </a:p>
          <a:p>
            <a:br>
              <a:rPr lang="en-US" dirty="0"/>
            </a:br>
            <a:endParaRPr lang="en-US" dirty="0"/>
          </a:p>
          <a:p>
            <a:r>
              <a:rPr lang="es-ES"/>
              <a:t>2) Duración y formato (ligero y realista)</a:t>
            </a:r>
          </a:p>
          <a:p>
            <a:r>
              <a:rPr lang="es-ES" b="1">
                <a:ea typeface="+mn-lt"/>
                <a:cs typeface="+mn-lt"/>
              </a:rPr>
              <a:t>4 semanas (20–30 horas)</a:t>
            </a:r>
            <a:r>
              <a:rPr lang="es-ES">
                <a:ea typeface="+mn-lt"/>
                <a:cs typeface="+mn-lt"/>
              </a:rPr>
              <a:t> o </a:t>
            </a:r>
            <a:r>
              <a:rPr lang="es-ES" b="1">
                <a:ea typeface="+mn-lt"/>
                <a:cs typeface="+mn-lt"/>
              </a:rPr>
              <a:t>6 semanas (40 horas)</a:t>
            </a:r>
            <a:endParaRPr lang="es-ES">
              <a:ea typeface="+mn-lt"/>
              <a:cs typeface="+mn-lt"/>
            </a:endParaRPr>
          </a:p>
          <a:p>
            <a:r>
              <a:rPr lang="es-ES">
                <a:ea typeface="+mn-lt"/>
                <a:cs typeface="+mn-lt"/>
              </a:rPr>
              <a:t>2 sesiones por semana + 1 espacio de práctica guiada</a:t>
            </a:r>
          </a:p>
          <a:p>
            <a:r>
              <a:rPr lang="es-ES">
                <a:ea typeface="+mn-lt"/>
                <a:cs typeface="+mn-lt"/>
              </a:rPr>
              <a:t>metodología: </a:t>
            </a:r>
            <a:r>
              <a:rPr lang="es-ES" b="1">
                <a:ea typeface="+mn-lt"/>
                <a:cs typeface="+mn-lt"/>
              </a:rPr>
              <a:t>micro-sprints</a:t>
            </a:r>
            <a:r>
              <a:rPr lang="es-ES">
                <a:ea typeface="+mn-lt"/>
                <a:cs typeface="+mn-lt"/>
              </a:rPr>
              <a:t> y “aprender haciendo”</a:t>
            </a:r>
          </a:p>
          <a:p>
            <a:br>
              <a:rPr lang="en-US" dirty="0"/>
            </a:br>
            <a:endParaRPr lang="en-US" dirty="0"/>
          </a:p>
          <a:p>
            <a:r>
              <a:rPr lang="es-ES"/>
              <a:t>3) Malla del Semillero (por módulos)</a:t>
            </a:r>
          </a:p>
          <a:p>
            <a:r>
              <a:rPr lang="es-ES"/>
              <a:t>Módulo 0 — Inducción CDT (1 sesión)</a:t>
            </a:r>
          </a:p>
          <a:p>
            <a:r>
              <a:rPr lang="es-ES">
                <a:ea typeface="+mn-lt"/>
                <a:cs typeface="+mn-lt"/>
              </a:rPr>
              <a:t>Cómo funciona el CDT, roles y responsabilidades (Líder, Equipo, Coordinador) </a:t>
            </a:r>
          </a:p>
          <a:p>
            <a:r>
              <a:rPr lang="es-ES">
                <a:ea typeface="+mn-lt"/>
                <a:cs typeface="+mn-lt"/>
              </a:rPr>
              <a:t>230-CDSOFT-02-003 PROCEDIMIENTO…</a:t>
            </a:r>
          </a:p>
          <a:p>
            <a:r>
              <a:rPr lang="es-ES">
                <a:ea typeface="+mn-lt"/>
                <a:cs typeface="+mn-lt"/>
              </a:rPr>
              <a:t>“Qué se espera de mí” (disciplina, comunicación, evidencia)</a:t>
            </a:r>
          </a:p>
          <a:p>
            <a:r>
              <a:rPr lang="es-ES"/>
              <a:t>Módulo 1 — Requerimientos (1 semana)</a:t>
            </a:r>
          </a:p>
          <a:p>
            <a:r>
              <a:rPr lang="es-ES">
                <a:ea typeface="+mn-lt"/>
                <a:cs typeface="+mn-lt"/>
              </a:rPr>
              <a:t>entrevistas y registro (preguntas, actas, grabaciones) </a:t>
            </a:r>
          </a:p>
          <a:p>
            <a:r>
              <a:rPr lang="es-ES">
                <a:ea typeface="+mn-lt"/>
                <a:cs typeface="+mn-lt"/>
              </a:rPr>
              <a:t>230-CDSOFT-02-001 PROCEDIMIENTO…</a:t>
            </a:r>
          </a:p>
          <a:p>
            <a:r>
              <a:rPr lang="es-ES">
                <a:ea typeface="+mn-lt"/>
                <a:cs typeface="+mn-lt"/>
              </a:rPr>
              <a:t>230-CDSOFT-02-001 PROCEDIMIENTO…</a:t>
            </a:r>
          </a:p>
          <a:p>
            <a:r>
              <a:rPr lang="es-ES">
                <a:ea typeface="+mn-lt"/>
                <a:cs typeface="+mn-lt"/>
              </a:rPr>
              <a:t>documentos: Visión/SRC/SRS + casos de uso + historias </a:t>
            </a:r>
          </a:p>
          <a:p>
            <a:r>
              <a:rPr lang="es-ES">
                <a:ea typeface="+mn-lt"/>
                <a:cs typeface="+mn-lt"/>
              </a:rPr>
              <a:t>230-CDSOFT-02-001 PROCEDIMIENTO…</a:t>
            </a:r>
          </a:p>
          <a:p>
            <a:br>
              <a:rPr lang="en-US" dirty="0"/>
            </a:br>
            <a:r>
              <a:rPr lang="es-ES" b="1">
                <a:ea typeface="+mn-lt"/>
                <a:cs typeface="+mn-lt"/>
              </a:rPr>
              <a:t>Producto:</a:t>
            </a:r>
            <a:r>
              <a:rPr lang="es-ES">
                <a:ea typeface="+mn-lt"/>
                <a:cs typeface="+mn-lt"/>
              </a:rPr>
              <a:t> mini SRS + 5 historias de usuario bien escritas (con criterios de aceptación)</a:t>
            </a:r>
          </a:p>
          <a:p>
            <a:r>
              <a:rPr lang="es-ES"/>
              <a:t>Módulo 2 — Diseño (1 semana)</a:t>
            </a:r>
          </a:p>
          <a:p>
            <a:r>
              <a:rPr lang="es-ES">
                <a:ea typeface="+mn-lt"/>
                <a:cs typeface="+mn-lt"/>
              </a:rPr>
              <a:t>UML básico + prototipo no funcional </a:t>
            </a:r>
          </a:p>
          <a:p>
            <a:r>
              <a:rPr lang="es-ES">
                <a:ea typeface="+mn-lt"/>
                <a:cs typeface="+mn-lt"/>
              </a:rPr>
              <a:t>230-CDSOFT-02-002 PROCEDIMIENTO…</a:t>
            </a:r>
          </a:p>
          <a:p>
            <a:r>
              <a:rPr lang="es-ES">
                <a:ea typeface="+mn-lt"/>
                <a:cs typeface="+mn-lt"/>
              </a:rPr>
              <a:t>trabajo en Trello + reuniones (calendario/actas) </a:t>
            </a:r>
          </a:p>
          <a:p>
            <a:r>
              <a:rPr lang="es-ES">
                <a:ea typeface="+mn-lt"/>
                <a:cs typeface="+mn-lt"/>
              </a:rPr>
              <a:t>230-CDSOFT-02-002 PROCEDIMIENTO…</a:t>
            </a:r>
          </a:p>
          <a:p>
            <a:br>
              <a:rPr lang="en-US" dirty="0"/>
            </a:br>
            <a:r>
              <a:rPr lang="es-ES" b="1">
                <a:ea typeface="+mn-lt"/>
                <a:cs typeface="+mn-lt"/>
              </a:rPr>
              <a:t>Producto:</a:t>
            </a:r>
            <a:r>
              <a:rPr lang="es-ES">
                <a:ea typeface="+mn-lt"/>
                <a:cs typeface="+mn-lt"/>
              </a:rPr>
              <a:t> diagrama UML + prototipo + </a:t>
            </a:r>
            <a:r>
              <a:rPr lang="es-ES" b="1">
                <a:ea typeface="+mn-lt"/>
                <a:cs typeface="+mn-lt"/>
              </a:rPr>
              <a:t>acta de aprobación</a:t>
            </a:r>
            <a:r>
              <a:rPr lang="es-ES">
                <a:ea typeface="+mn-lt"/>
                <a:cs typeface="+mn-lt"/>
              </a:rPr>
              <a:t> </a:t>
            </a:r>
          </a:p>
          <a:p>
            <a:r>
              <a:rPr lang="es-ES">
                <a:ea typeface="+mn-lt"/>
                <a:cs typeface="+mn-lt"/>
              </a:rPr>
              <a:t>230-CDSOFT-02-002 PROCEDIMIENTO…</a:t>
            </a:r>
          </a:p>
          <a:p>
            <a:r>
              <a:rPr lang="es-ES"/>
              <a:t>Módulo 3 — Desarrollo con Scrum (1–2 semanas)</a:t>
            </a:r>
          </a:p>
          <a:p>
            <a:r>
              <a:rPr lang="es-ES">
                <a:ea typeface="+mn-lt"/>
                <a:cs typeface="+mn-lt"/>
              </a:rPr>
              <a:t>backlog, sprint planning, daily, review, retro </a:t>
            </a:r>
          </a:p>
          <a:p>
            <a:r>
              <a:rPr lang="es-ES">
                <a:ea typeface="+mn-lt"/>
                <a:cs typeface="+mn-lt"/>
              </a:rPr>
              <a:t>230-CDSOFT-02-003 PROCEDIMIENTO…</a:t>
            </a:r>
          </a:p>
          <a:p>
            <a:r>
              <a:rPr lang="es-ES">
                <a:ea typeface="+mn-lt"/>
                <a:cs typeface="+mn-lt"/>
              </a:rPr>
              <a:t>cómo estimar, dividir tareas y entregar incrementos </a:t>
            </a:r>
          </a:p>
          <a:p>
            <a:r>
              <a:rPr lang="es-ES">
                <a:ea typeface="+mn-lt"/>
                <a:cs typeface="+mn-lt"/>
              </a:rPr>
              <a:t>230-CDSOFT-02-003 PROCEDIMIENTO…</a:t>
            </a:r>
          </a:p>
          <a:p>
            <a:r>
              <a:rPr lang="es-ES">
                <a:ea typeface="+mn-lt"/>
                <a:cs typeface="+mn-lt"/>
              </a:rPr>
              <a:t>230-CDSOFT-02-003 PROCEDIMIENTO…</a:t>
            </a:r>
          </a:p>
          <a:p>
            <a:br>
              <a:rPr lang="en-US" dirty="0"/>
            </a:br>
            <a:r>
              <a:rPr lang="es-ES" b="1">
                <a:ea typeface="+mn-lt"/>
                <a:cs typeface="+mn-lt"/>
              </a:rPr>
              <a:t>Producto:</a:t>
            </a:r>
            <a:r>
              <a:rPr lang="es-ES">
                <a:ea typeface="+mn-lt"/>
                <a:cs typeface="+mn-lt"/>
              </a:rPr>
              <a:t> MVP pequeño funcionando (lo importante es el proceso, no el tamaño)</a:t>
            </a:r>
          </a:p>
          <a:p>
            <a:r>
              <a:rPr lang="es-ES"/>
              <a:t>Módulo 4 — Testing y calidad (1 semana)</a:t>
            </a:r>
          </a:p>
          <a:p>
            <a:r>
              <a:rPr lang="es-ES">
                <a:ea typeface="+mn-lt"/>
                <a:cs typeface="+mn-lt"/>
              </a:rPr>
              <a:t>plan de pruebas con entradas/salidas y criterios de aceptación </a:t>
            </a:r>
          </a:p>
          <a:p>
            <a:r>
              <a:rPr lang="es-ES">
                <a:ea typeface="+mn-lt"/>
                <a:cs typeface="+mn-lt"/>
              </a:rPr>
              <a:t>230-CDSOFT-02-004 PROCEDIMIENTO…</a:t>
            </a:r>
          </a:p>
          <a:p>
            <a:r>
              <a:rPr lang="es-ES">
                <a:ea typeface="+mn-lt"/>
                <a:cs typeface="+mn-lt"/>
              </a:rPr>
              <a:t>230-CDSOFT-02-004 PROCEDIMIENTO…</a:t>
            </a:r>
          </a:p>
          <a:p>
            <a:r>
              <a:rPr lang="es-ES">
                <a:ea typeface="+mn-lt"/>
                <a:cs typeface="+mn-lt"/>
              </a:rPr>
              <a:t>pruebas unitarias documentadas + retroalimentación </a:t>
            </a:r>
          </a:p>
          <a:p>
            <a:r>
              <a:rPr lang="es-ES">
                <a:ea typeface="+mn-lt"/>
                <a:cs typeface="+mn-lt"/>
              </a:rPr>
              <a:t>230-CDSOFT-02-004 PROCEDIMIENTO…</a:t>
            </a:r>
          </a:p>
          <a:p>
            <a:r>
              <a:rPr lang="es-ES">
                <a:ea typeface="+mn-lt"/>
                <a:cs typeface="+mn-lt"/>
              </a:rPr>
              <a:t>230-CDSOFT-02-004 PROCEDIMIENTO…</a:t>
            </a:r>
          </a:p>
          <a:p>
            <a:br>
              <a:rPr lang="en-US" dirty="0"/>
            </a:br>
            <a:r>
              <a:rPr lang="es-ES" b="1">
                <a:ea typeface="+mn-lt"/>
                <a:cs typeface="+mn-lt"/>
              </a:rPr>
              <a:t>Producto:</a:t>
            </a:r>
            <a:r>
              <a:rPr lang="es-ES">
                <a:ea typeface="+mn-lt"/>
                <a:cs typeface="+mn-lt"/>
              </a:rPr>
              <a:t> plan de pruebas + evidencia de ejecución (cumple/no cumple)</a:t>
            </a:r>
          </a:p>
          <a:p>
            <a:r>
              <a:rPr lang="es-ES"/>
              <a:t>Módulo 5 — Entrega a TIC (1 sesión + práctica)</a:t>
            </a:r>
          </a:p>
          <a:p>
            <a:r>
              <a:rPr lang="es-ES">
                <a:ea typeface="+mn-lt"/>
                <a:cs typeface="+mn-lt"/>
              </a:rPr>
              <a:t>paquete de entrega: manual usuario, manual técnico, código fuente </a:t>
            </a:r>
          </a:p>
          <a:p>
            <a:r>
              <a:rPr lang="es-ES">
                <a:ea typeface="+mn-lt"/>
                <a:cs typeface="+mn-lt"/>
              </a:rPr>
              <a:t>230-CDSOFT-02-005 PROCEDIMIENTO…</a:t>
            </a:r>
          </a:p>
          <a:p>
            <a:r>
              <a:rPr lang="es-ES">
                <a:ea typeface="+mn-lt"/>
                <a:cs typeface="+mn-lt"/>
              </a:rPr>
              <a:t>solicitud en OTRS + acta de entrega/aceptación </a:t>
            </a:r>
          </a:p>
          <a:p>
            <a:r>
              <a:rPr lang="es-ES">
                <a:ea typeface="+mn-lt"/>
                <a:cs typeface="+mn-lt"/>
              </a:rPr>
              <a:t>230-CDSOFT-02-005 PROCEDIMIENTO…</a:t>
            </a:r>
          </a:p>
          <a:p>
            <a:r>
              <a:rPr lang="es-ES">
                <a:ea typeface="+mn-lt"/>
                <a:cs typeface="+mn-lt"/>
              </a:rPr>
              <a:t>230-CDSOFT-02-005 PROCEDIMIENTO…</a:t>
            </a:r>
          </a:p>
          <a:p>
            <a:br>
              <a:rPr lang="en-US" dirty="0"/>
            </a:br>
            <a:r>
              <a:rPr lang="es-ES" b="1">
                <a:ea typeface="+mn-lt"/>
                <a:cs typeface="+mn-lt"/>
              </a:rPr>
              <a:t>Producto:</a:t>
            </a:r>
            <a:r>
              <a:rPr lang="es-ES">
                <a:ea typeface="+mn-lt"/>
                <a:cs typeface="+mn-lt"/>
              </a:rPr>
              <a:t> “Entrega simulada” completa (como si fuera real)</a:t>
            </a:r>
          </a:p>
          <a:p>
            <a:br>
              <a:rPr lang="en-US" dirty="0"/>
            </a:br>
            <a:endParaRPr lang="en-US" dirty="0"/>
          </a:p>
          <a:p>
            <a:r>
              <a:rPr lang="es-ES"/>
              <a:t>4) Gate de entrada al CDT (criterio de aprobación del Semillero)</a:t>
            </a:r>
          </a:p>
          <a:p>
            <a:r>
              <a:rPr lang="es-ES">
                <a:ea typeface="+mn-lt"/>
                <a:cs typeface="+mn-lt"/>
              </a:rPr>
              <a:t>Un estudiante </a:t>
            </a:r>
            <a:r>
              <a:rPr lang="es-ES" b="1">
                <a:ea typeface="+mn-lt"/>
                <a:cs typeface="+mn-lt"/>
              </a:rPr>
              <a:t>solo entra a proyectos reales</a:t>
            </a:r>
            <a:r>
              <a:rPr lang="es-ES">
                <a:ea typeface="+mn-lt"/>
                <a:cs typeface="+mn-lt"/>
              </a:rPr>
              <a:t> si cumple:</a:t>
            </a:r>
          </a:p>
          <a:p>
            <a:r>
              <a:rPr lang="es-ES">
                <a:ea typeface="+mn-lt"/>
                <a:cs typeface="+mn-lt"/>
              </a:rPr>
              <a:t>completó 1 ciclo completo (requerimientos→diseño→dev→test→entrega)</a:t>
            </a:r>
          </a:p>
          <a:p>
            <a:r>
              <a:rPr lang="es-ES">
                <a:ea typeface="+mn-lt"/>
                <a:cs typeface="+mn-lt"/>
              </a:rPr>
              <a:t>entregó evidencias mínimas (actas, documentos, plan de pruebas, manuales) </a:t>
            </a:r>
          </a:p>
          <a:p>
            <a:r>
              <a:rPr lang="es-ES">
                <a:ea typeface="+mn-lt"/>
                <a:cs typeface="+mn-lt"/>
              </a:rPr>
              <a:t>230-CDSOFT-02-005 PROCEDIMIENTO…</a:t>
            </a:r>
          </a:p>
          <a:p>
            <a:r>
              <a:rPr lang="es-ES">
                <a:ea typeface="+mn-lt"/>
                <a:cs typeface="+mn-lt"/>
              </a:rPr>
              <a:t>230-CDSOFT-02-004 PROCEDIMIENTO…</a:t>
            </a:r>
          </a:p>
          <a:p>
            <a:r>
              <a:rPr lang="es-ES">
                <a:ea typeface="+mn-lt"/>
                <a:cs typeface="+mn-lt"/>
              </a:rPr>
              <a:t>participó en al menos 1 sprint con dailys + review + retro </a:t>
            </a:r>
          </a:p>
          <a:p>
            <a:r>
              <a:rPr lang="es-ES">
                <a:ea typeface="+mn-lt"/>
                <a:cs typeface="+mn-lt"/>
              </a:rPr>
              <a:t>230-CDSOFT-02-003 PROCEDIMIENTO…</a:t>
            </a:r>
          </a:p>
          <a:p>
            <a:br>
              <a:rPr lang="en-US" dirty="0"/>
            </a:br>
            <a:endParaRPr lang="en-US" dirty="0"/>
          </a:p>
          <a:p>
            <a:r>
              <a:rPr lang="es-ES"/>
              <a:t>5) Operación del Semillero (para que sea sostenible)</a:t>
            </a:r>
          </a:p>
          <a:p>
            <a:r>
              <a:rPr lang="es-ES" b="1">
                <a:ea typeface="+mn-lt"/>
                <a:cs typeface="+mn-lt"/>
              </a:rPr>
              <a:t>Cohortes</a:t>
            </a:r>
            <a:r>
              <a:rPr lang="es-ES">
                <a:ea typeface="+mn-lt"/>
                <a:cs typeface="+mn-lt"/>
              </a:rPr>
              <a:t> (cada 4–6 semanas)</a:t>
            </a:r>
          </a:p>
          <a:p>
            <a:r>
              <a:rPr lang="es-ES" b="1">
                <a:ea typeface="+mn-lt"/>
                <a:cs typeface="+mn-lt"/>
              </a:rPr>
              <a:t>Monitor estudiante avanzado</a:t>
            </a:r>
            <a:r>
              <a:rPr lang="es-ES">
                <a:ea typeface="+mn-lt"/>
                <a:cs typeface="+mn-lt"/>
              </a:rPr>
              <a:t> (apoya PR/revisiones y desbloqueos)</a:t>
            </a:r>
          </a:p>
          <a:p>
            <a:r>
              <a:rPr lang="es-ES" b="1">
                <a:ea typeface="+mn-lt"/>
                <a:cs typeface="+mn-lt"/>
              </a:rPr>
              <a:t>Líder técnico</a:t>
            </a:r>
            <a:r>
              <a:rPr lang="es-ES">
                <a:ea typeface="+mn-lt"/>
                <a:cs typeface="+mn-lt"/>
              </a:rPr>
              <a:t> valida estándares (calidad) y define ejercicios</a:t>
            </a:r>
          </a:p>
          <a:p>
            <a:r>
              <a:rPr lang="es-ES" b="1">
                <a:ea typeface="+mn-lt"/>
                <a:cs typeface="+mn-lt"/>
              </a:rPr>
              <a:t>Coordinador</a:t>
            </a:r>
            <a:r>
              <a:rPr lang="es-ES">
                <a:ea typeface="+mn-lt"/>
                <a:cs typeface="+mn-lt"/>
              </a:rPr>
              <a:t> controla evidencias y certifica ingreso</a:t>
            </a:r>
          </a:p>
          <a:p>
            <a:br>
              <a:rPr lang="en-US" dirty="0"/>
            </a:br>
            <a:endParaRPr lang="en-US" dirty="0"/>
          </a:p>
          <a:p>
            <a:r>
              <a:rPr lang="es-ES"/>
              <a:t>6) Métricas que te muestran si bajó la curva</a:t>
            </a:r>
          </a:p>
          <a:p>
            <a:r>
              <a:rPr lang="es-ES">
                <a:ea typeface="+mn-lt"/>
                <a:cs typeface="+mn-lt"/>
              </a:rPr>
              <a:t>tiempo a “primer aporte útil” (primer entregable/PR aceptado)</a:t>
            </a:r>
          </a:p>
          <a:p>
            <a:r>
              <a:rPr lang="es-ES">
                <a:ea typeface="+mn-lt"/>
                <a:cs typeface="+mn-lt"/>
              </a:rPr>
              <a:t>retrabajo (entregables devueltos por calidad)</a:t>
            </a:r>
          </a:p>
          <a:p>
            <a:r>
              <a:rPr lang="es-ES">
                <a:ea typeface="+mn-lt"/>
                <a:cs typeface="+mn-lt"/>
              </a:rPr>
              <a:t>defectos encontrados en UAT/entrega a TIC</a:t>
            </a:r>
          </a:p>
          <a:p>
            <a:r>
              <a:rPr lang="es-ES">
                <a:ea typeface="+mn-lt"/>
                <a:cs typeface="+mn-lt"/>
              </a:rPr>
              <a:t>cumplimiento del sprint (historias terminadas vs comprometidas)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59985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2A5DE-9ABF-CFA4-47C2-6605D9395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FCBC87-E516-C3D8-700C-4A077E9E0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Como disminuir los tiempos de 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C5E6FA-38D5-4469-9FA9-CA22CDBA9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25000" lnSpcReduction="20000"/>
          </a:bodyPr>
          <a:lstStyle/>
          <a:p>
            <a:r>
              <a:rPr lang="es-ES" dirty="0">
                <a:ea typeface="+mn-lt"/>
                <a:cs typeface="+mn-lt"/>
              </a:rPr>
              <a:t>Para </a:t>
            </a:r>
            <a:r>
              <a:rPr lang="es-ES" b="1" dirty="0">
                <a:ea typeface="+mn-lt"/>
                <a:cs typeface="+mn-lt"/>
              </a:rPr>
              <a:t>disminuir los tiempos de desarrollo</a:t>
            </a:r>
            <a:r>
              <a:rPr lang="es-ES" dirty="0">
                <a:ea typeface="+mn-lt"/>
                <a:cs typeface="+mn-lt"/>
              </a:rPr>
              <a:t> en el CDT (con rotación de estudiantes), el truco es atacar 3 fuentes de demora: </a:t>
            </a:r>
            <a:r>
              <a:rPr lang="es-ES" b="1" dirty="0">
                <a:ea typeface="+mn-lt"/>
                <a:cs typeface="+mn-lt"/>
              </a:rPr>
              <a:t>retrabajo por requisitos</a:t>
            </a:r>
            <a:r>
              <a:rPr lang="es-ES" dirty="0">
                <a:ea typeface="+mn-lt"/>
                <a:cs typeface="+mn-lt"/>
              </a:rPr>
              <a:t>, </a:t>
            </a:r>
            <a:r>
              <a:rPr lang="es-ES" b="1" dirty="0" err="1">
                <a:ea typeface="+mn-lt"/>
                <a:cs typeface="+mn-lt"/>
              </a:rPr>
              <a:t>hándoffs</a:t>
            </a:r>
            <a:r>
              <a:rPr lang="es-ES" b="1" dirty="0">
                <a:ea typeface="+mn-lt"/>
                <a:cs typeface="+mn-lt"/>
              </a:rPr>
              <a:t> entre fases</a:t>
            </a:r>
            <a:r>
              <a:rPr lang="es-ES" dirty="0">
                <a:ea typeface="+mn-lt"/>
                <a:cs typeface="+mn-lt"/>
              </a:rPr>
              <a:t>, y </a:t>
            </a:r>
            <a:r>
              <a:rPr lang="es-ES" b="1" dirty="0">
                <a:ea typeface="+mn-lt"/>
                <a:cs typeface="+mn-lt"/>
              </a:rPr>
              <a:t>trabajo manual repetitivo</a:t>
            </a:r>
            <a:r>
              <a:rPr lang="es-ES" dirty="0">
                <a:ea typeface="+mn-lt"/>
                <a:cs typeface="+mn-lt"/>
              </a:rPr>
              <a:t> (pruebas/entrega). Tus procesos ya definen Scrum con </a:t>
            </a:r>
            <a:r>
              <a:rPr lang="es-ES" dirty="0" err="1">
                <a:ea typeface="+mn-lt"/>
                <a:cs typeface="+mn-lt"/>
              </a:rPr>
              <a:t>sprints</a:t>
            </a:r>
            <a:r>
              <a:rPr lang="es-ES" dirty="0">
                <a:ea typeface="+mn-lt"/>
                <a:cs typeface="+mn-lt"/>
              </a:rPr>
              <a:t>, </a:t>
            </a:r>
            <a:r>
              <a:rPr lang="es-ES" dirty="0" err="1">
                <a:ea typeface="+mn-lt"/>
                <a:cs typeface="+mn-lt"/>
              </a:rPr>
              <a:t>dailys</a:t>
            </a:r>
            <a:r>
              <a:rPr lang="es-ES" dirty="0">
                <a:ea typeface="+mn-lt"/>
                <a:cs typeface="+mn-lt"/>
              </a:rPr>
              <a:t> y backlog 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230-CDSOFT-02-003 PROCEDIMIENTO…</a:t>
            </a:r>
          </a:p>
          <a:p>
            <a:r>
              <a:rPr lang="es-ES" dirty="0">
                <a:ea typeface="+mn-lt"/>
                <a:cs typeface="+mn-lt"/>
              </a:rPr>
              <a:t>; ahora toca “hacerlos más livianos y más automáticos”.</a:t>
            </a:r>
          </a:p>
          <a:p>
            <a:r>
              <a:rPr lang="es-ES" dirty="0"/>
              <a:t>1) Reduce retrabajo desde Requerimientos (más velocidad = menos “rectificar”)</a:t>
            </a:r>
          </a:p>
          <a:p>
            <a:r>
              <a:rPr lang="es-ES" dirty="0">
                <a:ea typeface="+mn-lt"/>
                <a:cs typeface="+mn-lt"/>
              </a:rPr>
              <a:t>Hoy ustedes producen Visión/SRC/SRS/casos de uso/historias 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230-CDSOFT-02-001 PROCEDIMIENTO…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y contemplan rectificación y retroalimentación 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230-CDSOFT-02-001 PROCEDIMIENTO…</a:t>
            </a:r>
            <a:endParaRPr lang="es-ES"/>
          </a:p>
          <a:p>
            <a:r>
              <a:rPr lang="es-ES" dirty="0">
                <a:ea typeface="+mn-lt"/>
                <a:cs typeface="+mn-lt"/>
              </a:rPr>
              <a:t>. Para bajar tiempos:</a:t>
            </a:r>
            <a:endParaRPr lang="es-ES" dirty="0"/>
          </a:p>
          <a:p>
            <a:r>
              <a:rPr lang="es-ES" b="1" dirty="0" err="1">
                <a:ea typeface="+mn-lt"/>
                <a:cs typeface="+mn-lt"/>
              </a:rPr>
              <a:t>Definition</a:t>
            </a:r>
            <a:r>
              <a:rPr lang="es-ES" b="1" dirty="0">
                <a:ea typeface="+mn-lt"/>
                <a:cs typeface="+mn-lt"/>
              </a:rPr>
              <a:t> </a:t>
            </a:r>
            <a:r>
              <a:rPr lang="es-ES" b="1" dirty="0" err="1">
                <a:ea typeface="+mn-lt"/>
                <a:cs typeface="+mn-lt"/>
              </a:rPr>
              <a:t>of</a:t>
            </a:r>
            <a:r>
              <a:rPr lang="es-ES" b="1" dirty="0">
                <a:ea typeface="+mn-lt"/>
                <a:cs typeface="+mn-lt"/>
              </a:rPr>
              <a:t> </a:t>
            </a:r>
            <a:r>
              <a:rPr lang="es-ES" b="1" dirty="0" err="1">
                <a:ea typeface="+mn-lt"/>
                <a:cs typeface="+mn-lt"/>
              </a:rPr>
              <a:t>Ready</a:t>
            </a:r>
            <a:r>
              <a:rPr lang="es-ES" b="1" dirty="0">
                <a:ea typeface="+mn-lt"/>
                <a:cs typeface="+mn-lt"/>
              </a:rPr>
              <a:t> (</a:t>
            </a:r>
            <a:r>
              <a:rPr lang="es-ES" b="1" dirty="0" err="1">
                <a:ea typeface="+mn-lt"/>
                <a:cs typeface="+mn-lt"/>
              </a:rPr>
              <a:t>DoR</a:t>
            </a:r>
            <a:r>
              <a:rPr lang="es-ES" b="1" dirty="0">
                <a:ea typeface="+mn-lt"/>
                <a:cs typeface="+mn-lt"/>
              </a:rPr>
              <a:t>) por historia</a:t>
            </a:r>
            <a:r>
              <a:rPr lang="es-ES" dirty="0">
                <a:ea typeface="+mn-lt"/>
                <a:cs typeface="+mn-lt"/>
              </a:rPr>
              <a:t>: una historia entra a sprint solo si tiene </a:t>
            </a:r>
            <a:r>
              <a:rPr lang="es-ES" i="1" dirty="0">
                <a:ea typeface="+mn-lt"/>
                <a:cs typeface="+mn-lt"/>
              </a:rPr>
              <a:t>criterios de aceptación</a:t>
            </a:r>
            <a:r>
              <a:rPr lang="es-ES" dirty="0">
                <a:ea typeface="+mn-lt"/>
                <a:cs typeface="+mn-lt"/>
              </a:rPr>
              <a:t>, datos de prueba mínimos y alcance “NO incluye”. Esto reduce vueltas.</a:t>
            </a:r>
            <a:endParaRPr lang="es-ES" dirty="0"/>
          </a:p>
          <a:p>
            <a:r>
              <a:rPr lang="es-ES" b="1" dirty="0" err="1">
                <a:ea typeface="+mn-lt"/>
                <a:cs typeface="+mn-lt"/>
              </a:rPr>
              <a:t>Timebox</a:t>
            </a:r>
            <a:r>
              <a:rPr lang="es-ES" b="1" dirty="0">
                <a:ea typeface="+mn-lt"/>
                <a:cs typeface="+mn-lt"/>
              </a:rPr>
              <a:t> del análisis</a:t>
            </a:r>
            <a:r>
              <a:rPr lang="es-ES" dirty="0">
                <a:ea typeface="+mn-lt"/>
                <a:cs typeface="+mn-lt"/>
              </a:rPr>
              <a:t>: máximo 1–2 sesiones de levantamiento + 24–48h para cerrar historias “lista para sprint” (si no, se parte el MVP).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MVP por rebanadas verticales</a:t>
            </a:r>
            <a:r>
              <a:rPr lang="es-ES" dirty="0">
                <a:ea typeface="+mn-lt"/>
                <a:cs typeface="+mn-lt"/>
              </a:rPr>
              <a:t> (una funcionalidad completa de punta a punta por sprint), no por capas (primero todo diseño, luego todo código).</a:t>
            </a:r>
            <a:endParaRPr lang="es-ES" dirty="0"/>
          </a:p>
          <a:p>
            <a:r>
              <a:rPr lang="es-ES" dirty="0"/>
              <a:t>2) Acorta el ciclo </a:t>
            </a:r>
            <a:r>
              <a:rPr lang="es-ES" dirty="0" err="1"/>
              <a:t>Diseño→Dev</a:t>
            </a:r>
            <a:r>
              <a:rPr lang="es-ES" dirty="0"/>
              <a:t> (menos documentos nuevos, más plantillas)</a:t>
            </a:r>
          </a:p>
          <a:p>
            <a:r>
              <a:rPr lang="es-ES" dirty="0">
                <a:ea typeface="+mn-lt"/>
                <a:cs typeface="+mn-lt"/>
              </a:rPr>
              <a:t>Tu diseño pide prototipo y UML, con validación/aprobación 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230-CDSOFT-02-002 PROCEDIMIENTO…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. Para acelerar sin romper el proceso:</a:t>
            </a:r>
            <a:endParaRPr lang="es-ES" dirty="0"/>
          </a:p>
          <a:p>
            <a:r>
              <a:rPr lang="es-ES" b="1" dirty="0" err="1">
                <a:ea typeface="+mn-lt"/>
                <a:cs typeface="+mn-lt"/>
              </a:rPr>
              <a:t>Blueprints</a:t>
            </a:r>
            <a:r>
              <a:rPr lang="es-ES" b="1" dirty="0">
                <a:ea typeface="+mn-lt"/>
                <a:cs typeface="+mn-lt"/>
              </a:rPr>
              <a:t> “FUTCO-</a:t>
            </a:r>
            <a:r>
              <a:rPr lang="es-ES" b="1" dirty="0" err="1">
                <a:ea typeface="+mn-lt"/>
                <a:cs typeface="+mn-lt"/>
              </a:rPr>
              <a:t>way</a:t>
            </a:r>
            <a:r>
              <a:rPr lang="es-ES" b="1" dirty="0">
                <a:ea typeface="+mn-lt"/>
                <a:cs typeface="+mn-lt"/>
              </a:rPr>
              <a:t>”</a:t>
            </a:r>
            <a:r>
              <a:rPr lang="es-ES" dirty="0">
                <a:ea typeface="+mn-lt"/>
                <a:cs typeface="+mn-lt"/>
              </a:rPr>
              <a:t>: 2–3 arquitecturas de referencia (Web App, API, Formularios) + repos plantilla. Así el estudiante no inventa estructura cada vez.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UML mínimo viable</a:t>
            </a:r>
            <a:r>
              <a:rPr lang="es-ES" dirty="0">
                <a:ea typeface="+mn-lt"/>
                <a:cs typeface="+mn-lt"/>
              </a:rPr>
              <a:t>: solo 1 diagrama “</a:t>
            </a:r>
            <a:r>
              <a:rPr lang="es-ES" dirty="0" err="1">
                <a:ea typeface="+mn-lt"/>
                <a:cs typeface="+mn-lt"/>
              </a:rPr>
              <a:t>core</a:t>
            </a:r>
            <a:r>
              <a:rPr lang="es-ES" dirty="0">
                <a:ea typeface="+mn-lt"/>
                <a:cs typeface="+mn-lt"/>
              </a:rPr>
              <a:t>” (clases o actividades) + prototipo; el resto </a:t>
            </a:r>
            <a:r>
              <a:rPr lang="es-ES" i="1" dirty="0">
                <a:ea typeface="+mn-lt"/>
                <a:cs typeface="+mn-lt"/>
              </a:rPr>
              <a:t>solo si aporta</a:t>
            </a:r>
            <a:r>
              <a:rPr lang="es-ES" dirty="0">
                <a:ea typeface="+mn-lt"/>
                <a:cs typeface="+mn-lt"/>
              </a:rPr>
              <a:t> al sprint.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Aprobación por lote pequeño</a:t>
            </a:r>
            <a:r>
              <a:rPr lang="es-ES" dirty="0">
                <a:ea typeface="+mn-lt"/>
                <a:cs typeface="+mn-lt"/>
              </a:rPr>
              <a:t>: aprueba por módulo/historia, no todo el diseño completo antes de empezar.</a:t>
            </a:r>
            <a:endParaRPr lang="es-ES" dirty="0"/>
          </a:p>
          <a:p>
            <a:r>
              <a:rPr lang="es-ES" dirty="0"/>
              <a:t>3) Mete QA dentro del sprint (para que </a:t>
            </a:r>
            <a:r>
              <a:rPr lang="es-ES" dirty="0" err="1"/>
              <a:t>Testing</a:t>
            </a:r>
            <a:r>
              <a:rPr lang="es-ES" dirty="0"/>
              <a:t> no sea una fase “después”)</a:t>
            </a:r>
          </a:p>
          <a:p>
            <a:r>
              <a:rPr lang="es-ES" dirty="0">
                <a:ea typeface="+mn-lt"/>
                <a:cs typeface="+mn-lt"/>
              </a:rPr>
              <a:t>El procedimiento de </a:t>
            </a:r>
            <a:r>
              <a:rPr lang="es-ES" dirty="0" err="1">
                <a:ea typeface="+mn-lt"/>
                <a:cs typeface="+mn-lt"/>
              </a:rPr>
              <a:t>testing</a:t>
            </a:r>
            <a:r>
              <a:rPr lang="es-ES" dirty="0">
                <a:ea typeface="+mn-lt"/>
                <a:cs typeface="+mn-lt"/>
              </a:rPr>
              <a:t> está centrado en plan de pruebas + pruebas unitarias + retroalimentación 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230-CDSOFT-02-004 PROCEDIMIENTO…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. Para reducir tiempos: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QA “shift-</a:t>
            </a:r>
            <a:r>
              <a:rPr lang="es-ES" b="1" dirty="0" err="1">
                <a:ea typeface="+mn-lt"/>
                <a:cs typeface="+mn-lt"/>
              </a:rPr>
              <a:t>left</a:t>
            </a:r>
            <a:r>
              <a:rPr lang="es-ES" b="1" dirty="0">
                <a:ea typeface="+mn-lt"/>
                <a:cs typeface="+mn-lt"/>
              </a:rPr>
              <a:t>”</a:t>
            </a:r>
            <a:r>
              <a:rPr lang="es-ES" dirty="0">
                <a:ea typeface="+mn-lt"/>
                <a:cs typeface="+mn-lt"/>
              </a:rPr>
              <a:t>: el plan de pruebas se construye junto con criterios de aceptación (</a:t>
            </a:r>
            <a:r>
              <a:rPr lang="es-ES" dirty="0" err="1">
                <a:ea typeface="+mn-lt"/>
                <a:cs typeface="+mn-lt"/>
              </a:rPr>
              <a:t>DoR</a:t>
            </a:r>
            <a:r>
              <a:rPr lang="es-ES" dirty="0">
                <a:ea typeface="+mn-lt"/>
                <a:cs typeface="+mn-lt"/>
              </a:rPr>
              <a:t>) y se ejecuta durante el sprint, no al final.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Automatiza lo repetible</a:t>
            </a:r>
            <a:r>
              <a:rPr lang="es-ES" dirty="0">
                <a:ea typeface="+mn-lt"/>
                <a:cs typeface="+mn-lt"/>
              </a:rPr>
              <a:t>: que las pruebas unitarias se ejecuten con cada cambio (pipeline). Si falla, no se integra.</a:t>
            </a:r>
            <a:endParaRPr lang="es-ES" dirty="0"/>
          </a:p>
          <a:p>
            <a:r>
              <a:rPr lang="es-ES" b="1" dirty="0" err="1">
                <a:ea typeface="+mn-lt"/>
                <a:cs typeface="+mn-lt"/>
              </a:rPr>
              <a:t>Checklist</a:t>
            </a:r>
            <a:r>
              <a:rPr lang="es-ES" b="1" dirty="0">
                <a:ea typeface="+mn-lt"/>
                <a:cs typeface="+mn-lt"/>
              </a:rPr>
              <a:t> de salida por historia</a:t>
            </a:r>
            <a:r>
              <a:rPr lang="es-ES" dirty="0">
                <a:ea typeface="+mn-lt"/>
                <a:cs typeface="+mn-lt"/>
              </a:rPr>
              <a:t>: “no pasa a demo” si no tiene evidencia mínima (pruebas + criterios cumplidos).</a:t>
            </a:r>
            <a:endParaRPr lang="es-ES" dirty="0"/>
          </a:p>
          <a:p>
            <a:r>
              <a:rPr lang="es-ES" dirty="0"/>
              <a:t>4) Reduce el tiempo de entrega a TIC con empaquetado estándar</a:t>
            </a:r>
          </a:p>
          <a:p>
            <a:r>
              <a:rPr lang="es-ES" dirty="0">
                <a:ea typeface="+mn-lt"/>
                <a:cs typeface="+mn-lt"/>
              </a:rPr>
              <a:t>La entrega a TIC exige OTRS, manuales, código, configuración/servidores y acta 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230-CDSOFT-02-005 PROCEDIMIENTO…</a:t>
            </a:r>
            <a:endParaRPr lang="es-ES"/>
          </a:p>
          <a:p>
            <a:r>
              <a:rPr lang="es-ES" dirty="0">
                <a:ea typeface="+mn-lt"/>
                <a:cs typeface="+mn-lt"/>
              </a:rPr>
              <a:t>230-CDSOFT-02-005 PROCEDIMIENTO…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230-CDSOFT-02-005 PROCEDIMIENTO…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. Para acelerar: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Plantillas fijas</a:t>
            </a:r>
            <a:r>
              <a:rPr lang="es-ES" dirty="0">
                <a:ea typeface="+mn-lt"/>
                <a:cs typeface="+mn-lt"/>
              </a:rPr>
              <a:t> (manual usuario, manual técnico, acta) + </a:t>
            </a:r>
            <a:r>
              <a:rPr lang="es-ES" b="1" dirty="0">
                <a:ea typeface="+mn-lt"/>
                <a:cs typeface="+mn-lt"/>
              </a:rPr>
              <a:t>generación </a:t>
            </a:r>
            <a:r>
              <a:rPr lang="es-ES" b="1" dirty="0" err="1">
                <a:ea typeface="+mn-lt"/>
                <a:cs typeface="+mn-lt"/>
              </a:rPr>
              <a:t>semi-automática</a:t>
            </a:r>
            <a:r>
              <a:rPr lang="es-ES" dirty="0">
                <a:ea typeface="+mn-lt"/>
                <a:cs typeface="+mn-lt"/>
              </a:rPr>
              <a:t> (desde README + variables de entorno).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“</a:t>
            </a:r>
            <a:r>
              <a:rPr lang="es-ES" b="1" dirty="0" err="1">
                <a:ea typeface="+mn-lt"/>
                <a:cs typeface="+mn-lt"/>
              </a:rPr>
              <a:t>Release</a:t>
            </a:r>
            <a:r>
              <a:rPr lang="es-ES" b="1" dirty="0">
                <a:ea typeface="+mn-lt"/>
                <a:cs typeface="+mn-lt"/>
              </a:rPr>
              <a:t> </a:t>
            </a:r>
            <a:r>
              <a:rPr lang="es-ES" b="1" dirty="0" err="1">
                <a:ea typeface="+mn-lt"/>
                <a:cs typeface="+mn-lt"/>
              </a:rPr>
              <a:t>package</a:t>
            </a:r>
            <a:r>
              <a:rPr lang="es-ES" b="1" dirty="0">
                <a:ea typeface="+mn-lt"/>
                <a:cs typeface="+mn-lt"/>
              </a:rPr>
              <a:t>”</a:t>
            </a:r>
            <a:r>
              <a:rPr lang="es-ES" dirty="0">
                <a:ea typeface="+mn-lt"/>
                <a:cs typeface="+mn-lt"/>
              </a:rPr>
              <a:t> por versión: carpeta estándar con scripts, BD, parametrización inicial (ya lo piden) 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230-CDSOFT-02-005 PROCEDIMIENTO…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.</a:t>
            </a:r>
          </a:p>
          <a:p>
            <a:r>
              <a:rPr lang="es-ES" b="1" dirty="0">
                <a:ea typeface="+mn-lt"/>
                <a:cs typeface="+mn-lt"/>
              </a:rPr>
              <a:t>Pre-Gate técnico</a:t>
            </a:r>
            <a:r>
              <a:rPr lang="es-ES" dirty="0">
                <a:ea typeface="+mn-lt"/>
                <a:cs typeface="+mn-lt"/>
              </a:rPr>
              <a:t> antes de enviar a TIC: si no cumple </a:t>
            </a:r>
            <a:r>
              <a:rPr lang="es-ES" dirty="0" err="1">
                <a:ea typeface="+mn-lt"/>
                <a:cs typeface="+mn-lt"/>
              </a:rPr>
              <a:t>checklist</a:t>
            </a:r>
            <a:r>
              <a:rPr lang="es-ES" dirty="0">
                <a:ea typeface="+mn-lt"/>
                <a:cs typeface="+mn-lt"/>
              </a:rPr>
              <a:t>, no se crea OTRS (evita idas y vueltas).</a:t>
            </a:r>
            <a:endParaRPr lang="es-ES" dirty="0"/>
          </a:p>
          <a:p>
            <a:r>
              <a:rPr lang="es-ES" dirty="0"/>
              <a:t>5) Controla WIP (para que Scrum realmente baje tiempos)</a:t>
            </a:r>
          </a:p>
          <a:p>
            <a:r>
              <a:rPr lang="es-ES" dirty="0">
                <a:ea typeface="+mn-lt"/>
                <a:cs typeface="+mn-lt"/>
              </a:rPr>
              <a:t>Como ya manejan backlog, planificación, </a:t>
            </a:r>
            <a:r>
              <a:rPr lang="es-ES" dirty="0" err="1">
                <a:ea typeface="+mn-lt"/>
                <a:cs typeface="+mn-lt"/>
              </a:rPr>
              <a:t>dailys</a:t>
            </a:r>
            <a:r>
              <a:rPr lang="es-ES" dirty="0">
                <a:ea typeface="+mn-lt"/>
                <a:cs typeface="+mn-lt"/>
              </a:rPr>
              <a:t> y retrospectiva 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230-CDSOFT-02-003 PROCEDIMIENTO…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: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Límite de trabajo en progreso (WIP)</a:t>
            </a:r>
            <a:r>
              <a:rPr lang="es-ES" dirty="0">
                <a:ea typeface="+mn-lt"/>
                <a:cs typeface="+mn-lt"/>
              </a:rPr>
              <a:t>: máximo 1 tarea activa por </a:t>
            </a:r>
            <a:r>
              <a:rPr lang="es-ES" dirty="0" err="1">
                <a:ea typeface="+mn-lt"/>
                <a:cs typeface="+mn-lt"/>
              </a:rPr>
              <a:t>dev</a:t>
            </a:r>
            <a:r>
              <a:rPr lang="es-ES" dirty="0">
                <a:ea typeface="+mn-lt"/>
                <a:cs typeface="+mn-lt"/>
              </a:rPr>
              <a:t> (y 1 por QA). Menos multitarea = más velocidad.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Historias más pequeñas</a:t>
            </a:r>
            <a:r>
              <a:rPr lang="es-ES" dirty="0">
                <a:ea typeface="+mn-lt"/>
                <a:cs typeface="+mn-lt"/>
              </a:rPr>
              <a:t>: si una historia no cabe en 2–3 días, se parte.</a:t>
            </a:r>
            <a:endParaRPr lang="es-ES" dirty="0"/>
          </a:p>
          <a:p>
            <a:r>
              <a:rPr lang="es-ES" dirty="0"/>
              <a:t>6) Usa el Semillero previo como “acelerador de productividad”</a:t>
            </a:r>
          </a:p>
          <a:p>
            <a:r>
              <a:rPr lang="es-ES" dirty="0">
                <a:ea typeface="+mn-lt"/>
                <a:cs typeface="+mn-lt"/>
              </a:rPr>
              <a:t>El semillero no es solo formación: es </a:t>
            </a:r>
            <a:r>
              <a:rPr lang="es-ES" b="1" dirty="0">
                <a:ea typeface="+mn-lt"/>
                <a:cs typeface="+mn-lt"/>
              </a:rPr>
              <a:t>filtro y estandarización</a:t>
            </a:r>
            <a:r>
              <a:rPr lang="es-ES" dirty="0">
                <a:ea typeface="+mn-lt"/>
                <a:cs typeface="+mn-lt"/>
              </a:rPr>
              <a:t>.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Entrada al CDT real solo si el estudiante ya completó 1 </a:t>
            </a:r>
            <a:r>
              <a:rPr lang="es-ES" dirty="0" err="1">
                <a:ea typeface="+mn-lt"/>
                <a:cs typeface="+mn-lt"/>
              </a:rPr>
              <a:t>mini-ciclo</a:t>
            </a:r>
            <a:r>
              <a:rPr lang="es-ES" dirty="0">
                <a:ea typeface="+mn-lt"/>
                <a:cs typeface="+mn-lt"/>
              </a:rPr>
              <a:t> (</a:t>
            </a:r>
            <a:r>
              <a:rPr lang="es-ES" dirty="0" err="1">
                <a:ea typeface="+mn-lt"/>
                <a:cs typeface="+mn-lt"/>
              </a:rPr>
              <a:t>requerimientos→diseño→dev→test→entrega</a:t>
            </a:r>
            <a:r>
              <a:rPr lang="es-ES" dirty="0">
                <a:ea typeface="+mn-lt"/>
                <a:cs typeface="+mn-lt"/>
              </a:rPr>
              <a:t> simulada), alineado a sus evidencias.</a:t>
            </a:r>
            <a:endParaRPr lang="es-ES" dirty="0"/>
          </a:p>
          <a:p>
            <a:br>
              <a:rPr lang="en-US" dirty="0"/>
            </a:br>
            <a:endParaRPr lang="en-US" dirty="0"/>
          </a:p>
          <a:p>
            <a:r>
              <a:rPr lang="es-ES" dirty="0"/>
              <a:t>Quick </a:t>
            </a:r>
            <a:r>
              <a:rPr lang="es-ES" dirty="0" err="1"/>
              <a:t>wins</a:t>
            </a:r>
            <a:r>
              <a:rPr lang="es-ES" dirty="0"/>
              <a:t> (sin cambiar toda la operación)</a:t>
            </a:r>
          </a:p>
          <a:p>
            <a:r>
              <a:rPr lang="es-ES" b="1" dirty="0">
                <a:ea typeface="+mn-lt"/>
                <a:cs typeface="+mn-lt"/>
              </a:rPr>
              <a:t>En 2 semanas: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DoR</a:t>
            </a:r>
            <a:r>
              <a:rPr lang="es-ES" dirty="0">
                <a:ea typeface="+mn-lt"/>
                <a:cs typeface="+mn-lt"/>
              </a:rPr>
              <a:t> + WIP + plantillas de entrega a TIC.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En 30 días:</a:t>
            </a:r>
            <a:r>
              <a:rPr lang="es-ES" dirty="0">
                <a:ea typeface="+mn-lt"/>
                <a:cs typeface="+mn-lt"/>
              </a:rPr>
              <a:t> repos plantilla + pipeline de pruebas unitarias + </a:t>
            </a:r>
            <a:r>
              <a:rPr lang="es-ES" dirty="0" err="1">
                <a:ea typeface="+mn-lt"/>
                <a:cs typeface="+mn-lt"/>
              </a:rPr>
              <a:t>pre-gate</a:t>
            </a:r>
            <a:r>
              <a:rPr lang="es-ES" dirty="0">
                <a:ea typeface="+mn-lt"/>
                <a:cs typeface="+mn-lt"/>
              </a:rPr>
              <a:t> técnico.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En 60–90 días: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blueprints</a:t>
            </a:r>
            <a:r>
              <a:rPr lang="es-ES" dirty="0">
                <a:ea typeface="+mn-lt"/>
                <a:cs typeface="+mn-lt"/>
              </a:rPr>
              <a:t> + UAT por sprint + </a:t>
            </a:r>
            <a:r>
              <a:rPr lang="es-ES" dirty="0" err="1">
                <a:ea typeface="+mn-lt"/>
                <a:cs typeface="+mn-lt"/>
              </a:rPr>
              <a:t>release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package</a:t>
            </a:r>
            <a:r>
              <a:rPr lang="es-ES" dirty="0">
                <a:ea typeface="+mn-lt"/>
                <a:cs typeface="+mn-lt"/>
              </a:rPr>
              <a:t> por versión.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Si me dices </a:t>
            </a:r>
            <a:r>
              <a:rPr lang="es-ES" b="1" dirty="0">
                <a:ea typeface="+mn-lt"/>
                <a:cs typeface="+mn-lt"/>
              </a:rPr>
              <a:t>qué </a:t>
            </a:r>
            <a:r>
              <a:rPr lang="es-ES" b="1" dirty="0" err="1">
                <a:ea typeface="+mn-lt"/>
                <a:cs typeface="+mn-lt"/>
              </a:rPr>
              <a:t>stack</a:t>
            </a:r>
            <a:r>
              <a:rPr lang="es-ES" b="1" dirty="0">
                <a:ea typeface="+mn-lt"/>
                <a:cs typeface="+mn-lt"/>
              </a:rPr>
              <a:t> usan (lenguaje/</a:t>
            </a:r>
            <a:r>
              <a:rPr lang="es-ES" b="1" dirty="0" err="1">
                <a:ea typeface="+mn-lt"/>
                <a:cs typeface="+mn-lt"/>
              </a:rPr>
              <a:t>framework</a:t>
            </a:r>
            <a:r>
              <a:rPr lang="es-ES" b="1" dirty="0">
                <a:ea typeface="+mn-lt"/>
                <a:cs typeface="+mn-lt"/>
              </a:rPr>
              <a:t>)</a:t>
            </a:r>
            <a:r>
              <a:rPr lang="es-ES" dirty="0">
                <a:ea typeface="+mn-lt"/>
                <a:cs typeface="+mn-lt"/>
              </a:rPr>
              <a:t> y </a:t>
            </a:r>
            <a:r>
              <a:rPr lang="es-ES" b="1" dirty="0">
                <a:ea typeface="+mn-lt"/>
                <a:cs typeface="+mn-lt"/>
              </a:rPr>
              <a:t>si tienen ambientes QA/UAT o solo local</a:t>
            </a:r>
            <a:r>
              <a:rPr lang="es-ES" dirty="0">
                <a:ea typeface="+mn-lt"/>
                <a:cs typeface="+mn-lt"/>
              </a:rPr>
              <a:t>, te aterrizo esto a un “</a:t>
            </a:r>
            <a:r>
              <a:rPr lang="es-ES" dirty="0" err="1">
                <a:ea typeface="+mn-lt"/>
                <a:cs typeface="+mn-lt"/>
              </a:rPr>
              <a:t>playbook</a:t>
            </a:r>
            <a:r>
              <a:rPr lang="es-ES" dirty="0">
                <a:ea typeface="+mn-lt"/>
                <a:cs typeface="+mn-lt"/>
              </a:rPr>
              <a:t>” de 1 página con </a:t>
            </a:r>
            <a:r>
              <a:rPr lang="es-ES" dirty="0" err="1">
                <a:ea typeface="+mn-lt"/>
                <a:cs typeface="+mn-lt"/>
              </a:rPr>
              <a:t>checklists</a:t>
            </a:r>
            <a:r>
              <a:rPr lang="es-ES" dirty="0">
                <a:ea typeface="+mn-lt"/>
                <a:cs typeface="+mn-lt"/>
              </a:rPr>
              <a:t> exactos por etapa (</a:t>
            </a:r>
            <a:r>
              <a:rPr lang="es-ES" dirty="0" err="1">
                <a:ea typeface="+mn-lt"/>
                <a:cs typeface="+mn-lt"/>
              </a:rPr>
              <a:t>DoR</a:t>
            </a:r>
            <a:r>
              <a:rPr lang="es-ES" dirty="0">
                <a:ea typeface="+mn-lt"/>
                <a:cs typeface="+mn-lt"/>
              </a:rPr>
              <a:t>/</a:t>
            </a:r>
            <a:r>
              <a:rPr lang="es-ES" dirty="0" err="1">
                <a:ea typeface="+mn-lt"/>
                <a:cs typeface="+mn-lt"/>
              </a:rPr>
              <a:t>DoD</a:t>
            </a:r>
            <a:r>
              <a:rPr lang="es-ES" dirty="0">
                <a:ea typeface="+mn-lt"/>
                <a:cs typeface="+mn-lt"/>
              </a:rPr>
              <a:t>/Gate a TIC) para que lo apliquen desde el próximo sprint.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59264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6FB8D-185F-AA0B-0E92-7BF081945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80847-E64D-4EC6-D439-CB9E274F9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Como garantizar la escalabilidad de los productos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1C448D-7011-BA91-15F5-1FDC8091A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25000" lnSpcReduction="20000"/>
          </a:bodyPr>
          <a:lstStyle/>
          <a:p>
            <a:r>
              <a:rPr lang="es-ES" dirty="0">
                <a:ea typeface="+mn-lt"/>
                <a:cs typeface="+mn-lt"/>
              </a:rPr>
              <a:t>Como garantizar la escalabilidad de los productos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Pensó durante 6s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Para </a:t>
            </a:r>
            <a:r>
              <a:rPr lang="es-ES" b="1" dirty="0">
                <a:ea typeface="+mn-lt"/>
                <a:cs typeface="+mn-lt"/>
              </a:rPr>
              <a:t>garantizar la escalabilidad</a:t>
            </a:r>
            <a:r>
              <a:rPr lang="es-ES" dirty="0">
                <a:ea typeface="+mn-lt"/>
                <a:cs typeface="+mn-lt"/>
              </a:rPr>
              <a:t> de los productos del CDT (y que no se “rompan” cuando crezca el uso, el volumen de datos o cambie el equipo), necesitas trabajar en 4 frentes a la vez: </a:t>
            </a:r>
            <a:r>
              <a:rPr lang="es-ES" b="1" dirty="0">
                <a:ea typeface="+mn-lt"/>
                <a:cs typeface="+mn-lt"/>
              </a:rPr>
              <a:t>arquitectura, datos, operación y gobierno</a:t>
            </a:r>
            <a:r>
              <a:rPr lang="es-ES" dirty="0">
                <a:ea typeface="+mn-lt"/>
                <a:cs typeface="+mn-lt"/>
              </a:rPr>
              <a:t>.</a:t>
            </a:r>
            <a:endParaRPr lang="es-ES" dirty="0"/>
          </a:p>
          <a:p>
            <a:r>
              <a:rPr lang="es-ES" dirty="0"/>
              <a:t>1) Arquitectura “escalable por diseño”</a:t>
            </a:r>
          </a:p>
          <a:p>
            <a:r>
              <a:rPr lang="es-ES" b="1" dirty="0">
                <a:ea typeface="+mn-lt"/>
                <a:cs typeface="+mn-lt"/>
              </a:rPr>
              <a:t>Definir NFR desde el inicio</a:t>
            </a:r>
            <a:r>
              <a:rPr lang="es-ES" dirty="0">
                <a:ea typeface="+mn-lt"/>
                <a:cs typeface="+mn-lt"/>
              </a:rPr>
              <a:t>: usuarios concurrentes esperados, picos, tiempos máximos de respuesta, crecimiento de datos (esto se vuelve requisito, no “deseo”).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Servicios </a:t>
            </a:r>
            <a:r>
              <a:rPr lang="es-ES" b="1" dirty="0" err="1">
                <a:ea typeface="+mn-lt"/>
                <a:cs typeface="+mn-lt"/>
              </a:rPr>
              <a:t>stateless</a:t>
            </a:r>
            <a:r>
              <a:rPr lang="es-ES" b="1" dirty="0">
                <a:ea typeface="+mn-lt"/>
                <a:cs typeface="+mn-lt"/>
              </a:rPr>
              <a:t> cuando sea posible</a:t>
            </a:r>
            <a:r>
              <a:rPr lang="es-ES" dirty="0">
                <a:ea typeface="+mn-lt"/>
                <a:cs typeface="+mn-lt"/>
              </a:rPr>
              <a:t>: lo que no guarda estado se escala más fácil (horizontal).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Modularidad</a:t>
            </a:r>
            <a:r>
              <a:rPr lang="es-ES" dirty="0">
                <a:ea typeface="+mn-lt"/>
                <a:cs typeface="+mn-lt"/>
              </a:rPr>
              <a:t>: separar por dominios/módulos (y </a:t>
            </a:r>
            <a:r>
              <a:rPr lang="es-ES" dirty="0" err="1">
                <a:ea typeface="+mn-lt"/>
                <a:cs typeface="+mn-lt"/>
              </a:rPr>
              <a:t>APIs</a:t>
            </a:r>
            <a:r>
              <a:rPr lang="es-ES" dirty="0">
                <a:ea typeface="+mn-lt"/>
                <a:cs typeface="+mn-lt"/>
              </a:rPr>
              <a:t> claras). Evita “todo en un solo bloque”.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Patrones de integración controlados</a:t>
            </a:r>
            <a:r>
              <a:rPr lang="es-ES" dirty="0">
                <a:ea typeface="+mn-lt"/>
                <a:cs typeface="+mn-lt"/>
              </a:rPr>
              <a:t>: API versionada, colas/eventos para procesos pesados (evita que todo sea síncrono).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Performance </a:t>
            </a:r>
            <a:r>
              <a:rPr lang="es-ES" b="1" dirty="0" err="1">
                <a:ea typeface="+mn-lt"/>
                <a:cs typeface="+mn-lt"/>
              </a:rPr>
              <a:t>budget</a:t>
            </a:r>
            <a:r>
              <a:rPr lang="es-ES" dirty="0">
                <a:ea typeface="+mn-lt"/>
                <a:cs typeface="+mn-lt"/>
              </a:rPr>
              <a:t>: límites por </a:t>
            </a:r>
            <a:r>
              <a:rPr lang="es-ES" dirty="0" err="1">
                <a:ea typeface="+mn-lt"/>
                <a:cs typeface="+mn-lt"/>
              </a:rPr>
              <a:t>endpoint</a:t>
            </a:r>
            <a:r>
              <a:rPr lang="es-ES" dirty="0">
                <a:ea typeface="+mn-lt"/>
                <a:cs typeface="+mn-lt"/>
              </a:rPr>
              <a:t>/pantalla (si se excede, no pasa el gate).</a:t>
            </a:r>
            <a:endParaRPr lang="es-ES" dirty="0"/>
          </a:p>
          <a:p>
            <a:r>
              <a:rPr lang="es-ES" dirty="0"/>
              <a:t>2) Datos: donde casi siempre se cae la escalabilidad</a:t>
            </a:r>
          </a:p>
          <a:p>
            <a:r>
              <a:rPr lang="es-ES" b="1" dirty="0">
                <a:ea typeface="+mn-lt"/>
                <a:cs typeface="+mn-lt"/>
              </a:rPr>
              <a:t>Modelo de datos sólido + reglas claras</a:t>
            </a:r>
            <a:r>
              <a:rPr lang="es-ES" dirty="0">
                <a:ea typeface="+mn-lt"/>
                <a:cs typeface="+mn-lt"/>
              </a:rPr>
              <a:t> (quién es el “dato maestro”).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Índices y consultas optimizadas</a:t>
            </a:r>
            <a:r>
              <a:rPr lang="es-ES" dirty="0">
                <a:ea typeface="+mn-lt"/>
                <a:cs typeface="+mn-lt"/>
              </a:rPr>
              <a:t> (medir </a:t>
            </a:r>
            <a:r>
              <a:rPr lang="es-ES" dirty="0" err="1">
                <a:ea typeface="+mn-lt"/>
                <a:cs typeface="+mn-lt"/>
              </a:rPr>
              <a:t>queries</a:t>
            </a:r>
            <a:r>
              <a:rPr lang="es-ES" dirty="0">
                <a:ea typeface="+mn-lt"/>
                <a:cs typeface="+mn-lt"/>
              </a:rPr>
              <a:t> lentas y corregirlas temprano).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Evitar “N+1” y </a:t>
            </a:r>
            <a:r>
              <a:rPr lang="es-ES" b="1" dirty="0" err="1">
                <a:ea typeface="+mn-lt"/>
                <a:cs typeface="+mn-lt"/>
              </a:rPr>
              <a:t>joins</a:t>
            </a:r>
            <a:r>
              <a:rPr lang="es-ES" b="1" dirty="0">
                <a:ea typeface="+mn-lt"/>
                <a:cs typeface="+mn-lt"/>
              </a:rPr>
              <a:t> innecesarios</a:t>
            </a:r>
            <a:r>
              <a:rPr lang="es-ES" dirty="0">
                <a:ea typeface="+mn-lt"/>
                <a:cs typeface="+mn-lt"/>
              </a:rPr>
              <a:t> (típico problema en </a:t>
            </a:r>
            <a:r>
              <a:rPr lang="es-ES" dirty="0" err="1">
                <a:ea typeface="+mn-lt"/>
                <a:cs typeface="+mn-lt"/>
              </a:rPr>
              <a:t>MVPs</a:t>
            </a:r>
            <a:r>
              <a:rPr lang="es-ES" dirty="0">
                <a:ea typeface="+mn-lt"/>
                <a:cs typeface="+mn-lt"/>
              </a:rPr>
              <a:t>).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Caché</a:t>
            </a:r>
            <a:r>
              <a:rPr lang="es-ES" dirty="0">
                <a:ea typeface="+mn-lt"/>
                <a:cs typeface="+mn-lt"/>
              </a:rPr>
              <a:t> para lecturas frecuentes (por ejemplo, catálogos, parámetros, listados).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Estrategia de crecimiento</a:t>
            </a:r>
            <a:r>
              <a:rPr lang="es-ES" dirty="0">
                <a:ea typeface="+mn-lt"/>
                <a:cs typeface="+mn-lt"/>
              </a:rPr>
              <a:t>: particionado/archivado cuando el volumen aumente (aunque sea planificado, no necesariamente implementado ya).</a:t>
            </a:r>
            <a:endParaRPr lang="es-ES" dirty="0"/>
          </a:p>
          <a:p>
            <a:r>
              <a:rPr lang="es-ES" dirty="0"/>
              <a:t>3) Operación: escalabilidad sin </a:t>
            </a:r>
            <a:r>
              <a:rPr lang="es-ES" dirty="0" err="1"/>
              <a:t>observabilidad</a:t>
            </a:r>
            <a:r>
              <a:rPr lang="es-ES" dirty="0"/>
              <a:t> es suerte</a:t>
            </a:r>
          </a:p>
          <a:p>
            <a:r>
              <a:rPr lang="es-ES" b="1" dirty="0" err="1">
                <a:ea typeface="+mn-lt"/>
                <a:cs typeface="+mn-lt"/>
              </a:rPr>
              <a:t>Observabilidad</a:t>
            </a:r>
            <a:r>
              <a:rPr lang="es-ES" b="1" dirty="0">
                <a:ea typeface="+mn-lt"/>
                <a:cs typeface="+mn-lt"/>
              </a:rPr>
              <a:t> mínima obligatoria</a:t>
            </a:r>
            <a:r>
              <a:rPr lang="es-ES" dirty="0">
                <a:ea typeface="+mn-lt"/>
                <a:cs typeface="+mn-lt"/>
              </a:rPr>
              <a:t>:</a:t>
            </a:r>
            <a:endParaRPr lang="es-ES" dirty="0"/>
          </a:p>
          <a:p>
            <a:pPr lvl="1"/>
            <a:r>
              <a:rPr lang="es-ES" dirty="0">
                <a:ea typeface="+mn-lt"/>
                <a:cs typeface="+mn-lt"/>
              </a:rPr>
              <a:t>métricas (latencia, errores, </a:t>
            </a:r>
            <a:r>
              <a:rPr lang="es-ES" dirty="0" err="1">
                <a:ea typeface="+mn-lt"/>
                <a:cs typeface="+mn-lt"/>
              </a:rPr>
              <a:t>throughput</a:t>
            </a:r>
            <a:r>
              <a:rPr lang="es-ES" dirty="0">
                <a:ea typeface="+mn-lt"/>
                <a:cs typeface="+mn-lt"/>
              </a:rPr>
              <a:t>)</a:t>
            </a:r>
            <a:endParaRPr lang="es-ES" dirty="0"/>
          </a:p>
          <a:p>
            <a:pPr lvl="1"/>
            <a:r>
              <a:rPr lang="es-ES" dirty="0">
                <a:ea typeface="+mn-lt"/>
                <a:cs typeface="+mn-lt"/>
              </a:rPr>
              <a:t>logs estructurados</a:t>
            </a:r>
            <a:endParaRPr lang="es-ES" dirty="0"/>
          </a:p>
          <a:p>
            <a:pPr lvl="1"/>
            <a:r>
              <a:rPr lang="es-ES" dirty="0">
                <a:ea typeface="+mn-lt"/>
                <a:cs typeface="+mn-lt"/>
              </a:rPr>
              <a:t>trazas (si hay microservicios/integraciones)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SLO/SLI básicos</a:t>
            </a:r>
            <a:r>
              <a:rPr lang="es-ES" dirty="0">
                <a:ea typeface="+mn-lt"/>
                <a:cs typeface="+mn-lt"/>
              </a:rPr>
              <a:t>: por ejemplo, “95% de peticiones &lt; X ms” y “error </a:t>
            </a:r>
            <a:r>
              <a:rPr lang="es-ES" dirty="0" err="1">
                <a:ea typeface="+mn-lt"/>
                <a:cs typeface="+mn-lt"/>
              </a:rPr>
              <a:t>rate</a:t>
            </a:r>
            <a:r>
              <a:rPr lang="es-ES" dirty="0">
                <a:ea typeface="+mn-lt"/>
                <a:cs typeface="+mn-lt"/>
              </a:rPr>
              <a:t> &lt; Y%”.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Pruebas de carga</a:t>
            </a:r>
            <a:r>
              <a:rPr lang="es-ES" dirty="0">
                <a:ea typeface="+mn-lt"/>
                <a:cs typeface="+mn-lt"/>
              </a:rPr>
              <a:t> (mínimas y repetibles):</a:t>
            </a:r>
            <a:endParaRPr lang="es-ES" dirty="0"/>
          </a:p>
          <a:p>
            <a:pPr lvl="1"/>
            <a:r>
              <a:rPr lang="es-ES" dirty="0" err="1">
                <a:ea typeface="+mn-lt"/>
                <a:cs typeface="+mn-lt"/>
              </a:rPr>
              <a:t>smoke</a:t>
            </a:r>
            <a:r>
              <a:rPr lang="es-ES" dirty="0">
                <a:ea typeface="+mn-lt"/>
                <a:cs typeface="+mn-lt"/>
              </a:rPr>
              <a:t> performance (rápida) por </a:t>
            </a:r>
            <a:r>
              <a:rPr lang="es-ES" dirty="0" err="1">
                <a:ea typeface="+mn-lt"/>
                <a:cs typeface="+mn-lt"/>
              </a:rPr>
              <a:t>release</a:t>
            </a:r>
            <a:endParaRPr lang="es-ES" dirty="0" err="1"/>
          </a:p>
          <a:p>
            <a:pPr lvl="1"/>
            <a:r>
              <a:rPr lang="es-ES" dirty="0">
                <a:ea typeface="+mn-lt"/>
                <a:cs typeface="+mn-lt"/>
              </a:rPr>
              <a:t>stress test por versión mayor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CI/CD con pruebas automáticas</a:t>
            </a:r>
            <a:r>
              <a:rPr lang="es-ES" dirty="0">
                <a:ea typeface="+mn-lt"/>
                <a:cs typeface="+mn-lt"/>
              </a:rPr>
              <a:t>: evita regresiones de rendimiento y calidad en cada cambio.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Estrategia de despliegue segura</a:t>
            </a:r>
            <a:r>
              <a:rPr lang="es-ES" dirty="0">
                <a:ea typeface="+mn-lt"/>
                <a:cs typeface="+mn-lt"/>
              </a:rPr>
              <a:t>: blue/</a:t>
            </a:r>
            <a:r>
              <a:rPr lang="es-ES" dirty="0" err="1">
                <a:ea typeface="+mn-lt"/>
                <a:cs typeface="+mn-lt"/>
              </a:rPr>
              <a:t>green</a:t>
            </a:r>
            <a:r>
              <a:rPr lang="es-ES" dirty="0">
                <a:ea typeface="+mn-lt"/>
                <a:cs typeface="+mn-lt"/>
              </a:rPr>
              <a:t> o </a:t>
            </a:r>
            <a:r>
              <a:rPr lang="es-ES" dirty="0" err="1">
                <a:ea typeface="+mn-lt"/>
                <a:cs typeface="+mn-lt"/>
              </a:rPr>
              <a:t>canary</a:t>
            </a:r>
            <a:r>
              <a:rPr lang="es-ES" dirty="0">
                <a:ea typeface="+mn-lt"/>
                <a:cs typeface="+mn-lt"/>
              </a:rPr>
              <a:t> cuando aplique (reduce riesgo al escalar).</a:t>
            </a:r>
            <a:endParaRPr lang="es-ES" dirty="0"/>
          </a:p>
          <a:p>
            <a:r>
              <a:rPr lang="es-ES" dirty="0"/>
              <a:t>4) Gobierno y continuidad (clave en un CDT con estudiantes rotando)</a:t>
            </a:r>
          </a:p>
          <a:p>
            <a:r>
              <a:rPr lang="es-ES" b="1" dirty="0">
                <a:ea typeface="+mn-lt"/>
                <a:cs typeface="+mn-lt"/>
              </a:rPr>
              <a:t>Arquitecturas de referencia (</a:t>
            </a:r>
            <a:r>
              <a:rPr lang="es-ES" b="1" dirty="0" err="1">
                <a:ea typeface="+mn-lt"/>
                <a:cs typeface="+mn-lt"/>
              </a:rPr>
              <a:t>blueprints</a:t>
            </a:r>
            <a:r>
              <a:rPr lang="es-ES" b="1" dirty="0">
                <a:ea typeface="+mn-lt"/>
                <a:cs typeface="+mn-lt"/>
              </a:rPr>
              <a:t>)</a:t>
            </a:r>
            <a:r>
              <a:rPr lang="es-ES" dirty="0">
                <a:ea typeface="+mn-lt"/>
                <a:cs typeface="+mn-lt"/>
              </a:rPr>
              <a:t>: 2–3 patrones oficiales (Web App, API, Flujos/Formularios) con repos </a:t>
            </a:r>
            <a:r>
              <a:rPr lang="es-ES" dirty="0" err="1">
                <a:ea typeface="+mn-lt"/>
                <a:cs typeface="+mn-lt"/>
              </a:rPr>
              <a:t>template</a:t>
            </a:r>
            <a:r>
              <a:rPr lang="es-ES" dirty="0">
                <a:ea typeface="+mn-lt"/>
                <a:cs typeface="+mn-lt"/>
              </a:rPr>
              <a:t>.</a:t>
            </a:r>
            <a:endParaRPr lang="es-ES" dirty="0"/>
          </a:p>
          <a:p>
            <a:r>
              <a:rPr lang="es-ES" b="1" dirty="0" err="1">
                <a:ea typeface="+mn-lt"/>
                <a:cs typeface="+mn-lt"/>
              </a:rPr>
              <a:t>Definition</a:t>
            </a:r>
            <a:r>
              <a:rPr lang="es-ES" b="1" dirty="0">
                <a:ea typeface="+mn-lt"/>
                <a:cs typeface="+mn-lt"/>
              </a:rPr>
              <a:t> </a:t>
            </a:r>
            <a:r>
              <a:rPr lang="es-ES" b="1" dirty="0" err="1">
                <a:ea typeface="+mn-lt"/>
                <a:cs typeface="+mn-lt"/>
              </a:rPr>
              <a:t>of</a:t>
            </a:r>
            <a:r>
              <a:rPr lang="es-ES" b="1" dirty="0">
                <a:ea typeface="+mn-lt"/>
                <a:cs typeface="+mn-lt"/>
              </a:rPr>
              <a:t> Done + Gate a producción</a:t>
            </a:r>
            <a:r>
              <a:rPr lang="es-ES" dirty="0">
                <a:ea typeface="+mn-lt"/>
                <a:cs typeface="+mn-lt"/>
              </a:rPr>
              <a:t> con sección específica de escalabilidad:</a:t>
            </a:r>
            <a:endParaRPr lang="es-ES" dirty="0"/>
          </a:p>
          <a:p>
            <a:pPr lvl="1"/>
            <a:r>
              <a:rPr lang="es-ES" dirty="0">
                <a:ea typeface="+mn-lt"/>
                <a:cs typeface="+mn-lt"/>
              </a:rPr>
              <a:t>evidencia de métricas básicas</a:t>
            </a:r>
            <a:endParaRPr lang="es-ES" dirty="0"/>
          </a:p>
          <a:p>
            <a:pPr lvl="1"/>
            <a:r>
              <a:rPr lang="es-ES" dirty="0">
                <a:ea typeface="+mn-lt"/>
                <a:cs typeface="+mn-lt"/>
              </a:rPr>
              <a:t>pruebas mínimas de rendimiento</a:t>
            </a:r>
            <a:endParaRPr lang="es-ES" dirty="0"/>
          </a:p>
          <a:p>
            <a:pPr lvl="1"/>
            <a:r>
              <a:rPr lang="es-ES" dirty="0">
                <a:ea typeface="+mn-lt"/>
                <a:cs typeface="+mn-lt"/>
              </a:rPr>
              <a:t>límites y paginación en listados</a:t>
            </a:r>
            <a:endParaRPr lang="es-ES" dirty="0"/>
          </a:p>
          <a:p>
            <a:pPr lvl="1"/>
            <a:r>
              <a:rPr lang="es-ES" dirty="0">
                <a:ea typeface="+mn-lt"/>
                <a:cs typeface="+mn-lt"/>
              </a:rPr>
              <a:t>manejo de errores y </a:t>
            </a:r>
            <a:r>
              <a:rPr lang="es-ES" dirty="0" err="1">
                <a:ea typeface="+mn-lt"/>
                <a:cs typeface="+mn-lt"/>
              </a:rPr>
              <a:t>timeouts</a:t>
            </a:r>
            <a:endParaRPr lang="es-ES" dirty="0" err="1"/>
          </a:p>
          <a:p>
            <a:r>
              <a:rPr lang="es-ES" b="1" dirty="0">
                <a:ea typeface="+mn-lt"/>
                <a:cs typeface="+mn-lt"/>
              </a:rPr>
              <a:t>Gestión de deuda técnica</a:t>
            </a:r>
            <a:r>
              <a:rPr lang="es-ES" dirty="0">
                <a:ea typeface="+mn-lt"/>
                <a:cs typeface="+mn-lt"/>
              </a:rPr>
              <a:t>: reservar capacidad por sprint (ej. 10–20%) para </a:t>
            </a:r>
            <a:r>
              <a:rPr lang="es-ES" dirty="0" err="1">
                <a:ea typeface="+mn-lt"/>
                <a:cs typeface="+mn-lt"/>
              </a:rPr>
              <a:t>refactor</a:t>
            </a:r>
            <a:r>
              <a:rPr lang="es-ES" dirty="0">
                <a:ea typeface="+mn-lt"/>
                <a:cs typeface="+mn-lt"/>
              </a:rPr>
              <a:t>, performance, y </a:t>
            </a:r>
            <a:r>
              <a:rPr lang="es-ES" dirty="0" err="1">
                <a:ea typeface="+mn-lt"/>
                <a:cs typeface="+mn-lt"/>
              </a:rPr>
              <a:t>hardening</a:t>
            </a:r>
            <a:r>
              <a:rPr lang="es-ES" dirty="0">
                <a:ea typeface="+mn-lt"/>
                <a:cs typeface="+mn-lt"/>
              </a:rPr>
              <a:t>.</a:t>
            </a:r>
            <a:endParaRPr lang="es-ES" dirty="0"/>
          </a:p>
          <a:p>
            <a:r>
              <a:rPr lang="es-ES" b="1" dirty="0" err="1">
                <a:ea typeface="+mn-lt"/>
                <a:cs typeface="+mn-lt"/>
              </a:rPr>
              <a:t>Ownership</a:t>
            </a:r>
            <a:r>
              <a:rPr lang="es-ES" dirty="0">
                <a:ea typeface="+mn-lt"/>
                <a:cs typeface="+mn-lt"/>
              </a:rPr>
              <a:t>: cada producto debe tener dueño (PO área) + responsable técnico (líder/monitor) + </a:t>
            </a:r>
            <a:r>
              <a:rPr lang="es-ES" dirty="0" err="1">
                <a:ea typeface="+mn-lt"/>
                <a:cs typeface="+mn-lt"/>
              </a:rPr>
              <a:t>runbook</a:t>
            </a:r>
            <a:r>
              <a:rPr lang="es-ES" dirty="0">
                <a:ea typeface="+mn-lt"/>
                <a:cs typeface="+mn-lt"/>
              </a:rPr>
              <a:t> para TI.</a:t>
            </a:r>
            <a:endParaRPr lang="es-ES" dirty="0"/>
          </a:p>
          <a:p>
            <a:br>
              <a:rPr lang="en-US" dirty="0"/>
            </a:br>
            <a:endParaRPr lang="en-US" dirty="0"/>
          </a:p>
          <a:p>
            <a:r>
              <a:rPr lang="es-ES" dirty="0" err="1"/>
              <a:t>Checklist</a:t>
            </a:r>
            <a:r>
              <a:rPr lang="es-ES" dirty="0"/>
              <a:t> corto de “Escalabilidad” (para tu Gate)</a:t>
            </a:r>
          </a:p>
          <a:p>
            <a:r>
              <a:rPr lang="es-ES" dirty="0">
                <a:ea typeface="+mn-lt"/>
                <a:cs typeface="+mn-lt"/>
              </a:rPr>
              <a:t>NFR definidos (usuarios/picos/latencia)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Paginación + filtros en listados grandes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Consultas críticas medidas y optimizadas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Logs + métricas mínimas activas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Prueba de carga básica ejecutada y registrada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Plan de crecimiento (qué haríamos si se duplica el uso)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Si me dices </a:t>
            </a:r>
            <a:r>
              <a:rPr lang="es-ES" b="1" dirty="0">
                <a:ea typeface="+mn-lt"/>
                <a:cs typeface="+mn-lt"/>
              </a:rPr>
              <a:t>qué tipo de productos están haciendo más</a:t>
            </a:r>
            <a:r>
              <a:rPr lang="es-ES" dirty="0">
                <a:ea typeface="+mn-lt"/>
                <a:cs typeface="+mn-lt"/>
              </a:rPr>
              <a:t> (formularios, apps web, integraciones, analítica) y </a:t>
            </a:r>
            <a:r>
              <a:rPr lang="es-ES" b="1" dirty="0">
                <a:ea typeface="+mn-lt"/>
                <a:cs typeface="+mn-lt"/>
              </a:rPr>
              <a:t>dónde corren</a:t>
            </a:r>
            <a:r>
              <a:rPr lang="es-ES" dirty="0">
                <a:ea typeface="+mn-lt"/>
                <a:cs typeface="+mn-lt"/>
              </a:rPr>
              <a:t> (servidor institucional / nube), te ajusto un </a:t>
            </a:r>
            <a:r>
              <a:rPr lang="es-ES" b="1" dirty="0">
                <a:ea typeface="+mn-lt"/>
                <a:cs typeface="+mn-lt"/>
              </a:rPr>
              <a:t>estándar de escalabilidad por tipo de solución</a:t>
            </a:r>
            <a:r>
              <a:rPr lang="es-ES" dirty="0">
                <a:ea typeface="+mn-lt"/>
                <a:cs typeface="+mn-lt"/>
              </a:rPr>
              <a:t> y un </a:t>
            </a:r>
            <a:r>
              <a:rPr lang="es-ES" b="1" dirty="0">
                <a:ea typeface="+mn-lt"/>
                <a:cs typeface="+mn-lt"/>
              </a:rPr>
              <a:t>gate</a:t>
            </a:r>
            <a:r>
              <a:rPr lang="es-ES" dirty="0">
                <a:ea typeface="+mn-lt"/>
                <a:cs typeface="+mn-lt"/>
              </a:rPr>
              <a:t> de 1 página para que quede oficial en el CDT.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y el nivel de madurez?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Modelo de madurez CDT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Responder ahora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1. **Niveles de madurez (0-5)**: Gobernanza, entrega, calidad, DevOps, arquitectura, seguridad, datos, </a:t>
            </a:r>
            <a:r>
              <a:rPr lang="es-ES" dirty="0" err="1">
                <a:ea typeface="+mn-lt"/>
                <a:cs typeface="+mn-lt"/>
              </a:rPr>
              <a:t>observabilidad</a:t>
            </a:r>
            <a:r>
              <a:rPr lang="es-ES" dirty="0">
                <a:ea typeface="+mn-lt"/>
                <a:cs typeface="+mn-lt"/>
              </a:rPr>
              <a:t>,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08240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6512E7-25B6-2289-2198-2652064B4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TRL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41772B-972A-54CE-97BA-C497F958E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25000" lnSpcReduction="20000"/>
          </a:bodyPr>
          <a:lstStyle/>
          <a:p>
            <a:r>
              <a:rPr lang="es-ES" dirty="0"/>
              <a:t>TRL (</a:t>
            </a:r>
            <a:r>
              <a:rPr lang="es-ES" dirty="0" err="1"/>
              <a:t>Technology</a:t>
            </a:r>
            <a:r>
              <a:rPr lang="es-ES" dirty="0"/>
              <a:t> </a:t>
            </a:r>
            <a:r>
              <a:rPr lang="es-ES" dirty="0" err="1"/>
              <a:t>Readiness</a:t>
            </a:r>
            <a:r>
              <a:rPr lang="es-ES" dirty="0"/>
              <a:t> </a:t>
            </a:r>
            <a:r>
              <a:rPr lang="es-ES" dirty="0" err="1"/>
              <a:t>Levels</a:t>
            </a:r>
            <a:r>
              <a:rPr lang="es-ES" dirty="0"/>
              <a:t>) para software</a:t>
            </a:r>
          </a:p>
          <a:p>
            <a:r>
              <a:rPr lang="es-ES" dirty="0">
                <a:ea typeface="+mn-lt"/>
                <a:cs typeface="+mn-lt"/>
              </a:rPr>
              <a:t>TRL = </a:t>
            </a:r>
            <a:r>
              <a:rPr lang="es-ES" b="1" dirty="0" err="1">
                <a:ea typeface="+mn-lt"/>
                <a:cs typeface="+mn-lt"/>
              </a:rPr>
              <a:t>Technology</a:t>
            </a:r>
            <a:r>
              <a:rPr lang="es-ES" b="1" dirty="0">
                <a:ea typeface="+mn-lt"/>
                <a:cs typeface="+mn-lt"/>
              </a:rPr>
              <a:t> </a:t>
            </a:r>
            <a:r>
              <a:rPr lang="es-ES" b="1" dirty="0" err="1">
                <a:ea typeface="+mn-lt"/>
                <a:cs typeface="+mn-lt"/>
              </a:rPr>
              <a:t>Readiness</a:t>
            </a:r>
            <a:r>
              <a:rPr lang="es-ES" b="1" dirty="0">
                <a:ea typeface="+mn-lt"/>
                <a:cs typeface="+mn-lt"/>
              </a:rPr>
              <a:t> </a:t>
            </a:r>
            <a:r>
              <a:rPr lang="es-ES" b="1" dirty="0" err="1">
                <a:ea typeface="+mn-lt"/>
                <a:cs typeface="+mn-lt"/>
              </a:rPr>
              <a:t>Level</a:t>
            </a:r>
            <a:r>
              <a:rPr lang="es-ES" b="1" dirty="0">
                <a:ea typeface="+mn-lt"/>
                <a:cs typeface="+mn-lt"/>
              </a:rPr>
              <a:t> (Nivel de Madurez Tecnológica)</a:t>
            </a:r>
            <a:r>
              <a:rPr lang="es-ES" dirty="0">
                <a:ea typeface="+mn-lt"/>
                <a:cs typeface="+mn-lt"/>
              </a:rPr>
              <a:t>. Sirve para clasificar </a:t>
            </a:r>
            <a:r>
              <a:rPr lang="es-ES" b="1" dirty="0">
                <a:ea typeface="+mn-lt"/>
                <a:cs typeface="+mn-lt"/>
              </a:rPr>
              <a:t>qué tan listo está un producto</a:t>
            </a:r>
            <a:r>
              <a:rPr lang="es-ES" dirty="0">
                <a:ea typeface="+mn-lt"/>
                <a:cs typeface="+mn-lt"/>
              </a:rPr>
              <a:t> para usarse en el mundo real, desde idea hasta operación estable.</a:t>
            </a:r>
          </a:p>
          <a:p>
            <a:r>
              <a:rPr lang="es-ES">
                <a:ea typeface="+mn-lt"/>
                <a:cs typeface="+mn-lt"/>
              </a:rPr>
              <a:t>En un CDT como FUTCO (MVPs + entrega a TIC), TRL te ayuda a: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decidir qué se puede pilotear</a:t>
            </a:r>
            <a:r>
              <a:rPr lang="es-ES">
                <a:ea typeface="+mn-lt"/>
                <a:cs typeface="+mn-lt"/>
              </a:rPr>
              <a:t>, qué debe madurar y qué ya puede ir a </a:t>
            </a:r>
            <a:r>
              <a:rPr lang="es-ES" b="1">
                <a:ea typeface="+mn-lt"/>
                <a:cs typeface="+mn-lt"/>
              </a:rPr>
              <a:t>producción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evitar</a:t>
            </a:r>
            <a:r>
              <a:rPr lang="es-ES">
                <a:ea typeface="+mn-lt"/>
                <a:cs typeface="+mn-lt"/>
              </a:rPr>
              <a:t> que un “prototipo bonito” se trate como sistema institucional</a:t>
            </a:r>
            <a:endParaRPr lang="es-ES"/>
          </a:p>
          <a:p>
            <a:r>
              <a:rPr lang="es-ES" b="1" dirty="0">
                <a:ea typeface="+mn-lt"/>
                <a:cs typeface="+mn-lt"/>
              </a:rPr>
              <a:t>medir avance</a:t>
            </a:r>
            <a:r>
              <a:rPr lang="es-ES" dirty="0">
                <a:ea typeface="+mn-lt"/>
                <a:cs typeface="+mn-lt"/>
              </a:rPr>
              <a:t> con evidencias, no con percepciones</a:t>
            </a:r>
            <a:endParaRPr lang="es-ES"/>
          </a:p>
          <a:p>
            <a:r>
              <a:rPr lang="es-ES" dirty="0"/>
              <a:t>TRL aplicado a productos de software (versión práctica)</a:t>
            </a:r>
          </a:p>
          <a:p>
            <a:r>
              <a:rPr lang="es-ES" dirty="0">
                <a:ea typeface="+mn-lt"/>
                <a:cs typeface="+mn-lt"/>
              </a:rPr>
              <a:t>Aquí va una adaptación clara para software universitario: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TRL 1–2 (Idea / concepto):</a:t>
            </a:r>
            <a:r>
              <a:rPr lang="es-ES" dirty="0">
                <a:ea typeface="+mn-lt"/>
                <a:cs typeface="+mn-lt"/>
              </a:rPr>
              <a:t> problema definido, hipótesis, usuario objetivo.</a:t>
            </a:r>
            <a:endParaRPr lang="es-ES"/>
          </a:p>
          <a:p>
            <a:pPr lvl="1"/>
            <a:r>
              <a:rPr lang="es-ES" dirty="0">
                <a:ea typeface="+mn-lt"/>
                <a:cs typeface="+mn-lt"/>
              </a:rPr>
              <a:t>Evidencia: ficha del problema, alcance, criterios de éxito.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TRL 3 (Prueba de concepto – PoC):</a:t>
            </a:r>
            <a:r>
              <a:rPr lang="es-ES" dirty="0">
                <a:ea typeface="+mn-lt"/>
                <a:cs typeface="+mn-lt"/>
              </a:rPr>
              <a:t> algo mínimo demuestra que </a:t>
            </a:r>
            <a:r>
              <a:rPr lang="es-ES" i="1" dirty="0">
                <a:ea typeface="+mn-lt"/>
                <a:cs typeface="+mn-lt"/>
              </a:rPr>
              <a:t>se puede</a:t>
            </a:r>
            <a:r>
              <a:rPr lang="es-ES" dirty="0">
                <a:ea typeface="+mn-lt"/>
                <a:cs typeface="+mn-lt"/>
              </a:rPr>
              <a:t> (técnicamente).</a:t>
            </a:r>
            <a:endParaRPr lang="es-ES"/>
          </a:p>
          <a:p>
            <a:pPr lvl="1"/>
            <a:r>
              <a:rPr lang="es-ES" dirty="0">
                <a:ea typeface="+mn-lt"/>
                <a:cs typeface="+mn-lt"/>
              </a:rPr>
              <a:t>Evidencia: demo técnica, </a:t>
            </a:r>
            <a:r>
              <a:rPr lang="es-ES" dirty="0" err="1">
                <a:ea typeface="+mn-lt"/>
                <a:cs typeface="+mn-lt"/>
              </a:rPr>
              <a:t>spike</a:t>
            </a:r>
            <a:r>
              <a:rPr lang="es-ES" dirty="0">
                <a:ea typeface="+mn-lt"/>
                <a:cs typeface="+mn-lt"/>
              </a:rPr>
              <a:t>, prueba de integración básica.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TRL 4 (Prototipo en laboratorio):</a:t>
            </a:r>
            <a:r>
              <a:rPr lang="es-ES" dirty="0">
                <a:ea typeface="+mn-lt"/>
                <a:cs typeface="+mn-lt"/>
              </a:rPr>
              <a:t> prototipo funcional en ambiente controlado (DEV).</a:t>
            </a:r>
            <a:endParaRPr lang="es-ES" dirty="0"/>
          </a:p>
          <a:p>
            <a:pPr lvl="1"/>
            <a:r>
              <a:rPr lang="es-ES" dirty="0">
                <a:ea typeface="+mn-lt"/>
                <a:cs typeface="+mn-lt"/>
              </a:rPr>
              <a:t>Evidencia: prototipo navegable, flujo principal, datos de prueba.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TRL 5 (Validación en entorno relevante):</a:t>
            </a:r>
            <a:r>
              <a:rPr lang="es-ES" dirty="0">
                <a:ea typeface="+mn-lt"/>
                <a:cs typeface="+mn-lt"/>
              </a:rPr>
              <a:t> funciona en </a:t>
            </a:r>
            <a:r>
              <a:rPr lang="es-ES" b="1" dirty="0">
                <a:ea typeface="+mn-lt"/>
                <a:cs typeface="+mn-lt"/>
              </a:rPr>
              <a:t>QA/UAT</a:t>
            </a:r>
            <a:r>
              <a:rPr lang="es-ES" dirty="0">
                <a:ea typeface="+mn-lt"/>
                <a:cs typeface="+mn-lt"/>
              </a:rPr>
              <a:t> con datos representativos.</a:t>
            </a:r>
            <a:endParaRPr lang="es-ES" dirty="0"/>
          </a:p>
          <a:p>
            <a:pPr lvl="1"/>
            <a:r>
              <a:rPr lang="es-ES" dirty="0">
                <a:ea typeface="+mn-lt"/>
                <a:cs typeface="+mn-lt"/>
              </a:rPr>
              <a:t>Evidencia: plan de pruebas, pruebas funcionales, hallazgos y correcciones.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TRL 6 (Piloto):</a:t>
            </a:r>
            <a:r>
              <a:rPr lang="es-ES" dirty="0">
                <a:ea typeface="+mn-lt"/>
                <a:cs typeface="+mn-lt"/>
              </a:rPr>
              <a:t> piloto con usuarios reales en </a:t>
            </a:r>
            <a:r>
              <a:rPr lang="es-ES" b="1" dirty="0">
                <a:ea typeface="+mn-lt"/>
                <a:cs typeface="+mn-lt"/>
              </a:rPr>
              <a:t>UAT/PRE</a:t>
            </a:r>
            <a:r>
              <a:rPr lang="es-ES" dirty="0">
                <a:ea typeface="+mn-lt"/>
                <a:cs typeface="+mn-lt"/>
              </a:rPr>
              <a:t> o grupo controlado.</a:t>
            </a:r>
            <a:endParaRPr lang="es-ES" dirty="0"/>
          </a:p>
          <a:p>
            <a:pPr lvl="1"/>
            <a:r>
              <a:rPr lang="es-ES" dirty="0">
                <a:ea typeface="+mn-lt"/>
                <a:cs typeface="+mn-lt"/>
              </a:rPr>
              <a:t>Evidencia: UAT aprobado + métricas básicas + plan de soporte/</a:t>
            </a:r>
            <a:r>
              <a:rPr lang="es-ES" dirty="0" err="1">
                <a:ea typeface="+mn-lt"/>
                <a:cs typeface="+mn-lt"/>
              </a:rPr>
              <a:t>hypercare</a:t>
            </a:r>
            <a:r>
              <a:rPr lang="es-ES" dirty="0">
                <a:ea typeface="+mn-lt"/>
                <a:cs typeface="+mn-lt"/>
              </a:rPr>
              <a:t>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TRL 7 (Operación inicial):</a:t>
            </a:r>
            <a:r>
              <a:rPr lang="es-ES" dirty="0">
                <a:ea typeface="+mn-lt"/>
                <a:cs typeface="+mn-lt"/>
              </a:rPr>
              <a:t> en producción pero con monitoreo cercano (</a:t>
            </a:r>
            <a:r>
              <a:rPr lang="es-ES" dirty="0" err="1">
                <a:ea typeface="+mn-lt"/>
                <a:cs typeface="+mn-lt"/>
              </a:rPr>
              <a:t>go-live</a:t>
            </a:r>
            <a:r>
              <a:rPr lang="es-ES" dirty="0">
                <a:ea typeface="+mn-lt"/>
                <a:cs typeface="+mn-lt"/>
              </a:rPr>
              <a:t> controlado).</a:t>
            </a:r>
            <a:endParaRPr lang="es-ES" dirty="0"/>
          </a:p>
          <a:p>
            <a:pPr lvl="1"/>
            <a:r>
              <a:rPr lang="es-ES" dirty="0">
                <a:ea typeface="+mn-lt"/>
                <a:cs typeface="+mn-lt"/>
              </a:rPr>
              <a:t>Evidencia: despliegue productivo + monitoreo/logs + incidencias controladas.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TRL 8 (Producción estable):</a:t>
            </a:r>
            <a:r>
              <a:rPr lang="es-ES" dirty="0">
                <a:ea typeface="+mn-lt"/>
                <a:cs typeface="+mn-lt"/>
              </a:rPr>
              <a:t> operación estable, documentación completa y soporte formal.</a:t>
            </a:r>
            <a:endParaRPr lang="es-ES" dirty="0"/>
          </a:p>
          <a:p>
            <a:pPr lvl="1"/>
            <a:r>
              <a:rPr lang="es-ES" dirty="0">
                <a:ea typeface="+mn-lt"/>
                <a:cs typeface="+mn-lt"/>
              </a:rPr>
              <a:t>Evidencia: </a:t>
            </a:r>
            <a:r>
              <a:rPr lang="es-ES" dirty="0" err="1">
                <a:ea typeface="+mn-lt"/>
                <a:cs typeface="+mn-lt"/>
              </a:rPr>
              <a:t>runbook</a:t>
            </a:r>
            <a:r>
              <a:rPr lang="es-ES" dirty="0">
                <a:ea typeface="+mn-lt"/>
                <a:cs typeface="+mn-lt"/>
              </a:rPr>
              <a:t>, manuales, SLA/soporte, baja tasa de fallos.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TRL 9 (Escalado / institucionalizado):</a:t>
            </a:r>
            <a:r>
              <a:rPr lang="es-ES" dirty="0">
                <a:ea typeface="+mn-lt"/>
                <a:cs typeface="+mn-lt"/>
              </a:rPr>
              <a:t> replicable, escalable, mejora continua, gobierno completo.</a:t>
            </a:r>
            <a:endParaRPr lang="es-ES" dirty="0"/>
          </a:p>
          <a:p>
            <a:pPr lvl="1"/>
            <a:r>
              <a:rPr lang="es-ES" dirty="0">
                <a:ea typeface="+mn-lt"/>
                <a:cs typeface="+mn-lt"/>
              </a:rPr>
              <a:t>Evidencia: métricas sostenidas, </a:t>
            </a:r>
            <a:r>
              <a:rPr lang="es-ES" dirty="0" err="1">
                <a:ea typeface="+mn-lt"/>
                <a:cs typeface="+mn-lt"/>
              </a:rPr>
              <a:t>capacity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planning</a:t>
            </a:r>
            <a:r>
              <a:rPr lang="es-ES" dirty="0">
                <a:ea typeface="+mn-lt"/>
                <a:cs typeface="+mn-lt"/>
              </a:rPr>
              <a:t>, </a:t>
            </a:r>
            <a:r>
              <a:rPr lang="es-ES" dirty="0" err="1">
                <a:ea typeface="+mn-lt"/>
                <a:cs typeface="+mn-lt"/>
              </a:rPr>
              <a:t>hardening</a:t>
            </a:r>
            <a:r>
              <a:rPr lang="es-ES" dirty="0">
                <a:ea typeface="+mn-lt"/>
                <a:cs typeface="+mn-lt"/>
              </a:rPr>
              <a:t> continuo, auditoría.</a:t>
            </a:r>
            <a:endParaRPr lang="es-ES" dirty="0"/>
          </a:p>
          <a:p>
            <a:pPr lvl="1"/>
            <a:r>
              <a:rPr lang="es-ES" dirty="0"/>
              <a:t>Regla rápida para ubicar tus </a:t>
            </a:r>
            <a:r>
              <a:rPr lang="es-ES" dirty="0" err="1"/>
              <a:t>MVPs</a:t>
            </a:r>
          </a:p>
          <a:p>
            <a:r>
              <a:rPr lang="es-ES" b="1" dirty="0">
                <a:ea typeface="+mn-lt"/>
                <a:cs typeface="+mn-lt"/>
              </a:rPr>
              <a:t>“Solo demo”</a:t>
            </a:r>
            <a:r>
              <a:rPr lang="es-ES" dirty="0">
                <a:ea typeface="+mn-lt"/>
                <a:cs typeface="+mn-lt"/>
              </a:rPr>
              <a:t> → TRL 3–4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“Probado en QA/UAT”</a:t>
            </a:r>
            <a:r>
              <a:rPr lang="es-ES" dirty="0">
                <a:ea typeface="+mn-lt"/>
                <a:cs typeface="+mn-lt"/>
              </a:rPr>
              <a:t> → TRL 5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“Piloto con usuarios reales”</a:t>
            </a:r>
            <a:r>
              <a:rPr lang="es-ES" dirty="0">
                <a:ea typeface="+mn-lt"/>
                <a:cs typeface="+mn-lt"/>
              </a:rPr>
              <a:t> → TRL 6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“Ya está en producción”</a:t>
            </a:r>
            <a:r>
              <a:rPr lang="es-ES" dirty="0">
                <a:ea typeface="+mn-lt"/>
                <a:cs typeface="+mn-lt"/>
              </a:rPr>
              <a:t> → TRL 7+</a:t>
            </a:r>
            <a:endParaRPr lang="es-ES" dirty="0"/>
          </a:p>
          <a:p>
            <a:r>
              <a:rPr lang="es-ES" dirty="0"/>
              <a:t>Cómo usar TRL en el portafolio del CDT (muy simple)</a:t>
            </a:r>
          </a:p>
          <a:p>
            <a:r>
              <a:rPr lang="es-ES" dirty="0">
                <a:ea typeface="+mn-lt"/>
                <a:cs typeface="+mn-lt"/>
              </a:rPr>
              <a:t>Para cada producto, define: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TRL actual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TRL objetivo</a:t>
            </a:r>
            <a:r>
              <a:rPr lang="es-ES" dirty="0">
                <a:ea typeface="+mn-lt"/>
                <a:cs typeface="+mn-lt"/>
              </a:rPr>
              <a:t> (ej. 6 si es piloto; 7 si va a producción)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Brecha de evidencias</a:t>
            </a:r>
            <a:r>
              <a:rPr lang="es-ES" dirty="0">
                <a:ea typeface="+mn-lt"/>
                <a:cs typeface="+mn-lt"/>
              </a:rPr>
              <a:t> (qué falta para subir 1 nivel)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Responsable</a:t>
            </a:r>
            <a:r>
              <a:rPr lang="es-ES" dirty="0">
                <a:ea typeface="+mn-lt"/>
                <a:cs typeface="+mn-lt"/>
              </a:rPr>
              <a:t> (PO área + líder técnico + TIC si aplica)</a:t>
            </a:r>
            <a:endParaRPr lang="es-ES" dirty="0"/>
          </a:p>
          <a:p>
            <a:r>
              <a:rPr lang="es-ES" dirty="0"/>
              <a:t>“Tarjeta TRL” (formato 1 página por producto)</a:t>
            </a:r>
          </a:p>
          <a:p>
            <a:r>
              <a:rPr lang="es-ES" dirty="0">
                <a:ea typeface="+mn-lt"/>
                <a:cs typeface="+mn-lt"/>
              </a:rPr>
              <a:t>Nombre del producto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Área dueña / PO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TRL actual / TRL objetivo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Evidencias disponibles (links)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Riesgos principales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Próximo gate para subir TRL (y fecha)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Si me dices </a:t>
            </a:r>
            <a:r>
              <a:rPr lang="es-ES" b="1" dirty="0">
                <a:ea typeface="+mn-lt"/>
                <a:cs typeface="+mn-lt"/>
              </a:rPr>
              <a:t>2 o 3 productos</a:t>
            </a:r>
            <a:r>
              <a:rPr lang="es-ES" dirty="0">
                <a:ea typeface="+mn-lt"/>
                <a:cs typeface="+mn-lt"/>
              </a:rPr>
              <a:t> que ya tienen (nombre + si está en uso real o solo demo), te los clasifico en TRL y te digo exactamente </a:t>
            </a:r>
            <a:r>
              <a:rPr lang="es-ES" b="1" dirty="0">
                <a:ea typeface="+mn-lt"/>
                <a:cs typeface="+mn-lt"/>
              </a:rPr>
              <a:t>qué evidencia les falta</a:t>
            </a:r>
            <a:r>
              <a:rPr lang="es-ES" dirty="0">
                <a:ea typeface="+mn-lt"/>
                <a:cs typeface="+mn-lt"/>
              </a:rPr>
              <a:t> para subir al siguiente nivel.</a:t>
            </a:r>
            <a:endParaRPr lang="es-ES" dirty="0"/>
          </a:p>
          <a:p>
            <a:endParaRPr lang="es-ES" dirty="0">
              <a:ea typeface="+mn-lt"/>
              <a:cs typeface="+mn-lt"/>
            </a:endParaRPr>
          </a:p>
          <a:p>
            <a:r>
              <a:rPr lang="es-ES" dirty="0">
                <a:ea typeface="+mn-lt"/>
                <a:cs typeface="+mn-lt"/>
              </a:rPr>
              <a:t>El TRL mide </a:t>
            </a:r>
            <a:r>
              <a:rPr lang="es-ES" b="1" dirty="0">
                <a:ea typeface="+mn-lt"/>
                <a:cs typeface="+mn-lt"/>
              </a:rPr>
              <a:t>qué tan listo está un producto</a:t>
            </a:r>
            <a:r>
              <a:rPr lang="es-ES" dirty="0">
                <a:ea typeface="+mn-lt"/>
                <a:cs typeface="+mn-lt"/>
              </a:rPr>
              <a:t> para pasar de idea → piloto → producción estable, con </a:t>
            </a:r>
            <a:r>
              <a:rPr lang="es-ES" b="1" dirty="0">
                <a:ea typeface="+mn-lt"/>
                <a:cs typeface="+mn-lt"/>
              </a:rPr>
              <a:t>evidencias</a:t>
            </a:r>
            <a:r>
              <a:rPr lang="es-ES" dirty="0">
                <a:ea typeface="+mn-lt"/>
                <a:cs typeface="+mn-lt"/>
              </a:rPr>
              <a:t> en cada nivel.</a:t>
            </a:r>
            <a:endParaRPr lang="es-ES" dirty="0"/>
          </a:p>
          <a:p>
            <a:r>
              <a:rPr lang="es-ES" dirty="0"/>
              <a:t>TRL 1–9 (adaptado a software, con evidencias)</a:t>
            </a:r>
          </a:p>
          <a:p>
            <a:r>
              <a:rPr lang="es-ES" b="1" dirty="0">
                <a:ea typeface="+mn-lt"/>
                <a:cs typeface="+mn-lt"/>
              </a:rPr>
              <a:t>TRL 1 – Principios básicos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Problema identificado, necesidad clara.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Evidencia: nota de problema / oportunidad.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TRL 2 – Concepto formulado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Concepto de solución definido (qué hará y para quién).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Evidencia: ficha MVP con alcance y criterios de éxito.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TRL 3 – Prueba de concepto (PoC)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Se demuestra que </a:t>
            </a:r>
            <a:r>
              <a:rPr lang="es-ES" i="1" dirty="0">
                <a:ea typeface="+mn-lt"/>
                <a:cs typeface="+mn-lt"/>
              </a:rPr>
              <a:t>la idea funciona técnicamente</a:t>
            </a:r>
            <a:r>
              <a:rPr lang="es-ES" dirty="0">
                <a:ea typeface="+mn-lt"/>
                <a:cs typeface="+mn-lt"/>
              </a:rPr>
              <a:t> (aunque sea parcial).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Evidencia: demo técnica o integración mínima, resultados de prueba.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TRL 4 – Prototipo en laboratorio (DEV)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Prototipo funcional en ambiente controlado (local/DEV).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Evidencia: prototipo navegable/funcional + guía para correrlo + repositorio.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TRL 5 – Validación en entorno relevante (QA/UAT)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Funciona con escenarios y datos similares a los reales.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Evidencia: plan de pruebas + ejecución + hallazgos corregidos + acta UAT (o validación del área).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TRL 6 – Demostración/Piloto controlado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Se usa con usuarios reales, en piloto limitado (grupo pequeño/área específica).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Evidencia: piloto ejecutado + métricas básicas + soporte/</a:t>
            </a:r>
            <a:r>
              <a:rPr lang="es-ES" dirty="0" err="1">
                <a:ea typeface="+mn-lt"/>
                <a:cs typeface="+mn-lt"/>
              </a:rPr>
              <a:t>hypercare</a:t>
            </a:r>
            <a:r>
              <a:rPr lang="es-ES" dirty="0">
                <a:ea typeface="+mn-lt"/>
                <a:cs typeface="+mn-lt"/>
              </a:rPr>
              <a:t> planificado.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TRL 7 – Operación inicial en producción</a:t>
            </a:r>
            <a:endParaRPr lang="es-ES" dirty="0"/>
          </a:p>
          <a:p>
            <a:r>
              <a:rPr lang="es-ES" dirty="0" err="1">
                <a:ea typeface="+mn-lt"/>
                <a:cs typeface="+mn-lt"/>
              </a:rPr>
              <a:t>Go-live</a:t>
            </a:r>
            <a:r>
              <a:rPr lang="es-ES" dirty="0">
                <a:ea typeface="+mn-lt"/>
                <a:cs typeface="+mn-lt"/>
              </a:rPr>
              <a:t> controlado en producción (con monitoreo cercano).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Evidencia: despliegue productivo + monitoreo/logs + plan de </a:t>
            </a:r>
            <a:r>
              <a:rPr lang="es-ES" dirty="0" err="1">
                <a:ea typeface="+mn-lt"/>
                <a:cs typeface="+mn-lt"/>
              </a:rPr>
              <a:t>rollback</a:t>
            </a:r>
            <a:r>
              <a:rPr lang="es-ES" dirty="0">
                <a:ea typeface="+mn-lt"/>
                <a:cs typeface="+mn-lt"/>
              </a:rPr>
              <a:t> + incidencias controladas.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TRL 8 – Producción estable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Operación estable, documentación completa, soporte formal.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Evidencia: </a:t>
            </a:r>
            <a:r>
              <a:rPr lang="es-ES" dirty="0" err="1">
                <a:ea typeface="+mn-lt"/>
                <a:cs typeface="+mn-lt"/>
              </a:rPr>
              <a:t>runbook</a:t>
            </a:r>
            <a:r>
              <a:rPr lang="es-ES" dirty="0">
                <a:ea typeface="+mn-lt"/>
                <a:cs typeface="+mn-lt"/>
              </a:rPr>
              <a:t> + manuales + baja tasa de incidentes + procesos de soporte activos.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TRL 9 – Escalado e institucionalización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Se replica/escala, con mejoras continuas y gobierno sólido.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Evidencia: capacidad para aumentar usuarios/volumen sin degradación + métricas sostenidas + </a:t>
            </a:r>
            <a:r>
              <a:rPr lang="es-ES" dirty="0" err="1">
                <a:ea typeface="+mn-lt"/>
                <a:cs typeface="+mn-lt"/>
              </a:rPr>
              <a:t>hardening</a:t>
            </a:r>
            <a:r>
              <a:rPr lang="es-ES" dirty="0">
                <a:ea typeface="+mn-lt"/>
                <a:cs typeface="+mn-lt"/>
              </a:rPr>
              <a:t> continuo.</a:t>
            </a:r>
            <a:endParaRPr lang="es-ES" dirty="0"/>
          </a:p>
          <a:p>
            <a:br>
              <a:rPr lang="en-US" dirty="0"/>
            </a:br>
            <a:endParaRPr lang="en-US" dirty="0"/>
          </a:p>
          <a:p>
            <a:r>
              <a:rPr lang="es-ES" dirty="0"/>
              <a:t>Regla rápida para clasificar un producto</a:t>
            </a:r>
          </a:p>
          <a:p>
            <a:r>
              <a:rPr lang="es-ES" b="1" dirty="0">
                <a:ea typeface="+mn-lt"/>
                <a:cs typeface="+mn-lt"/>
              </a:rPr>
              <a:t>Solo demo interna</a:t>
            </a:r>
            <a:r>
              <a:rPr lang="es-ES" dirty="0">
                <a:ea typeface="+mn-lt"/>
                <a:cs typeface="+mn-lt"/>
              </a:rPr>
              <a:t> → TRL 3–4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Probado y aceptado por el área (UAT)</a:t>
            </a:r>
            <a:r>
              <a:rPr lang="es-ES" dirty="0">
                <a:ea typeface="+mn-lt"/>
                <a:cs typeface="+mn-lt"/>
              </a:rPr>
              <a:t> → TRL 5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Piloto real limitado</a:t>
            </a:r>
            <a:r>
              <a:rPr lang="es-ES" dirty="0">
                <a:ea typeface="+mn-lt"/>
                <a:cs typeface="+mn-lt"/>
              </a:rPr>
              <a:t> → TRL 6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Ya está en producción</a:t>
            </a:r>
            <a:r>
              <a:rPr lang="es-ES" dirty="0">
                <a:ea typeface="+mn-lt"/>
                <a:cs typeface="+mn-lt"/>
              </a:rPr>
              <a:t> → TRL 7+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Producción estable y soportada</a:t>
            </a:r>
            <a:r>
              <a:rPr lang="es-ES" dirty="0">
                <a:ea typeface="+mn-lt"/>
                <a:cs typeface="+mn-lt"/>
              </a:rPr>
              <a:t> → TRL 8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Escala y es replicable</a:t>
            </a:r>
            <a:r>
              <a:rPr lang="es-ES" dirty="0">
                <a:ea typeface="+mn-lt"/>
                <a:cs typeface="+mn-lt"/>
              </a:rPr>
              <a:t> → TRL 9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Si me das el estado de </a:t>
            </a:r>
            <a:r>
              <a:rPr lang="es-ES" b="1" dirty="0">
                <a:ea typeface="+mn-lt"/>
                <a:cs typeface="+mn-lt"/>
              </a:rPr>
              <a:t>un producto</a:t>
            </a:r>
            <a:r>
              <a:rPr lang="es-ES" dirty="0">
                <a:ea typeface="+mn-lt"/>
                <a:cs typeface="+mn-lt"/>
              </a:rPr>
              <a:t> (¿solo demo, UAT, piloto, producción?), te digo el </a:t>
            </a:r>
            <a:r>
              <a:rPr lang="es-ES" b="1" dirty="0">
                <a:ea typeface="+mn-lt"/>
                <a:cs typeface="+mn-lt"/>
              </a:rPr>
              <a:t>TRL exacto</a:t>
            </a:r>
            <a:r>
              <a:rPr lang="es-ES" dirty="0">
                <a:ea typeface="+mn-lt"/>
                <a:cs typeface="+mn-lt"/>
              </a:rPr>
              <a:t> y qué evidencia faltaría para subir al siguiente nivel.</a:t>
            </a:r>
            <a:endParaRPr lang="es-ES" dirty="0"/>
          </a:p>
          <a:p>
            <a:br>
              <a:rPr lang="en-US" dirty="0"/>
            </a:br>
            <a:endParaRPr lang="en-U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80450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09A7B1-CC1C-4D7E-9021-0D4C6377D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Como garantizar la calidad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B34C53-AB5F-7B87-3A9B-A0781B96E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25000" lnSpcReduction="20000"/>
          </a:bodyPr>
          <a:lstStyle/>
          <a:p>
            <a:r>
              <a:rPr lang="es-ES" dirty="0">
                <a:ea typeface="+mn-lt"/>
                <a:cs typeface="+mn-lt"/>
              </a:rPr>
              <a:t>Para </a:t>
            </a:r>
            <a:r>
              <a:rPr lang="es-ES" b="1" dirty="0">
                <a:ea typeface="+mn-lt"/>
                <a:cs typeface="+mn-lt"/>
              </a:rPr>
              <a:t>garantizar la calidad</a:t>
            </a:r>
            <a:r>
              <a:rPr lang="es-ES" dirty="0">
                <a:ea typeface="+mn-lt"/>
                <a:cs typeface="+mn-lt"/>
              </a:rPr>
              <a:t> en el CDT (con estudiantes rotando), necesitas convertir la calidad en </a:t>
            </a:r>
            <a:r>
              <a:rPr lang="es-ES" b="1" dirty="0">
                <a:ea typeface="+mn-lt"/>
                <a:cs typeface="+mn-lt"/>
              </a:rPr>
              <a:t>un sistema</a:t>
            </a:r>
            <a:r>
              <a:rPr lang="es-ES" dirty="0">
                <a:ea typeface="+mn-lt"/>
                <a:cs typeface="+mn-lt"/>
              </a:rPr>
              <a:t>, no en “revisar al final”. Funciona muy bien con 5 piezas:</a:t>
            </a:r>
            <a:endParaRPr lang="es-ES" dirty="0"/>
          </a:p>
          <a:p>
            <a:r>
              <a:rPr lang="es-ES"/>
              <a:t>1) Estándares únicos (“así se trabaja aquí”)</a:t>
            </a:r>
          </a:p>
          <a:p>
            <a:r>
              <a:rPr lang="es-ES" b="1" dirty="0">
                <a:ea typeface="+mn-lt"/>
                <a:cs typeface="+mn-lt"/>
              </a:rPr>
              <a:t>Plantilla de repositorio</a:t>
            </a:r>
            <a:r>
              <a:rPr lang="es-ES" dirty="0">
                <a:ea typeface="+mn-lt"/>
                <a:cs typeface="+mn-lt"/>
              </a:rPr>
              <a:t> + estructura de proyecto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Convenciones</a:t>
            </a:r>
            <a:r>
              <a:rPr lang="es-ES" dirty="0">
                <a:ea typeface="+mn-lt"/>
                <a:cs typeface="+mn-lt"/>
              </a:rPr>
              <a:t> (nombres, capas, manejo de errores, </a:t>
            </a:r>
            <a:r>
              <a:rPr lang="es-ES" dirty="0" err="1">
                <a:ea typeface="+mn-lt"/>
                <a:cs typeface="+mn-lt"/>
              </a:rPr>
              <a:t>logging</a:t>
            </a:r>
            <a:r>
              <a:rPr lang="es-ES" dirty="0">
                <a:ea typeface="+mn-lt"/>
                <a:cs typeface="+mn-lt"/>
              </a:rPr>
              <a:t>)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Guías cortas</a:t>
            </a:r>
            <a:r>
              <a:rPr lang="es-ES" dirty="0">
                <a:ea typeface="+mn-lt"/>
                <a:cs typeface="+mn-lt"/>
              </a:rPr>
              <a:t>: cómo correr local, cómo desplegar a QA/UAT, cómo hacer PR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Esto baja variabilidad entre equipos y reduce errores por curva de aprendizaje.</a:t>
            </a:r>
            <a:endParaRPr lang="es-ES" dirty="0"/>
          </a:p>
          <a:p>
            <a:r>
              <a:rPr lang="es-ES" dirty="0"/>
              <a:t>2) </a:t>
            </a:r>
            <a:r>
              <a:rPr lang="es-ES" dirty="0" err="1"/>
              <a:t>DoR</a:t>
            </a:r>
            <a:r>
              <a:rPr lang="es-ES" dirty="0"/>
              <a:t> y </a:t>
            </a:r>
            <a:r>
              <a:rPr lang="es-ES" dirty="0" err="1"/>
              <a:t>DoD</a:t>
            </a:r>
            <a:r>
              <a:rPr lang="es-ES" dirty="0"/>
              <a:t> (los 2 candados que más impactan)</a:t>
            </a:r>
          </a:p>
          <a:p>
            <a:r>
              <a:rPr lang="es-ES" b="1" dirty="0" err="1">
                <a:ea typeface="+mn-lt"/>
                <a:cs typeface="+mn-lt"/>
              </a:rPr>
              <a:t>Definition</a:t>
            </a:r>
            <a:r>
              <a:rPr lang="es-ES" b="1" dirty="0">
                <a:ea typeface="+mn-lt"/>
                <a:cs typeface="+mn-lt"/>
              </a:rPr>
              <a:t> </a:t>
            </a:r>
            <a:r>
              <a:rPr lang="es-ES" b="1" dirty="0" err="1">
                <a:ea typeface="+mn-lt"/>
                <a:cs typeface="+mn-lt"/>
              </a:rPr>
              <a:t>of</a:t>
            </a:r>
            <a:r>
              <a:rPr lang="es-ES" b="1" dirty="0">
                <a:ea typeface="+mn-lt"/>
                <a:cs typeface="+mn-lt"/>
              </a:rPr>
              <a:t> </a:t>
            </a:r>
            <a:r>
              <a:rPr lang="es-ES" b="1" dirty="0" err="1">
                <a:ea typeface="+mn-lt"/>
                <a:cs typeface="+mn-lt"/>
              </a:rPr>
              <a:t>Ready</a:t>
            </a:r>
            <a:r>
              <a:rPr lang="es-ES" b="1" dirty="0">
                <a:ea typeface="+mn-lt"/>
                <a:cs typeface="+mn-lt"/>
              </a:rPr>
              <a:t> (</a:t>
            </a:r>
            <a:r>
              <a:rPr lang="es-ES" b="1" dirty="0" err="1">
                <a:ea typeface="+mn-lt"/>
                <a:cs typeface="+mn-lt"/>
              </a:rPr>
              <a:t>DoR</a:t>
            </a:r>
            <a:r>
              <a:rPr lang="es-ES" b="1" dirty="0">
                <a:ea typeface="+mn-lt"/>
                <a:cs typeface="+mn-lt"/>
              </a:rPr>
              <a:t>)</a:t>
            </a:r>
            <a:r>
              <a:rPr lang="es-ES" dirty="0">
                <a:ea typeface="+mn-lt"/>
                <a:cs typeface="+mn-lt"/>
              </a:rPr>
              <a:t>: una historia </a:t>
            </a:r>
            <a:r>
              <a:rPr lang="es-ES" i="1" dirty="0">
                <a:ea typeface="+mn-lt"/>
                <a:cs typeface="+mn-lt"/>
              </a:rPr>
              <a:t>entra</a:t>
            </a:r>
            <a:r>
              <a:rPr lang="es-ES" dirty="0">
                <a:ea typeface="+mn-lt"/>
                <a:cs typeface="+mn-lt"/>
              </a:rPr>
              <a:t> al sprint solo si tiene: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criterio de aceptación claro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datos/casos de prueba mínimos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alcance “NO incluye” (para evitar creep)</a:t>
            </a:r>
            <a:endParaRPr lang="es-ES" dirty="0"/>
          </a:p>
          <a:p>
            <a:r>
              <a:rPr lang="es-ES" b="1" dirty="0" err="1">
                <a:ea typeface="+mn-lt"/>
                <a:cs typeface="+mn-lt"/>
              </a:rPr>
              <a:t>Definition</a:t>
            </a:r>
            <a:r>
              <a:rPr lang="es-ES" b="1" dirty="0">
                <a:ea typeface="+mn-lt"/>
                <a:cs typeface="+mn-lt"/>
              </a:rPr>
              <a:t> </a:t>
            </a:r>
            <a:r>
              <a:rPr lang="es-ES" b="1" dirty="0" err="1">
                <a:ea typeface="+mn-lt"/>
                <a:cs typeface="+mn-lt"/>
              </a:rPr>
              <a:t>of</a:t>
            </a:r>
            <a:r>
              <a:rPr lang="es-ES" b="1" dirty="0">
                <a:ea typeface="+mn-lt"/>
                <a:cs typeface="+mn-lt"/>
              </a:rPr>
              <a:t> Done (</a:t>
            </a:r>
            <a:r>
              <a:rPr lang="es-ES" b="1" dirty="0" err="1">
                <a:ea typeface="+mn-lt"/>
                <a:cs typeface="+mn-lt"/>
              </a:rPr>
              <a:t>DoD</a:t>
            </a:r>
            <a:r>
              <a:rPr lang="es-ES" b="1" dirty="0">
                <a:ea typeface="+mn-lt"/>
                <a:cs typeface="+mn-lt"/>
              </a:rPr>
              <a:t>)</a:t>
            </a:r>
            <a:r>
              <a:rPr lang="es-ES" dirty="0">
                <a:ea typeface="+mn-lt"/>
                <a:cs typeface="+mn-lt"/>
              </a:rPr>
              <a:t>: una historia </a:t>
            </a:r>
            <a:r>
              <a:rPr lang="es-ES" i="1" dirty="0">
                <a:ea typeface="+mn-lt"/>
                <a:cs typeface="+mn-lt"/>
              </a:rPr>
              <a:t>sale</a:t>
            </a:r>
            <a:r>
              <a:rPr lang="es-ES" dirty="0">
                <a:ea typeface="+mn-lt"/>
                <a:cs typeface="+mn-lt"/>
              </a:rPr>
              <a:t> del sprint solo si: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PR revisado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pruebas mínimas pasan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manejo de errores + logs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README actualizado (cómo correr)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evidencia de validación (demo/UAT según aplique)</a:t>
            </a:r>
            <a:endParaRPr lang="es-ES" dirty="0"/>
          </a:p>
          <a:p>
            <a:r>
              <a:rPr lang="es-ES" dirty="0"/>
              <a:t>3) Calidad automatizada (para que no dependa del líder)</a:t>
            </a:r>
          </a:p>
          <a:p>
            <a:r>
              <a:rPr lang="es-ES" dirty="0">
                <a:ea typeface="+mn-lt"/>
                <a:cs typeface="+mn-lt"/>
              </a:rPr>
              <a:t>En cada PR:</a:t>
            </a:r>
            <a:endParaRPr lang="es-ES" dirty="0"/>
          </a:p>
          <a:p>
            <a:r>
              <a:rPr lang="es-ES" b="1" dirty="0" err="1">
                <a:ea typeface="+mn-lt"/>
                <a:cs typeface="+mn-lt"/>
              </a:rPr>
              <a:t>lint</a:t>
            </a:r>
            <a:r>
              <a:rPr lang="es-ES" b="1" dirty="0">
                <a:ea typeface="+mn-lt"/>
                <a:cs typeface="+mn-lt"/>
              </a:rPr>
              <a:t>/</a:t>
            </a:r>
            <a:r>
              <a:rPr lang="es-ES" b="1" dirty="0" err="1">
                <a:ea typeface="+mn-lt"/>
                <a:cs typeface="+mn-lt"/>
              </a:rPr>
              <a:t>format</a:t>
            </a:r>
            <a:r>
              <a:rPr lang="es-ES" dirty="0">
                <a:ea typeface="+mn-lt"/>
                <a:cs typeface="+mn-lt"/>
              </a:rPr>
              <a:t> (estilo)</a:t>
            </a:r>
            <a:endParaRPr lang="es-ES" dirty="0"/>
          </a:p>
          <a:p>
            <a:r>
              <a:rPr lang="es-ES" b="1" dirty="0" err="1">
                <a:ea typeface="+mn-lt"/>
                <a:cs typeface="+mn-lt"/>
              </a:rPr>
              <a:t>tests</a:t>
            </a:r>
            <a:r>
              <a:rPr lang="es-ES" dirty="0">
                <a:ea typeface="+mn-lt"/>
                <a:cs typeface="+mn-lt"/>
              </a:rPr>
              <a:t> (unitarias mínimo)</a:t>
            </a:r>
            <a:endParaRPr lang="es-ES" dirty="0"/>
          </a:p>
          <a:p>
            <a:r>
              <a:rPr lang="es-ES" b="1" dirty="0" err="1">
                <a:ea typeface="+mn-lt"/>
                <a:cs typeface="+mn-lt"/>
              </a:rPr>
              <a:t>build</a:t>
            </a:r>
            <a:r>
              <a:rPr lang="es-ES" dirty="0">
                <a:ea typeface="+mn-lt"/>
                <a:cs typeface="+mn-lt"/>
              </a:rPr>
              <a:t> (compila/ejecuta)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(si se puede) </a:t>
            </a:r>
            <a:r>
              <a:rPr lang="es-ES" b="1" dirty="0">
                <a:ea typeface="+mn-lt"/>
                <a:cs typeface="+mn-lt"/>
              </a:rPr>
              <a:t>análisis estático</a:t>
            </a:r>
            <a:r>
              <a:rPr lang="es-ES" dirty="0">
                <a:ea typeface="+mn-lt"/>
                <a:cs typeface="+mn-lt"/>
              </a:rPr>
              <a:t> + escaneo de dependencias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Si algo falla, no se integra. Esto ahorra muchísimo retrabajo.</a:t>
            </a:r>
            <a:endParaRPr lang="es-ES" dirty="0"/>
          </a:p>
          <a:p>
            <a:r>
              <a:rPr lang="es-ES" dirty="0"/>
              <a:t>4) Pruebas por capas (pirámide simple)</a:t>
            </a:r>
          </a:p>
          <a:p>
            <a:r>
              <a:rPr lang="es-ES" b="1" dirty="0">
                <a:ea typeface="+mn-lt"/>
                <a:cs typeface="+mn-lt"/>
              </a:rPr>
              <a:t>Unitarias</a:t>
            </a:r>
            <a:r>
              <a:rPr lang="es-ES" dirty="0">
                <a:ea typeface="+mn-lt"/>
                <a:cs typeface="+mn-lt"/>
              </a:rPr>
              <a:t> (rápidas, muchas)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Integración</a:t>
            </a:r>
            <a:r>
              <a:rPr lang="es-ES" dirty="0">
                <a:ea typeface="+mn-lt"/>
                <a:cs typeface="+mn-lt"/>
              </a:rPr>
              <a:t> (APIs/BD, menos)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Funcionales/UAT</a:t>
            </a:r>
            <a:r>
              <a:rPr lang="es-ES" dirty="0">
                <a:ea typeface="+mn-lt"/>
                <a:cs typeface="+mn-lt"/>
              </a:rPr>
              <a:t> (escenarios reales, checklist)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Regresión mínima</a:t>
            </a:r>
            <a:r>
              <a:rPr lang="es-ES" dirty="0">
                <a:ea typeface="+mn-lt"/>
                <a:cs typeface="+mn-lt"/>
              </a:rPr>
              <a:t> antes de release (5–10 casos críticos)</a:t>
            </a:r>
            <a:endParaRPr lang="es-ES" dirty="0"/>
          </a:p>
          <a:p>
            <a:r>
              <a:rPr lang="es-ES" dirty="0"/>
              <a:t>5) Gates de salida (calidad antes de entregar a TIC / producción)</a:t>
            </a:r>
          </a:p>
          <a:p>
            <a:r>
              <a:rPr lang="es-ES" b="1" dirty="0">
                <a:ea typeface="+mn-lt"/>
                <a:cs typeface="+mn-lt"/>
              </a:rPr>
              <a:t>Gate a entrega</a:t>
            </a:r>
            <a:r>
              <a:rPr lang="es-ES" dirty="0">
                <a:ea typeface="+mn-lt"/>
                <a:cs typeface="+mn-lt"/>
              </a:rPr>
              <a:t> (</a:t>
            </a:r>
            <a:r>
              <a:rPr lang="es-ES" dirty="0" err="1">
                <a:ea typeface="+mn-lt"/>
                <a:cs typeface="+mn-lt"/>
              </a:rPr>
              <a:t>checklist</a:t>
            </a:r>
            <a:r>
              <a:rPr lang="es-ES" dirty="0">
                <a:ea typeface="+mn-lt"/>
                <a:cs typeface="+mn-lt"/>
              </a:rPr>
              <a:t>):</a:t>
            </a:r>
            <a:endParaRPr lang="es-ES"/>
          </a:p>
          <a:p>
            <a:r>
              <a:rPr lang="es-ES" dirty="0">
                <a:ea typeface="+mn-lt"/>
                <a:cs typeface="+mn-lt"/>
              </a:rPr>
              <a:t>UAT aprobado (si aplica)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plan de rollback (aunque sea básico)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manual usuario + manual técnico + notas de versión</a:t>
            </a:r>
            <a:endParaRPr lang="es-ES" dirty="0"/>
          </a:p>
          <a:p>
            <a:r>
              <a:rPr lang="es-ES" dirty="0" err="1">
                <a:ea typeface="+mn-lt"/>
                <a:cs typeface="+mn-lt"/>
              </a:rPr>
              <a:t>runbook</a:t>
            </a:r>
            <a:r>
              <a:rPr lang="es-ES" dirty="0">
                <a:ea typeface="+mn-lt"/>
                <a:cs typeface="+mn-lt"/>
              </a:rPr>
              <a:t> L1 (qué hacer si falla)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sin credenciales en código y permisos revisados</a:t>
            </a:r>
            <a:endParaRPr lang="es-ES" dirty="0"/>
          </a:p>
          <a:p>
            <a:br>
              <a:rPr lang="en-US" dirty="0"/>
            </a:br>
            <a:endParaRPr lang="en-US" dirty="0"/>
          </a:p>
          <a:p>
            <a:r>
              <a:rPr lang="es-ES" dirty="0"/>
              <a:t>Métricas mínimas (para controlar calidad de verdad)</a:t>
            </a:r>
          </a:p>
          <a:p>
            <a:r>
              <a:rPr lang="es-ES" dirty="0">
                <a:ea typeface="+mn-lt"/>
                <a:cs typeface="+mn-lt"/>
              </a:rPr>
              <a:t>% entregas que pasan gate </a:t>
            </a:r>
            <a:r>
              <a:rPr lang="es-ES" b="1" dirty="0">
                <a:ea typeface="+mn-lt"/>
                <a:cs typeface="+mn-lt"/>
              </a:rPr>
              <a:t>a la primera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defectos en UAT / producción por release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retrabajo (historias reabiertas)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tiempo a primer PR aceptado (mide onboarding/calidad)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Si quieres, te dejo en 1 página: </a:t>
            </a:r>
            <a:r>
              <a:rPr lang="es-ES" b="1" dirty="0">
                <a:ea typeface="+mn-lt"/>
                <a:cs typeface="+mn-lt"/>
              </a:rPr>
              <a:t>DoR + DoD + Checklist PR + Checklist Gate de entrega a TIC</a:t>
            </a:r>
            <a:r>
              <a:rPr lang="es-ES" dirty="0">
                <a:ea typeface="+mn-lt"/>
                <a:cs typeface="+mn-lt"/>
              </a:rPr>
              <a:t> para que lo adopten desde el próximo sprint.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29638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FF416-FF91-BFEF-0C2F-55ACD5917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B1F431-AE4D-48AC-7901-4A6322727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FF0000"/>
                </a:solidFill>
              </a:rPr>
              <a:t>Beneficios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0B18B4-8ACD-E4E3-6C61-BF07FDE74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74417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D4B37-4296-DFFE-1C62-4E744C374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Impacto del CDT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E2FE52-7E56-8B06-712C-EEA3D195B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25000" lnSpcReduction="20000"/>
          </a:bodyPr>
          <a:lstStyle/>
          <a:p>
            <a:r>
              <a:rPr lang="es-ES" dirty="0">
                <a:ea typeface="+mn-lt"/>
                <a:cs typeface="+mn-lt"/>
              </a:rPr>
              <a:t>Para “vender” el CDT a gerencia/vicerrectoría, lo que funciona es hablar en </a:t>
            </a:r>
            <a:r>
              <a:rPr lang="es-ES" b="1" dirty="0">
                <a:ea typeface="+mn-lt"/>
                <a:cs typeface="+mn-lt"/>
              </a:rPr>
              <a:t>valor institucional + control de riesgos + resultados medibles</a:t>
            </a:r>
            <a:r>
              <a:rPr lang="es-ES" dirty="0">
                <a:ea typeface="+mn-lt"/>
                <a:cs typeface="+mn-lt"/>
              </a:rPr>
              <a:t>, no en tecnología. Aquí tienes un guion y un paquete de argumentos listos.</a:t>
            </a:r>
            <a:endParaRPr lang="es-ES" dirty="0"/>
          </a:p>
          <a:p>
            <a:r>
              <a:rPr lang="es-ES" dirty="0"/>
              <a:t>1) Mensaje central (en 20 segundos)</a:t>
            </a:r>
          </a:p>
          <a:p>
            <a:r>
              <a:rPr lang="es-ES" b="1" dirty="0">
                <a:ea typeface="+mn-lt"/>
                <a:cs typeface="+mn-lt"/>
              </a:rPr>
              <a:t>“El CDT convierte necesidades internas en soluciones digitales rápidas y seguras, mientras forma talento. No es un ‘taller de estudiantes’: es una fábrica de MVPs con gobierno, calidad y transferencia a TI para operación estable.”</a:t>
            </a:r>
            <a:endParaRPr lang="es-ES" dirty="0">
              <a:ea typeface="+mn-lt"/>
              <a:cs typeface="+mn-lt"/>
            </a:endParaRPr>
          </a:p>
          <a:p>
            <a:r>
              <a:rPr lang="es-ES" dirty="0"/>
              <a:t>2) Beneficios que más les importan (en su idioma)</a:t>
            </a:r>
          </a:p>
          <a:p>
            <a:r>
              <a:rPr lang="es-ES" dirty="0"/>
              <a:t>A) Impacto institucional (resultados)</a:t>
            </a:r>
          </a:p>
          <a:p>
            <a:r>
              <a:rPr lang="es-ES" b="1" dirty="0">
                <a:ea typeface="+mn-lt"/>
                <a:cs typeface="+mn-lt"/>
              </a:rPr>
              <a:t>Agiliza procesos</a:t>
            </a:r>
            <a:r>
              <a:rPr lang="es-ES" dirty="0">
                <a:ea typeface="+mn-lt"/>
                <a:cs typeface="+mn-lt"/>
              </a:rPr>
              <a:t> de áreas: menos tiempos de respuesta, menos tareas manuales, más trazabilidad.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Aumenta productividad</a:t>
            </a:r>
            <a:r>
              <a:rPr lang="es-ES" dirty="0">
                <a:ea typeface="+mn-lt"/>
                <a:cs typeface="+mn-lt"/>
              </a:rPr>
              <a:t> del personal: automatizaciones y herramientas internas.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Mejora servicio al estudiante</a:t>
            </a:r>
            <a:r>
              <a:rPr lang="es-ES" dirty="0">
                <a:ea typeface="+mn-lt"/>
                <a:cs typeface="+mn-lt"/>
              </a:rPr>
              <a:t> (si aplica): sistemas que reducen filas, errores y reprocesos.</a:t>
            </a:r>
            <a:endParaRPr lang="es-ES" dirty="0"/>
          </a:p>
          <a:p>
            <a:r>
              <a:rPr lang="es-ES" dirty="0"/>
              <a:t>B) Gestión y control (riesgo)</a:t>
            </a:r>
          </a:p>
          <a:p>
            <a:r>
              <a:rPr lang="es-ES" b="1" dirty="0">
                <a:ea typeface="+mn-lt"/>
                <a:cs typeface="+mn-lt"/>
              </a:rPr>
              <a:t>Gobernanza</a:t>
            </a:r>
            <a:r>
              <a:rPr lang="es-ES" dirty="0">
                <a:ea typeface="+mn-lt"/>
                <a:cs typeface="+mn-lt"/>
              </a:rPr>
              <a:t>: priorización transparente, backlog único, decisiones con responsables.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Calidad</a:t>
            </a:r>
            <a:r>
              <a:rPr lang="es-ES" dirty="0">
                <a:ea typeface="+mn-lt"/>
                <a:cs typeface="+mn-lt"/>
              </a:rPr>
              <a:t>: gates de entrega, pruebas, UAT y evidencias.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Continuidad</a:t>
            </a:r>
            <a:r>
              <a:rPr lang="es-ES" dirty="0">
                <a:ea typeface="+mn-lt"/>
                <a:cs typeface="+mn-lt"/>
              </a:rPr>
              <a:t>: transición formal a TI (producción) y </a:t>
            </a:r>
            <a:r>
              <a:rPr lang="es-ES" dirty="0" err="1">
                <a:ea typeface="+mn-lt"/>
                <a:cs typeface="+mn-lt"/>
              </a:rPr>
              <a:t>runbooks</a:t>
            </a:r>
            <a:r>
              <a:rPr lang="es-ES" dirty="0">
                <a:ea typeface="+mn-lt"/>
                <a:cs typeface="+mn-lt"/>
              </a:rPr>
              <a:t>.</a:t>
            </a:r>
            <a:endParaRPr lang="es-ES" dirty="0"/>
          </a:p>
          <a:p>
            <a:r>
              <a:rPr lang="es-ES" dirty="0"/>
              <a:t>C) Formación (valor académico)</a:t>
            </a:r>
          </a:p>
          <a:p>
            <a:r>
              <a:rPr lang="es-ES" dirty="0">
                <a:ea typeface="+mn-lt"/>
                <a:cs typeface="+mn-lt"/>
              </a:rPr>
              <a:t>Practicantes llegan a su práctica con </a:t>
            </a:r>
            <a:r>
              <a:rPr lang="es-ES" b="1" dirty="0">
                <a:ea typeface="+mn-lt"/>
                <a:cs typeface="+mn-lt"/>
              </a:rPr>
              <a:t>semillero previo</a:t>
            </a:r>
            <a:r>
              <a:rPr lang="es-ES" dirty="0">
                <a:ea typeface="+mn-lt"/>
                <a:cs typeface="+mn-lt"/>
              </a:rPr>
              <a:t>, estándares y trabajo en equipo real.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Alinea el programa de Ingeniería con necesidades reales de la Universidad (“aprender haciendo”).</a:t>
            </a:r>
            <a:endParaRPr lang="es-ES" dirty="0"/>
          </a:p>
          <a:p>
            <a:r>
              <a:rPr lang="es-ES" dirty="0"/>
              <a:t>3) Lo que más les preocupa (y cómo lo neutralizas)</a:t>
            </a:r>
          </a:p>
          <a:p>
            <a:r>
              <a:rPr lang="es-ES" b="1" dirty="0">
                <a:ea typeface="+mn-lt"/>
                <a:cs typeface="+mn-lt"/>
              </a:rPr>
              <a:t>Objeción 1: “Eso es riesgoso, son estudiantes.”</a:t>
            </a:r>
            <a:br>
              <a:rPr lang="es-ES" b="1" dirty="0">
                <a:ea typeface="+mn-lt"/>
                <a:cs typeface="+mn-lt"/>
              </a:rPr>
            </a:br>
            <a:r>
              <a:rPr lang="es-ES" b="1" dirty="0">
                <a:ea typeface="+mn-lt"/>
                <a:cs typeface="+mn-lt"/>
              </a:rPr>
              <a:t> Respuesta: “Por eso el CDT opera con gates</a:t>
            </a:r>
            <a:r>
              <a:rPr lang="es-ES" dirty="0">
                <a:ea typeface="+mn-lt"/>
                <a:cs typeface="+mn-lt"/>
              </a:rPr>
              <a:t>: semillero previo, estándares, pruebas y </a:t>
            </a:r>
            <a:r>
              <a:rPr lang="es-ES" b="1" dirty="0">
                <a:ea typeface="+mn-lt"/>
                <a:cs typeface="+mn-lt"/>
              </a:rPr>
              <a:t>TI controla producción</a:t>
            </a:r>
            <a:r>
              <a:rPr lang="es-ES" dirty="0">
                <a:ea typeface="+mn-lt"/>
                <a:cs typeface="+mn-lt"/>
              </a:rPr>
              <a:t>.”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Objeción 2: “Se nos va a volver un caos de solicitudes.”</a:t>
            </a:r>
            <a:br>
              <a:rPr lang="es-ES" b="1" dirty="0">
                <a:ea typeface="+mn-lt"/>
                <a:cs typeface="+mn-lt"/>
              </a:rPr>
            </a:br>
            <a:r>
              <a:rPr lang="es-ES" b="1" dirty="0">
                <a:ea typeface="+mn-lt"/>
                <a:cs typeface="+mn-lt"/>
              </a:rPr>
              <a:t> Respuesta: “Se crea un comité quincenal de demanda</a:t>
            </a:r>
            <a:r>
              <a:rPr lang="es-ES" dirty="0">
                <a:ea typeface="+mn-lt"/>
                <a:cs typeface="+mn-lt"/>
              </a:rPr>
              <a:t>, con criterios de priorización y catálogo de servicios.”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Objeción 3: “¿Quién responde si algo falla?”</a:t>
            </a:r>
            <a:br>
              <a:rPr lang="es-ES" b="1" dirty="0">
                <a:ea typeface="+mn-lt"/>
                <a:cs typeface="+mn-lt"/>
              </a:rPr>
            </a:br>
            <a:r>
              <a:rPr lang="es-ES" b="1" dirty="0">
                <a:ea typeface="+mn-lt"/>
                <a:cs typeface="+mn-lt"/>
              </a:rPr>
              <a:t> Respuesta: “Se define </a:t>
            </a:r>
            <a:r>
              <a:rPr lang="es-ES" b="1" dirty="0" err="1">
                <a:ea typeface="+mn-lt"/>
                <a:cs typeface="+mn-lt"/>
              </a:rPr>
              <a:t>ownership</a:t>
            </a:r>
            <a:r>
              <a:rPr lang="es-ES" b="1" dirty="0">
                <a:ea typeface="+mn-lt"/>
                <a:cs typeface="+mn-lt"/>
              </a:rPr>
              <a:t>: PO del área + responsable técnico. Además, hay </a:t>
            </a:r>
            <a:r>
              <a:rPr lang="es-ES" b="1" dirty="0" err="1">
                <a:ea typeface="+mn-lt"/>
                <a:cs typeface="+mn-lt"/>
              </a:rPr>
              <a:t>hypercare</a:t>
            </a:r>
            <a:r>
              <a:rPr lang="es-ES" dirty="0">
                <a:ea typeface="+mn-lt"/>
                <a:cs typeface="+mn-lt"/>
              </a:rPr>
              <a:t> y traspaso a TI.”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Objeción 4: “¿Cuánto cuesta?”</a:t>
            </a:r>
            <a:br>
              <a:rPr lang="es-ES" b="1" dirty="0">
                <a:ea typeface="+mn-lt"/>
                <a:cs typeface="+mn-lt"/>
              </a:rPr>
            </a:br>
            <a:r>
              <a:rPr lang="es-ES" b="1" dirty="0">
                <a:ea typeface="+mn-lt"/>
                <a:cs typeface="+mn-lt"/>
              </a:rPr>
              <a:t> Respuesta: “Es un modelo de alto impacto con bajo CAPEX</a:t>
            </a:r>
            <a:r>
              <a:rPr lang="es-ES" dirty="0">
                <a:ea typeface="+mn-lt"/>
                <a:cs typeface="+mn-lt"/>
              </a:rPr>
              <a:t>: se apalanca en práctica académica + herramientas existentes, y se mide retorno por horas ahorradas y reducción de reprocesos.”</a:t>
            </a:r>
            <a:endParaRPr lang="es-ES" dirty="0"/>
          </a:p>
          <a:p>
            <a:r>
              <a:rPr lang="es-ES" dirty="0"/>
              <a:t>4) Propuesta de “Oferta” (lo que aprueban)</a:t>
            </a:r>
          </a:p>
          <a:p>
            <a:r>
              <a:rPr lang="es-ES" dirty="0">
                <a:ea typeface="+mn-lt"/>
                <a:cs typeface="+mn-lt"/>
              </a:rPr>
              <a:t>Pídeles aprobar 4 cosas, muy concretas: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Formalización del CDT</a:t>
            </a:r>
            <a:r>
              <a:rPr lang="es-ES" dirty="0">
                <a:ea typeface="+mn-lt"/>
                <a:cs typeface="+mn-lt"/>
              </a:rPr>
              <a:t> (misión, alcance, roles, relación con TI).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Modelo de Gobierno</a:t>
            </a:r>
            <a:r>
              <a:rPr lang="es-ES" dirty="0">
                <a:ea typeface="+mn-lt"/>
                <a:cs typeface="+mn-lt"/>
              </a:rPr>
              <a:t> (comités, decisiones, priorización).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Modelo Operativo</a:t>
            </a:r>
            <a:r>
              <a:rPr lang="es-ES" dirty="0">
                <a:ea typeface="+mn-lt"/>
                <a:cs typeface="+mn-lt"/>
              </a:rPr>
              <a:t> (pipeline y gates: </a:t>
            </a:r>
            <a:r>
              <a:rPr lang="es-ES" dirty="0" err="1">
                <a:ea typeface="+mn-lt"/>
                <a:cs typeface="+mn-lt"/>
              </a:rPr>
              <a:t>DoR</a:t>
            </a:r>
            <a:r>
              <a:rPr lang="es-ES" dirty="0">
                <a:ea typeface="+mn-lt"/>
                <a:cs typeface="+mn-lt"/>
              </a:rPr>
              <a:t>/</a:t>
            </a:r>
            <a:r>
              <a:rPr lang="es-ES" dirty="0" err="1">
                <a:ea typeface="+mn-lt"/>
                <a:cs typeface="+mn-lt"/>
              </a:rPr>
              <a:t>DoD</a:t>
            </a:r>
            <a:r>
              <a:rPr lang="es-ES" dirty="0">
                <a:ea typeface="+mn-lt"/>
                <a:cs typeface="+mn-lt"/>
              </a:rPr>
              <a:t>, UAT, </a:t>
            </a:r>
            <a:r>
              <a:rPr lang="es-ES" dirty="0" err="1">
                <a:ea typeface="+mn-lt"/>
                <a:cs typeface="+mn-lt"/>
              </a:rPr>
              <a:t>release</a:t>
            </a:r>
            <a:r>
              <a:rPr lang="es-ES" dirty="0">
                <a:ea typeface="+mn-lt"/>
                <a:cs typeface="+mn-lt"/>
              </a:rPr>
              <a:t>, </a:t>
            </a:r>
            <a:r>
              <a:rPr lang="es-ES" dirty="0" err="1">
                <a:ea typeface="+mn-lt"/>
                <a:cs typeface="+mn-lt"/>
              </a:rPr>
              <a:t>runbook</a:t>
            </a:r>
            <a:r>
              <a:rPr lang="es-ES" dirty="0">
                <a:ea typeface="+mn-lt"/>
                <a:cs typeface="+mn-lt"/>
              </a:rPr>
              <a:t>).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Plan 90 días</a:t>
            </a:r>
            <a:r>
              <a:rPr lang="es-ES" dirty="0">
                <a:ea typeface="+mn-lt"/>
                <a:cs typeface="+mn-lt"/>
              </a:rPr>
              <a:t> con entregables y </a:t>
            </a:r>
            <a:r>
              <a:rPr lang="es-ES" dirty="0" err="1">
                <a:ea typeface="+mn-lt"/>
                <a:cs typeface="+mn-lt"/>
              </a:rPr>
              <a:t>KPIs</a:t>
            </a:r>
            <a:r>
              <a:rPr lang="es-ES" dirty="0">
                <a:ea typeface="+mn-lt"/>
                <a:cs typeface="+mn-lt"/>
              </a:rPr>
              <a:t>.</a:t>
            </a:r>
            <a:endParaRPr lang="es-ES" dirty="0"/>
          </a:p>
          <a:p>
            <a:r>
              <a:rPr lang="es-ES" dirty="0"/>
              <a:t>5) Plan 90 días (muy vendible)</a:t>
            </a:r>
          </a:p>
          <a:p>
            <a:r>
              <a:rPr lang="es-ES" b="1" dirty="0">
                <a:ea typeface="+mn-lt"/>
                <a:cs typeface="+mn-lt"/>
              </a:rPr>
              <a:t>Semana 1–2:</a:t>
            </a:r>
            <a:r>
              <a:rPr lang="es-ES" dirty="0">
                <a:ea typeface="+mn-lt"/>
                <a:cs typeface="+mn-lt"/>
              </a:rPr>
              <a:t> estandarización (FUTCO-</a:t>
            </a:r>
            <a:r>
              <a:rPr lang="es-ES" dirty="0" err="1">
                <a:ea typeface="+mn-lt"/>
                <a:cs typeface="+mn-lt"/>
              </a:rPr>
              <a:t>way</a:t>
            </a:r>
            <a:r>
              <a:rPr lang="es-ES" dirty="0">
                <a:ea typeface="+mn-lt"/>
                <a:cs typeface="+mn-lt"/>
              </a:rPr>
              <a:t>, plantillas, </a:t>
            </a:r>
            <a:r>
              <a:rPr lang="es-ES" dirty="0" err="1">
                <a:ea typeface="+mn-lt"/>
                <a:cs typeface="+mn-lt"/>
              </a:rPr>
              <a:t>DoD</a:t>
            </a:r>
            <a:r>
              <a:rPr lang="es-ES" dirty="0">
                <a:ea typeface="+mn-lt"/>
                <a:cs typeface="+mn-lt"/>
              </a:rPr>
              <a:t>/</a:t>
            </a:r>
            <a:r>
              <a:rPr lang="es-ES" dirty="0" err="1">
                <a:ea typeface="+mn-lt"/>
                <a:cs typeface="+mn-lt"/>
              </a:rPr>
              <a:t>DoR</a:t>
            </a:r>
            <a:r>
              <a:rPr lang="es-ES" dirty="0">
                <a:ea typeface="+mn-lt"/>
                <a:cs typeface="+mn-lt"/>
              </a:rPr>
              <a:t>, semillero).</a:t>
            </a:r>
            <a:br>
              <a:rPr lang="es-ES" dirty="0">
                <a:ea typeface="+mn-lt"/>
                <a:cs typeface="+mn-lt"/>
              </a:rPr>
            </a:br>
            <a:r>
              <a:rPr lang="es-ES" dirty="0">
                <a:ea typeface="+mn-lt"/>
                <a:cs typeface="+mn-lt"/>
              </a:rPr>
              <a:t> </a:t>
            </a:r>
            <a:r>
              <a:rPr lang="es-ES" b="1" dirty="0">
                <a:ea typeface="+mn-lt"/>
                <a:cs typeface="+mn-lt"/>
              </a:rPr>
              <a:t>Semana 3–6:</a:t>
            </a:r>
            <a:r>
              <a:rPr lang="es-ES" dirty="0">
                <a:ea typeface="+mn-lt"/>
                <a:cs typeface="+mn-lt"/>
              </a:rPr>
              <a:t> 2 </a:t>
            </a:r>
            <a:r>
              <a:rPr lang="es-ES" dirty="0" err="1">
                <a:ea typeface="+mn-lt"/>
                <a:cs typeface="+mn-lt"/>
              </a:rPr>
              <a:t>MVPs</a:t>
            </a:r>
            <a:r>
              <a:rPr lang="es-ES" dirty="0">
                <a:ea typeface="+mn-lt"/>
                <a:cs typeface="+mn-lt"/>
              </a:rPr>
              <a:t> con ciclo completo + entrega formal a TIC.</a:t>
            </a:r>
            <a:br>
              <a:rPr lang="es-ES" dirty="0">
                <a:ea typeface="+mn-lt"/>
                <a:cs typeface="+mn-lt"/>
              </a:rPr>
            </a:br>
            <a:r>
              <a:rPr lang="es-ES" dirty="0">
                <a:ea typeface="+mn-lt"/>
                <a:cs typeface="+mn-lt"/>
              </a:rPr>
              <a:t> </a:t>
            </a:r>
            <a:r>
              <a:rPr lang="es-ES" b="1" dirty="0">
                <a:ea typeface="+mn-lt"/>
                <a:cs typeface="+mn-lt"/>
              </a:rPr>
              <a:t>Semana 7–12:</a:t>
            </a:r>
            <a:r>
              <a:rPr lang="es-ES" dirty="0">
                <a:ea typeface="+mn-lt"/>
                <a:cs typeface="+mn-lt"/>
              </a:rPr>
              <a:t> primer piloto controlado + métricas + reporte ejecutivo.</a:t>
            </a:r>
          </a:p>
          <a:p>
            <a:r>
              <a:rPr lang="es-ES" b="1" dirty="0" err="1">
                <a:ea typeface="+mn-lt"/>
                <a:cs typeface="+mn-lt"/>
              </a:rPr>
              <a:t>KPIs</a:t>
            </a:r>
            <a:r>
              <a:rPr lang="es-ES" b="1" dirty="0">
                <a:ea typeface="+mn-lt"/>
                <a:cs typeface="+mn-lt"/>
              </a:rPr>
              <a:t> que entienden: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tiempo </a:t>
            </a:r>
            <a:r>
              <a:rPr lang="es-ES" dirty="0" err="1">
                <a:ea typeface="+mn-lt"/>
                <a:cs typeface="+mn-lt"/>
              </a:rPr>
              <a:t>solicitud→primer</a:t>
            </a:r>
            <a:r>
              <a:rPr lang="es-ES" dirty="0">
                <a:ea typeface="+mn-lt"/>
                <a:cs typeface="+mn-lt"/>
              </a:rPr>
              <a:t> MVP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% entregas aceptadas a la primera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defectos post entrega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horas ahorradas en procesos (áreas)</a:t>
            </a:r>
            <a:endParaRPr lang="es-ES"/>
          </a:p>
          <a:p>
            <a:r>
              <a:rPr lang="es-ES" dirty="0">
                <a:ea typeface="+mn-lt"/>
                <a:cs typeface="+mn-lt"/>
              </a:rPr>
              <a:t>satisfacción del área (1–5)</a:t>
            </a:r>
            <a:endParaRPr lang="es-ES" dirty="0"/>
          </a:p>
          <a:p>
            <a:r>
              <a:rPr lang="es-ES" dirty="0"/>
              <a:t>6) Guion para reunión (10–12 minutos)</a:t>
            </a:r>
          </a:p>
          <a:p>
            <a:r>
              <a:rPr lang="es-ES" b="1" dirty="0">
                <a:ea typeface="+mn-lt"/>
                <a:cs typeface="+mn-lt"/>
              </a:rPr>
              <a:t>Problema actual (1 min):</a:t>
            </a:r>
            <a:r>
              <a:rPr lang="es-ES" dirty="0">
                <a:ea typeface="+mn-lt"/>
                <a:cs typeface="+mn-lt"/>
              </a:rPr>
              <a:t> hay necesidades digitales, TI está ocupado con operación, y los </a:t>
            </a:r>
            <a:r>
              <a:rPr lang="es-ES" dirty="0" err="1">
                <a:ea typeface="+mn-lt"/>
                <a:cs typeface="+mn-lt"/>
              </a:rPr>
              <a:t>MVPs</a:t>
            </a:r>
            <a:r>
              <a:rPr lang="es-ES" dirty="0">
                <a:ea typeface="+mn-lt"/>
                <a:cs typeface="+mn-lt"/>
              </a:rPr>
              <a:t> dependen de esfuerzo puntual.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Solución (2 min):</a:t>
            </a:r>
            <a:r>
              <a:rPr lang="es-ES" dirty="0">
                <a:ea typeface="+mn-lt"/>
                <a:cs typeface="+mn-lt"/>
              </a:rPr>
              <a:t> CDT como fábrica de </a:t>
            </a:r>
            <a:r>
              <a:rPr lang="es-ES" dirty="0" err="1">
                <a:ea typeface="+mn-lt"/>
                <a:cs typeface="+mn-lt"/>
              </a:rPr>
              <a:t>MVPs</a:t>
            </a:r>
            <a:r>
              <a:rPr lang="es-ES" dirty="0">
                <a:ea typeface="+mn-lt"/>
                <a:cs typeface="+mn-lt"/>
              </a:rPr>
              <a:t> con gobierno y transferencia a TI.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Cómo controlamos el riesgo (2 min):</a:t>
            </a:r>
            <a:r>
              <a:rPr lang="es-ES" dirty="0">
                <a:ea typeface="+mn-lt"/>
                <a:cs typeface="+mn-lt"/>
              </a:rPr>
              <a:t> semillero + gates + TI opera producción.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Qué entregamos (2 min):</a:t>
            </a:r>
            <a:r>
              <a:rPr lang="es-ES" dirty="0">
                <a:ea typeface="+mn-lt"/>
                <a:cs typeface="+mn-lt"/>
              </a:rPr>
              <a:t> catálogo de servicios, pipeline, 2 </a:t>
            </a:r>
            <a:r>
              <a:rPr lang="es-ES" dirty="0" err="1">
                <a:ea typeface="+mn-lt"/>
                <a:cs typeface="+mn-lt"/>
              </a:rPr>
              <a:t>MVPs</a:t>
            </a:r>
            <a:r>
              <a:rPr lang="es-ES" dirty="0">
                <a:ea typeface="+mn-lt"/>
                <a:cs typeface="+mn-lt"/>
              </a:rPr>
              <a:t> priorizados.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Plan 90 días + </a:t>
            </a:r>
            <a:r>
              <a:rPr lang="es-ES" b="1" dirty="0" err="1">
                <a:ea typeface="+mn-lt"/>
                <a:cs typeface="+mn-lt"/>
              </a:rPr>
              <a:t>KPIs</a:t>
            </a:r>
            <a:r>
              <a:rPr lang="es-ES" b="1" dirty="0">
                <a:ea typeface="+mn-lt"/>
                <a:cs typeface="+mn-lt"/>
              </a:rPr>
              <a:t> (2 min).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Qué pedimos hoy (1 min):</a:t>
            </a:r>
            <a:r>
              <a:rPr lang="es-ES" dirty="0">
                <a:ea typeface="+mn-lt"/>
                <a:cs typeface="+mn-lt"/>
              </a:rPr>
              <a:t> aprobación del modelo + patrocinio + enlace TI + comité de demanda.</a:t>
            </a:r>
            <a:endParaRPr lang="es-ES" dirty="0"/>
          </a:p>
          <a:p>
            <a:r>
              <a:rPr lang="es-ES" dirty="0"/>
              <a:t>7) “</a:t>
            </a:r>
            <a:r>
              <a:rPr lang="es-ES" dirty="0" err="1"/>
              <a:t>One-pager</a:t>
            </a:r>
            <a:r>
              <a:rPr lang="es-ES" dirty="0"/>
              <a:t>” (para enviar por correo)</a:t>
            </a:r>
          </a:p>
          <a:p>
            <a:r>
              <a:rPr lang="es-ES" dirty="0">
                <a:ea typeface="+mn-lt"/>
                <a:cs typeface="+mn-lt"/>
              </a:rPr>
              <a:t>Si quieres, te lo redacto en 1 página con: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propósito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beneficios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modelo de control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plan 90 días</a:t>
            </a:r>
            <a:endParaRPr lang="es-ES" dirty="0"/>
          </a:p>
          <a:p>
            <a:r>
              <a:rPr lang="es-ES" dirty="0" err="1">
                <a:ea typeface="+mn-lt"/>
                <a:cs typeface="+mn-lt"/>
              </a:rPr>
              <a:t>KPIs</a:t>
            </a:r>
            <a:endParaRPr lang="es-ES" dirty="0" err="1"/>
          </a:p>
          <a:p>
            <a:r>
              <a:rPr lang="es-ES" dirty="0">
                <a:ea typeface="+mn-lt"/>
                <a:cs typeface="+mn-lt"/>
              </a:rPr>
              <a:t>decisiones solicitadas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Dime: ¿la gerencia/vicerrectoría valora más </a:t>
            </a:r>
            <a:r>
              <a:rPr lang="es-ES" b="1" dirty="0">
                <a:ea typeface="+mn-lt"/>
                <a:cs typeface="+mn-lt"/>
              </a:rPr>
              <a:t>impacto académico</a:t>
            </a:r>
            <a:r>
              <a:rPr lang="es-ES" dirty="0">
                <a:ea typeface="+mn-lt"/>
                <a:cs typeface="+mn-lt"/>
              </a:rPr>
              <a:t>, </a:t>
            </a:r>
            <a:r>
              <a:rPr lang="es-ES" b="1" dirty="0">
                <a:ea typeface="+mn-lt"/>
                <a:cs typeface="+mn-lt"/>
              </a:rPr>
              <a:t>eficiencia administrativa</a:t>
            </a:r>
            <a:r>
              <a:rPr lang="es-ES" dirty="0">
                <a:ea typeface="+mn-lt"/>
                <a:cs typeface="+mn-lt"/>
              </a:rPr>
              <a:t>, o </a:t>
            </a:r>
            <a:r>
              <a:rPr lang="es-ES" b="1" dirty="0">
                <a:ea typeface="+mn-lt"/>
                <a:cs typeface="+mn-lt"/>
              </a:rPr>
              <a:t>transformación digital</a:t>
            </a:r>
            <a:r>
              <a:rPr lang="es-ES" dirty="0">
                <a:ea typeface="+mn-lt"/>
                <a:cs typeface="+mn-lt"/>
              </a:rPr>
              <a:t>? Con eso te ajusto el pitch a lo que más les “mueve la aguja”.</a:t>
            </a:r>
            <a:endParaRPr lang="es-ES" dirty="0"/>
          </a:p>
          <a:p>
            <a:br>
              <a:rPr lang="en-US" dirty="0"/>
            </a:br>
            <a:endParaRPr lang="en-U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574042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59464C-5880-FEA1-8706-B7920D5BA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Impacto </a:t>
            </a:r>
            <a:r>
              <a:rPr lang="es-ES" dirty="0" err="1"/>
              <a:t>Academico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C4B93D-75F7-7C10-9663-B253ABF57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25000" lnSpcReduction="20000"/>
          </a:bodyPr>
          <a:lstStyle/>
          <a:p>
            <a:r>
              <a:rPr lang="es-ES" dirty="0">
                <a:ea typeface="+mn-lt"/>
                <a:cs typeface="+mn-lt"/>
              </a:rPr>
              <a:t>Desde lo académico, el CDT puede convertirse en un </a:t>
            </a:r>
            <a:r>
              <a:rPr lang="es-ES" b="1" dirty="0">
                <a:ea typeface="+mn-lt"/>
                <a:cs typeface="+mn-lt"/>
              </a:rPr>
              <a:t>“laboratorio vivo”</a:t>
            </a:r>
            <a:r>
              <a:rPr lang="es-ES" dirty="0">
                <a:ea typeface="+mn-lt"/>
                <a:cs typeface="+mn-lt"/>
              </a:rPr>
              <a:t> que conecta currículo, investigación, semilleros y innovación con problemas reales de la Universidad y del entorno. Así impacta, de forma concreta:</a:t>
            </a:r>
            <a:endParaRPr lang="es-ES" dirty="0"/>
          </a:p>
          <a:p>
            <a:r>
              <a:rPr lang="es-ES" dirty="0"/>
              <a:t>1) Impacto en el currículo (formación por competencias)</a:t>
            </a:r>
          </a:p>
          <a:p>
            <a:r>
              <a:rPr lang="es-ES" dirty="0"/>
              <a:t>A) Aprendizaje auténtico (no solo teoría)</a:t>
            </a:r>
          </a:p>
          <a:p>
            <a:r>
              <a:rPr lang="es-ES" dirty="0">
                <a:ea typeface="+mn-lt"/>
                <a:cs typeface="+mn-lt"/>
              </a:rPr>
              <a:t>Los estudiantes trabajan con </a:t>
            </a:r>
            <a:r>
              <a:rPr lang="es-ES" b="1" dirty="0">
                <a:ea typeface="+mn-lt"/>
                <a:cs typeface="+mn-lt"/>
              </a:rPr>
              <a:t>casos reales</a:t>
            </a:r>
            <a:r>
              <a:rPr lang="es-ES" dirty="0">
                <a:ea typeface="+mn-lt"/>
                <a:cs typeface="+mn-lt"/>
              </a:rPr>
              <a:t>, usuarios reales y restricciones reales (tiempo, calidad, datos).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Se fortalece la competencia de </a:t>
            </a:r>
            <a:r>
              <a:rPr lang="es-ES" b="1" dirty="0">
                <a:ea typeface="+mn-lt"/>
                <a:cs typeface="+mn-lt"/>
              </a:rPr>
              <a:t>ingeniería completa</a:t>
            </a:r>
            <a:r>
              <a:rPr lang="es-ES" dirty="0">
                <a:ea typeface="+mn-lt"/>
                <a:cs typeface="+mn-lt"/>
              </a:rPr>
              <a:t>: requisitos → diseño → desarrollo → pruebas → entrega → soporte.</a:t>
            </a:r>
            <a:endParaRPr lang="es-ES" dirty="0"/>
          </a:p>
          <a:p>
            <a:r>
              <a:rPr lang="es-ES" dirty="0"/>
              <a:t>B) Trayecto formativo con progresión</a:t>
            </a:r>
          </a:p>
          <a:p>
            <a:r>
              <a:rPr lang="es-ES" dirty="0">
                <a:ea typeface="+mn-lt"/>
                <a:cs typeface="+mn-lt"/>
              </a:rPr>
              <a:t>Puedes mapear el CDT como una </a:t>
            </a:r>
            <a:r>
              <a:rPr lang="es-ES" b="1" dirty="0">
                <a:ea typeface="+mn-lt"/>
                <a:cs typeface="+mn-lt"/>
              </a:rPr>
              <a:t>ruta</a:t>
            </a:r>
            <a:r>
              <a:rPr lang="es-ES" dirty="0">
                <a:ea typeface="+mn-lt"/>
                <a:cs typeface="+mn-lt"/>
              </a:rPr>
              <a:t>: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Semillero previo</a:t>
            </a:r>
            <a:r>
              <a:rPr lang="es-ES" dirty="0">
                <a:ea typeface="+mn-lt"/>
                <a:cs typeface="+mn-lt"/>
              </a:rPr>
              <a:t> (fundamentos + estándares + </a:t>
            </a:r>
            <a:r>
              <a:rPr lang="es-ES" dirty="0" err="1">
                <a:ea typeface="+mn-lt"/>
                <a:cs typeface="+mn-lt"/>
              </a:rPr>
              <a:t>mini-proyecto</a:t>
            </a:r>
            <a:r>
              <a:rPr lang="es-ES" dirty="0">
                <a:ea typeface="+mn-lt"/>
                <a:cs typeface="+mn-lt"/>
              </a:rPr>
              <a:t>)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Proyecto de aula</a:t>
            </a:r>
            <a:r>
              <a:rPr lang="es-ES" dirty="0">
                <a:ea typeface="+mn-lt"/>
                <a:cs typeface="+mn-lt"/>
              </a:rPr>
              <a:t> (módulos específicos del CDT)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Práctica</a:t>
            </a:r>
            <a:r>
              <a:rPr lang="es-ES" dirty="0">
                <a:ea typeface="+mn-lt"/>
                <a:cs typeface="+mn-lt"/>
              </a:rPr>
              <a:t> (participación en MVPs reales)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Trabajo de grado</a:t>
            </a:r>
            <a:r>
              <a:rPr lang="es-ES" dirty="0">
                <a:ea typeface="+mn-lt"/>
                <a:cs typeface="+mn-lt"/>
              </a:rPr>
              <a:t> (evolución, escalabilidad, analítica, seguridad, IA, etc.)</a:t>
            </a:r>
            <a:endParaRPr lang="es-ES" dirty="0"/>
          </a:p>
          <a:p>
            <a:r>
              <a:rPr lang="es-ES" dirty="0"/>
              <a:t>C) Desarrollo de competencias “empleabilidad”</a:t>
            </a:r>
          </a:p>
          <a:p>
            <a:r>
              <a:rPr lang="es-ES" dirty="0">
                <a:ea typeface="+mn-lt"/>
                <a:cs typeface="+mn-lt"/>
              </a:rPr>
              <a:t>Git, trabajo ágil, documentación, calidad, comunicación con stakeholders, presentación de resultados.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Portafolio real con evidencia (más potente que “proyectos de clase”).</a:t>
            </a:r>
            <a:endParaRPr lang="es-ES" dirty="0"/>
          </a:p>
          <a:p>
            <a:r>
              <a:rPr lang="es-ES" dirty="0"/>
              <a:t>2) Impacto en procesos de investigación (investigación aplicada)</a:t>
            </a:r>
          </a:p>
          <a:p>
            <a:r>
              <a:rPr lang="es-ES" dirty="0">
                <a:ea typeface="+mn-lt"/>
                <a:cs typeface="+mn-lt"/>
              </a:rPr>
              <a:t>El CDT habilita investigación con datos y escenarios reales: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Líneas aplicadas</a:t>
            </a:r>
            <a:r>
              <a:rPr lang="es-ES" dirty="0">
                <a:ea typeface="+mn-lt"/>
                <a:cs typeface="+mn-lt"/>
              </a:rPr>
              <a:t>: ingeniería de software, calidad, DevOps, UX, ciberseguridad, analítica, IA aplicada.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Diseños de investigación</a:t>
            </a:r>
            <a:r>
              <a:rPr lang="es-ES" dirty="0">
                <a:ea typeface="+mn-lt"/>
                <a:cs typeface="+mn-lt"/>
              </a:rPr>
              <a:t> posibles:</a:t>
            </a:r>
            <a:endParaRPr lang="es-ES" dirty="0"/>
          </a:p>
          <a:p>
            <a:pPr lvl="1"/>
            <a:r>
              <a:rPr lang="es-ES" dirty="0">
                <a:ea typeface="+mn-lt"/>
                <a:cs typeface="+mn-lt"/>
              </a:rPr>
              <a:t>Estudios </a:t>
            </a:r>
            <a:r>
              <a:rPr lang="es-ES" dirty="0" err="1">
                <a:ea typeface="+mn-lt"/>
                <a:cs typeface="+mn-lt"/>
              </a:rPr>
              <a:t>cuasi-experimentales</a:t>
            </a:r>
            <a:r>
              <a:rPr lang="es-ES" dirty="0">
                <a:ea typeface="+mn-lt"/>
                <a:cs typeface="+mn-lt"/>
              </a:rPr>
              <a:t> (ej. “semillero previo vs sin semillero”: tiempo a primer PR, defectos, retrabajo)</a:t>
            </a:r>
            <a:endParaRPr lang="es-ES" dirty="0"/>
          </a:p>
          <a:p>
            <a:pPr lvl="1"/>
            <a:r>
              <a:rPr lang="es-ES" dirty="0">
                <a:ea typeface="+mn-lt"/>
                <a:cs typeface="+mn-lt"/>
              </a:rPr>
              <a:t>Estudios de caso (implementación de gobierno/arquitectura y efectos)</a:t>
            </a:r>
            <a:endParaRPr lang="es-ES" dirty="0"/>
          </a:p>
          <a:p>
            <a:pPr lvl="1"/>
            <a:r>
              <a:rPr lang="es-ES" dirty="0">
                <a:ea typeface="+mn-lt"/>
                <a:cs typeface="+mn-lt"/>
              </a:rPr>
              <a:t>Investigación-acción (mejora continua del CDT basada en evidencia)</a:t>
            </a:r>
            <a:endParaRPr lang="es-ES" dirty="0"/>
          </a:p>
          <a:p>
            <a:pPr lvl="1"/>
            <a:r>
              <a:rPr lang="es-ES" b="1" dirty="0">
                <a:ea typeface="+mn-lt"/>
                <a:cs typeface="+mn-lt"/>
              </a:rPr>
              <a:t>Productos académicos derivables: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artículos, ponencias, posters, capítulos de libro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instrumentos: rúbricas, modelos de madurez, guías metodológicas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repositorios de buenas prácticas (open educational resources)</a:t>
            </a:r>
            <a:endParaRPr lang="es-ES" dirty="0"/>
          </a:p>
          <a:p>
            <a:r>
              <a:rPr lang="es-ES" dirty="0"/>
              <a:t>3) Impacto en semilleros (formación investigativa con entrega tangible)</a:t>
            </a:r>
          </a:p>
          <a:p>
            <a:r>
              <a:rPr lang="es-ES" dirty="0">
                <a:ea typeface="+mn-lt"/>
                <a:cs typeface="+mn-lt"/>
              </a:rPr>
              <a:t>El CDT se convierte en el “campo de práctica” del semillero: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Semilleros pueden asumir </a:t>
            </a:r>
            <a:r>
              <a:rPr lang="es-ES" b="1" dirty="0">
                <a:ea typeface="+mn-lt"/>
                <a:cs typeface="+mn-lt"/>
              </a:rPr>
              <a:t>retos investigables</a:t>
            </a:r>
            <a:r>
              <a:rPr lang="es-ES" dirty="0">
                <a:ea typeface="+mn-lt"/>
                <a:cs typeface="+mn-lt"/>
              </a:rPr>
              <a:t>: rendimiento, calidad, seguridad, usabilidad, accesibilidad, deuda técnica.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Cada cohorte produce:</a:t>
            </a:r>
            <a:endParaRPr lang="es-ES" dirty="0"/>
          </a:p>
          <a:p>
            <a:pPr lvl="1"/>
            <a:r>
              <a:rPr lang="es-ES" dirty="0">
                <a:ea typeface="+mn-lt"/>
                <a:cs typeface="+mn-lt"/>
              </a:rPr>
              <a:t>1 prototipo o módulo</a:t>
            </a:r>
            <a:endParaRPr lang="es-ES" dirty="0"/>
          </a:p>
          <a:p>
            <a:pPr lvl="1"/>
            <a:r>
              <a:rPr lang="es-ES" dirty="0">
                <a:ea typeface="+mn-lt"/>
                <a:cs typeface="+mn-lt"/>
              </a:rPr>
              <a:t>1 informe técnico con método (métricas + resultados)</a:t>
            </a:r>
            <a:endParaRPr lang="es-ES" dirty="0"/>
          </a:p>
          <a:p>
            <a:pPr lvl="1"/>
            <a:r>
              <a:rPr lang="es-ES" dirty="0">
                <a:ea typeface="+mn-lt"/>
                <a:cs typeface="+mn-lt"/>
              </a:rPr>
              <a:t>1 producto académico (poster/ponencia corta)</a:t>
            </a:r>
            <a:endParaRPr lang="es-ES" dirty="0"/>
          </a:p>
          <a:p>
            <a:pPr lvl="1"/>
            <a:r>
              <a:rPr lang="es-ES" dirty="0">
                <a:ea typeface="+mn-lt"/>
                <a:cs typeface="+mn-lt"/>
              </a:rPr>
              <a:t>Esto eleva el semillero de “taller” a </a:t>
            </a:r>
            <a:r>
              <a:rPr lang="es-ES" b="1" dirty="0">
                <a:ea typeface="+mn-lt"/>
                <a:cs typeface="+mn-lt"/>
              </a:rPr>
              <a:t>semillero con producción científica y tecnológica</a:t>
            </a:r>
            <a:r>
              <a:rPr lang="es-ES" dirty="0">
                <a:ea typeface="+mn-lt"/>
                <a:cs typeface="+mn-lt"/>
              </a:rPr>
              <a:t>.</a:t>
            </a:r>
            <a:endParaRPr lang="es-ES" dirty="0"/>
          </a:p>
          <a:p>
            <a:pPr lvl="1"/>
            <a:r>
              <a:rPr lang="es-ES" dirty="0"/>
              <a:t>4) Impacto en grupos de investigación (mayor productividad y transferencia)</a:t>
            </a:r>
          </a:p>
          <a:p>
            <a:pPr lvl="1"/>
            <a:r>
              <a:rPr lang="es-ES" dirty="0">
                <a:ea typeface="+mn-lt"/>
                <a:cs typeface="+mn-lt"/>
              </a:rPr>
              <a:t>Para los grupos, el CDT aporta algo crítico: </a:t>
            </a:r>
            <a:r>
              <a:rPr lang="es-ES" b="1" dirty="0">
                <a:ea typeface="+mn-lt"/>
                <a:cs typeface="+mn-lt"/>
              </a:rPr>
              <a:t>proyectos con transferencia</a:t>
            </a:r>
            <a:r>
              <a:rPr lang="es-ES" dirty="0">
                <a:ea typeface="+mn-lt"/>
                <a:cs typeface="+mn-lt"/>
              </a:rPr>
              <a:t>.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Los grupos pueden estructurar el CDT como:</a:t>
            </a:r>
            <a:endParaRPr lang="es-ES" dirty="0"/>
          </a:p>
          <a:p>
            <a:pPr lvl="1"/>
            <a:r>
              <a:rPr lang="es-ES" b="1" dirty="0">
                <a:ea typeface="+mn-lt"/>
                <a:cs typeface="+mn-lt"/>
              </a:rPr>
              <a:t>línea de I+D+i</a:t>
            </a:r>
            <a:r>
              <a:rPr lang="es-ES" dirty="0">
                <a:ea typeface="+mn-lt"/>
                <a:cs typeface="+mn-lt"/>
              </a:rPr>
              <a:t> (desarrollo tecnológico)</a:t>
            </a:r>
            <a:endParaRPr lang="es-ES" dirty="0"/>
          </a:p>
          <a:p>
            <a:pPr lvl="1"/>
            <a:r>
              <a:rPr lang="es-ES" b="1" dirty="0">
                <a:ea typeface="+mn-lt"/>
                <a:cs typeface="+mn-lt"/>
              </a:rPr>
              <a:t>banco de problemas</a:t>
            </a:r>
            <a:r>
              <a:rPr lang="es-ES" dirty="0">
                <a:ea typeface="+mn-lt"/>
                <a:cs typeface="+mn-lt"/>
              </a:rPr>
              <a:t> (backlog de la universidad/sector)</a:t>
            </a:r>
            <a:endParaRPr lang="es-ES" dirty="0"/>
          </a:p>
          <a:p>
            <a:pPr lvl="1"/>
            <a:r>
              <a:rPr lang="es-ES" b="1" dirty="0">
                <a:ea typeface="+mn-lt"/>
                <a:cs typeface="+mn-lt"/>
              </a:rPr>
              <a:t>plataforma de experimentación</a:t>
            </a:r>
            <a:r>
              <a:rPr lang="es-ES" dirty="0">
                <a:ea typeface="+mn-lt"/>
                <a:cs typeface="+mn-lt"/>
              </a:rPr>
              <a:t> (métricas, evaluación de métodos, herramientas)</a:t>
            </a:r>
            <a:endParaRPr lang="es-ES" dirty="0"/>
          </a:p>
          <a:p>
            <a:pPr lvl="1"/>
            <a:r>
              <a:rPr lang="es-ES" b="1" dirty="0">
                <a:ea typeface="+mn-lt"/>
                <a:cs typeface="+mn-lt"/>
              </a:rPr>
              <a:t>Resultados típicos para acreditación/medición: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productos tecnológicos (software validado/pilotos)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apropiación social (soluciones aplicadas en la institución)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formación de talento (dirección de estudiantes, semilleristas)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alianzas con sector externo (si se extiende)</a:t>
            </a:r>
            <a:endParaRPr lang="es-ES" dirty="0"/>
          </a:p>
          <a:p>
            <a:r>
              <a:rPr lang="es-ES" dirty="0"/>
              <a:t>5) Impacto en innovación (el CDT como motor de I+D+i)</a:t>
            </a:r>
          </a:p>
          <a:p>
            <a:r>
              <a:rPr lang="es-ES" dirty="0"/>
              <a:t>Innovación interna</a:t>
            </a:r>
          </a:p>
          <a:p>
            <a:r>
              <a:rPr lang="es-ES" dirty="0">
                <a:ea typeface="+mn-lt"/>
                <a:cs typeface="+mn-lt"/>
              </a:rPr>
              <a:t>Automatizaciones y sistemas que mejoran procesos universitarios.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Cultura de “resolver con tecnología” con trazabilidad y priorización.</a:t>
            </a:r>
            <a:endParaRPr lang="es-ES" dirty="0"/>
          </a:p>
          <a:p>
            <a:r>
              <a:rPr lang="es-ES" dirty="0"/>
              <a:t>Innovación externa (si se decide)</a:t>
            </a:r>
          </a:p>
          <a:p>
            <a:r>
              <a:rPr lang="es-ES" dirty="0">
                <a:ea typeface="+mn-lt"/>
                <a:cs typeface="+mn-lt"/>
              </a:rPr>
              <a:t>Prototipos para empresas/entidades locales (prácticas, consultoría, extensión).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Pre-incubación: de MVP institucional a producto/servicio transferible.</a:t>
            </a:r>
            <a:endParaRPr lang="es-ES" dirty="0"/>
          </a:p>
          <a:p>
            <a:r>
              <a:rPr lang="es-ES" dirty="0"/>
              <a:t>Gestión de portafolio de innovación</a:t>
            </a:r>
          </a:p>
          <a:p>
            <a:r>
              <a:rPr lang="es-ES" dirty="0">
                <a:ea typeface="+mn-lt"/>
                <a:cs typeface="+mn-lt"/>
              </a:rPr>
              <a:t>Cada iniciativa puede gestionarse con TRL:</a:t>
            </a:r>
            <a:endParaRPr lang="es-ES" dirty="0"/>
          </a:p>
          <a:p>
            <a:pPr lvl="1"/>
            <a:r>
              <a:rPr lang="es-ES" dirty="0">
                <a:ea typeface="+mn-lt"/>
                <a:cs typeface="+mn-lt"/>
              </a:rPr>
              <a:t>prototipo (TRL 3–4)</a:t>
            </a:r>
            <a:endParaRPr lang="es-ES" dirty="0"/>
          </a:p>
          <a:p>
            <a:pPr lvl="1"/>
            <a:r>
              <a:rPr lang="es-ES" dirty="0">
                <a:ea typeface="+mn-lt"/>
                <a:cs typeface="+mn-lt"/>
              </a:rPr>
              <a:t>UAT/piloto (TRL 5–6)</a:t>
            </a:r>
            <a:endParaRPr lang="es-ES" dirty="0"/>
          </a:p>
          <a:p>
            <a:pPr lvl="1"/>
            <a:r>
              <a:rPr lang="es-ES" dirty="0">
                <a:ea typeface="+mn-lt"/>
                <a:cs typeface="+mn-lt"/>
              </a:rPr>
              <a:t>producción (TRL 7+)</a:t>
            </a:r>
            <a:endParaRPr lang="es-ES" dirty="0"/>
          </a:p>
          <a:p>
            <a:pPr lvl="1"/>
            <a:r>
              <a:rPr lang="es-ES" dirty="0"/>
              <a:t>6) Qué debe aprobar la Vicerrectoría (para que el impacto académico sea real)</a:t>
            </a:r>
          </a:p>
          <a:p>
            <a:r>
              <a:rPr lang="es-ES" b="1" dirty="0">
                <a:ea typeface="+mn-lt"/>
                <a:cs typeface="+mn-lt"/>
              </a:rPr>
              <a:t>CDT como componente curricular</a:t>
            </a:r>
            <a:r>
              <a:rPr lang="es-ES" dirty="0">
                <a:ea typeface="+mn-lt"/>
                <a:cs typeface="+mn-lt"/>
              </a:rPr>
              <a:t> (ruta: semillero → proyecto de aula → práctica → grado)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Política de proyectos del CDT</a:t>
            </a:r>
            <a:r>
              <a:rPr lang="es-ES" dirty="0">
                <a:ea typeface="+mn-lt"/>
                <a:cs typeface="+mn-lt"/>
              </a:rPr>
              <a:t> (tipos, criterios, evidencias, roles)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Vinculación formal a grupos/semilleros</a:t>
            </a:r>
            <a:r>
              <a:rPr lang="es-ES" dirty="0">
                <a:ea typeface="+mn-lt"/>
                <a:cs typeface="+mn-lt"/>
              </a:rPr>
              <a:t> (líneas, productos y metas)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Modelo de evaluación</a:t>
            </a:r>
            <a:r>
              <a:rPr lang="es-ES" dirty="0">
                <a:ea typeface="+mn-lt"/>
                <a:cs typeface="+mn-lt"/>
              </a:rPr>
              <a:t> (rúbricas, KPIs académicos y técnicos)</a:t>
            </a:r>
            <a:endParaRPr lang="es-ES" dirty="0"/>
          </a:p>
          <a:p>
            <a:r>
              <a:rPr lang="es-ES" dirty="0"/>
              <a:t>7) Indicadores académicos (para mostrar valor a la dirección)</a:t>
            </a:r>
          </a:p>
          <a:p>
            <a:r>
              <a:rPr lang="es-ES" dirty="0">
                <a:ea typeface="+mn-lt"/>
                <a:cs typeface="+mn-lt"/>
              </a:rPr>
              <a:t>% estudiantes que completan semillero y entran al CDT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tiempo a “primer aporte útil” (primer PR / primer entregable validado)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número de proyectos de aula conectados al CDT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productos de investigación derivados (ponencias, posters, artículos)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proyectos con transferencia/uso real en la Universidad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satisfacción de áreas usuarias y estudiantes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Si quieres, te armo un </a:t>
            </a:r>
            <a:r>
              <a:rPr lang="es-ES" b="1" dirty="0">
                <a:ea typeface="+mn-lt"/>
                <a:cs typeface="+mn-lt"/>
              </a:rPr>
              <a:t>marco de 1–2 páginas</a:t>
            </a:r>
            <a:r>
              <a:rPr lang="es-ES" dirty="0">
                <a:ea typeface="+mn-lt"/>
                <a:cs typeface="+mn-lt"/>
              </a:rPr>
              <a:t> para Vicerrectoría con: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cómo se integra al currículo por semestre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cómo se articula con semilleros y grupos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cómo se mide (indicadores)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qué decisiones institucionales se requieren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921752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27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28" baseType="lpstr">
      <vt:lpstr>Tema de Office</vt:lpstr>
      <vt:lpstr> Modelo Operativo y de Gobernanza del Centro de Desarrollo Tecnológico FUTCO, mediante un enfoque de Arquitectura Empresarial</vt:lpstr>
      <vt:lpstr>Contenido</vt:lpstr>
      <vt:lpstr>introduccion</vt:lpstr>
      <vt:lpstr>Algunos Conceptos Previos</vt:lpstr>
      <vt:lpstr>Arquitectura Empresarial</vt:lpstr>
      <vt:lpstr>Gobierno de TI </vt:lpstr>
      <vt:lpstr>Como se integra</vt:lpstr>
      <vt:lpstr>Situacion Actual del CDT FUTCO</vt:lpstr>
      <vt:lpstr>Presentación de PowerPoint</vt:lpstr>
      <vt:lpstr>Lo que SÍ está cubierto hoy (AS-IS)</vt:lpstr>
      <vt:lpstr>Lo que no esta cubierto hoy()</vt:lpstr>
      <vt:lpstr>Como Escalamos los Productos</vt:lpstr>
      <vt:lpstr>Fortalezas</vt:lpstr>
      <vt:lpstr>Oportunidades de Mejora </vt:lpstr>
      <vt:lpstr>Modelo Propuesto</vt:lpstr>
      <vt:lpstr>Modelo de Operacion</vt:lpstr>
      <vt:lpstr>Modelo de Gobierno</vt:lpstr>
      <vt:lpstr>Arquitectura EMpresarial </vt:lpstr>
      <vt:lpstr>Como reducir la curva de aprendizaje</vt:lpstr>
      <vt:lpstr>Semillero de Formacion CDT FUTCO (Previo a la practica) </vt:lpstr>
      <vt:lpstr>Como disminuir los tiempos de desarrollo</vt:lpstr>
      <vt:lpstr>Como garantizar la escalabilidad de los productos</vt:lpstr>
      <vt:lpstr>TRL </vt:lpstr>
      <vt:lpstr>Como garantizar la calidad </vt:lpstr>
      <vt:lpstr>Beneficios</vt:lpstr>
      <vt:lpstr>Impacto del CDT</vt:lpstr>
      <vt:lpstr>Impacto Academico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170</cp:revision>
  <dcterms:created xsi:type="dcterms:W3CDTF">2026-02-17T19:45:01Z</dcterms:created>
  <dcterms:modified xsi:type="dcterms:W3CDTF">2026-02-18T18:55:25Z</dcterms:modified>
</cp:coreProperties>
</file>