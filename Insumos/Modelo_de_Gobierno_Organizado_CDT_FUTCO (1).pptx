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1168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Operativo y de Gobernanza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Desarrollo Tecnológico (CDT) FUTCO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401568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Enfoque: Arquitectura Empresarial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63093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organizada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y alcance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resuelve este modelo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10908792" cy="2148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745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cómo el CDT prioriza, desarrolla, prueba, entrega y transfiere soluciones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calidad, escalabilidad y continuidad operativa.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10908792" cy="2423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1605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CDT (Build): discovery, diseño, desarrollo, pruebas, documentación y acompañamiento de release.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institucional (Run): operación en producción, continuidad, seguridad de plataforma y soporte.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un MVP no pasa a producción sin gate técnico + UAT + paquete de entrega.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presentación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10972800" cy="2202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base: Arquitectura Empresarial y Gobierno de TI</a:t>
            </a:r>
            <a:endParaRPr lang="en-US" sz="2200" dirty="0"/>
          </a:p>
          <a:p>
            <a:pPr marL="279400" indent="-2794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actual del CDT FUTCO (AS-IS) y brechas</a:t>
            </a:r>
            <a:endParaRPr lang="en-US" sz="2200" dirty="0"/>
          </a:p>
          <a:p>
            <a:pPr marL="279400" indent="-2794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propuesto (TO-BE): operación, gobierno y cadena de entrega</a:t>
            </a:r>
            <a:endParaRPr lang="en-US" sz="2200" dirty="0"/>
          </a:p>
          <a:p>
            <a:pPr marL="279400" indent="-2794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Calidad, escalabilidad y TRL para el portafolio</a:t>
            </a:r>
            <a:endParaRPr lang="en-US" sz="2200" dirty="0"/>
          </a:p>
          <a:p>
            <a:pPr marL="279400" indent="-2794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y roadmap 30/60/90 días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base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Empresarial y Gobierno de TI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5349240" cy="4709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7452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Empresarial (EA)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4800600" cy="120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maestro: estrategia, procesos, datos, aplicaciones y tecnología.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“TO-BE” (arquitectura objetivo) y el roadmap.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duplicidades y riesgos por decisiones coherentes.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9632" y="1691640"/>
            <a:ext cx="5349240" cy="4709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187452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de TI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73952" y="2286000"/>
            <a:ext cx="4800600" cy="120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quién decide, con qué reglas y con qué controles.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 valor, gestiona riesgos y cumplimiento.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comités, gates y métricas para ejecutar la estrategia.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Relación: EA define “qué y cómo debe ser”; Gobierno define “quién decide y controla para llegar allí”.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actual (AS-IS)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CDT como centro de prácticas + TI institucional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10908792" cy="4709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745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 relevantes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32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CDT desarrolla MVPs para distintas áreas con estudiantes en rotación.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principales: curva de aprendizaje, tiempos de desarrollo y calidad consistente.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institucional se enfoca en operación y procesos institucionales.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típicos (si no se estandariza)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10332720" cy="120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Retrabajo por requisitos incompletos y cambios tardíos.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líder técnico para continuidad.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difíciles de operar si faltan evidencias, runbooks y gates.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actuales (AS-IS)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básico de desarrollo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94560"/>
            <a:ext cx="2036003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04288"/>
            <a:ext cx="1853123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requisitos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94371" y="2487168"/>
            <a:ext cx="146304" cy="20116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58963" y="2194560"/>
            <a:ext cx="2036003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0403" y="2304288"/>
            <a:ext cx="1853123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13254" y="2487168"/>
            <a:ext cx="146304" cy="20116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7846" y="2194560"/>
            <a:ext cx="2036003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9286" y="2304288"/>
            <a:ext cx="1853123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(Scrum)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137" y="2487168"/>
            <a:ext cx="146304" cy="20116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96729" y="2194560"/>
            <a:ext cx="2036003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88169" y="2304288"/>
            <a:ext cx="1853123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351020" y="2487168"/>
            <a:ext cx="146304" cy="20116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15612" y="2194560"/>
            <a:ext cx="2036003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7052" y="2304288"/>
            <a:ext cx="1853123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246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procedimientos cubren el ciclo técnico, pero no completan gobierno, operación y estandarización.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3886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Brechas típicas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4251960"/>
            <a:ext cx="10972800" cy="1442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Intake/priorización y portafolio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 (plantillas, DoR/DoD, repos base)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ambientes y observabilidad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Soporte/hypercare y transferencia a operación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del modelo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Guardarraíles para velocidad + calidad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10972800" cy="2319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opera / CDT construye (producción es responsabilidad de TI).</a:t>
            </a:r>
            <a:endParaRPr lang="en-US" sz="2000" dirty="0"/>
          </a:p>
          <a:p>
            <a:pPr marL="254000" indent="-2540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por defecto: “FUTCO-way” (templates, convenciones y patrones).</a:t>
            </a:r>
            <a:endParaRPr lang="en-US" sz="2000" dirty="0"/>
          </a:p>
          <a:p>
            <a:pPr marL="254000" indent="-2540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Automatización: lint, pruebas y build en cada cambio.</a:t>
            </a:r>
            <a:endParaRPr lang="en-US" sz="2000" dirty="0"/>
          </a:p>
          <a:p>
            <a:pPr marL="254000" indent="-2540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integrada: roles, secretos fuera del código, auditoría mínima.</a:t>
            </a:r>
            <a:endParaRPr lang="en-US" sz="2000" dirty="0"/>
          </a:p>
          <a:p>
            <a:pPr marL="254000" indent="-2540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esencial: README, decisiones (ADR) y runbook L1.</a:t>
            </a:r>
            <a:endParaRPr lang="en-US" sz="2000" dirty="0"/>
          </a:p>
          <a:p>
            <a:pPr marL="254000" indent="-2540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Reutilización: componentes y arquitecturas de referencia.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operativo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mínimos y responsabilidades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10908792" cy="4709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745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núcleo (estables)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10332720" cy="1267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15900" indent="-215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TI: dueño de producción y operación (Run).</a:t>
            </a:r>
            <a:endParaRPr lang="en-US" sz="1700" dirty="0"/>
          </a:p>
          <a:p>
            <a:pPr marL="215900" indent="-215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CDT: demanda, portafolio y relación con áreas.</a:t>
            </a:r>
            <a:endParaRPr lang="en-US" sz="1700" dirty="0"/>
          </a:p>
          <a:p>
            <a:pPr marL="215900" indent="-215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Técnico CDT: estándares, arquitectura, revisión y mentoría.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por iniciativa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251960"/>
            <a:ext cx="10332720" cy="120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del área: define y acepta (UAT).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(Dev/QA/UX): construcción y evidencias bajo estándar.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TI: accesos, ambientes, despliegue y operación.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gobierno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Instancias, decisiones y cadencia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5318608" cy="2057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2024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Digital (mensual)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304288"/>
            <a:ext cx="4678528" cy="1056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0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 estratégicas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del CDT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Desbloqueos entre áreas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1737360"/>
            <a:ext cx="5318608" cy="2057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07328" y="192024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Demanda (quincenal)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53048" y="2304288"/>
            <a:ext cx="4678528" cy="1056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0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entra y qué no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del backlog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MVP y fechas de demo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5318608" cy="2057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29768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Técnico/Arquitectura (semanal)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4681728"/>
            <a:ext cx="4678528" cy="1056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0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y patrones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Integración/datos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mínima y excepciones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33008" y="4114800"/>
            <a:ext cx="5318608" cy="2057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07328" y="429768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Release a producción (por entrega)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53048" y="4681728"/>
            <a:ext cx="4678528" cy="1056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0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OK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aprobado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rollback + runbook + hypercare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entrega (end-to-end)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idea a la operación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31720"/>
            <a:ext cx="126793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41448"/>
            <a:ext cx="117649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7738" y="2331720"/>
            <a:ext cx="126793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3458" y="2441448"/>
            <a:ext cx="117649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ligero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95396" y="2331720"/>
            <a:ext cx="126793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1116" y="2441448"/>
            <a:ext cx="117649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73054" y="2331720"/>
            <a:ext cx="126793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774" y="2441448"/>
            <a:ext cx="117649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50712" y="2331720"/>
            <a:ext cx="126793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6432" y="2441448"/>
            <a:ext cx="117649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28369" y="2331720"/>
            <a:ext cx="126793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74090" y="2441448"/>
            <a:ext cx="117649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06027" y="2331720"/>
            <a:ext cx="126793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51747" y="2441448"/>
            <a:ext cx="117649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283685" y="2331720"/>
            <a:ext cx="126793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29405" y="2441448"/>
            <a:ext cx="117649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control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3657600"/>
            <a:ext cx="10972800" cy="120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DoR: historias listas antes de entrar al sprint.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DoD: evidencias mínimas (pruebas, revisión, docs) para cerrar.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UAT + checklist + rollback + runbook antes de producción.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garantizar la calidad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+ evidencias + gates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10908792" cy="4709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745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 mínimas (sin burocracia)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32720" cy="1851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y DoD por historia (criterios de entrada/salida).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código obligatoria (PR) + convención de repositorio.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mínimas automatizadas (unitarias/API) y evidencia UAT.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release: seguridad básica, rollback, runbook y monitoreo.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defectos post-UAT/PROD y % de gate a la primera.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de los productos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+ datos + operación + gobierno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73152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56232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286000"/>
            <a:ext cx="5044288" cy="1184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desde el inicio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Modularidad y APIs versionadas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stateless cuando aplique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53048" y="1874520"/>
            <a:ext cx="73152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0208" y="1856232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90208" y="2286000"/>
            <a:ext cx="5044288" cy="1184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sólido y reglas claras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Índices/consultas optimizadas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para lecturas frecuentes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526280"/>
            <a:ext cx="73152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507992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4937760"/>
            <a:ext cx="5044288" cy="1184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+ métricas mínimas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SLO/SLI básicos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carga por release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53048" y="4526280"/>
            <a:ext cx="73152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0208" y="4507992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y continuidad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90208" y="4937760"/>
            <a:ext cx="5044288" cy="1184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 y repos plantilla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técnica gestionada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+ runbooks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de los productos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madurez tecnológica (software)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práctico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cada producto por evidencias: demo → UAT → piloto → producción estable.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1005840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2514600"/>
            <a:ext cx="3749040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2514600"/>
            <a:ext cx="6217920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típica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1005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3063240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/ prototipo (DEV)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3063240"/>
            <a:ext cx="6217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técnica, prototipo funcional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611880"/>
            <a:ext cx="100584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3611880"/>
            <a:ext cx="374904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en QA/UAT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77840" y="3611880"/>
            <a:ext cx="621792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+ UAT aprobado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1005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4160520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controlado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4160520"/>
            <a:ext cx="6217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 usuarios + métricas básicas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709160"/>
            <a:ext cx="100584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4709160"/>
            <a:ext cx="374904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inicial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4709160"/>
            <a:ext cx="621792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release + monitoreo + rollback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257800"/>
            <a:ext cx="1005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5257800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estable / escalado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5257800"/>
            <a:ext cx="6217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+ KPIs sostenidos + hardening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y seguimiento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mínimas para gobernar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10972800" cy="2319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time: solicitud → primera entrega</a:t>
            </a:r>
            <a:endParaRPr lang="en-US" sz="2000" dirty="0"/>
          </a:p>
          <a:p>
            <a:pPr marL="254000" indent="-2540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time: inicio desarrollo → listo para UAT</a:t>
            </a:r>
            <a:endParaRPr lang="en-US" sz="2000" dirty="0"/>
          </a:p>
          <a:p>
            <a:pPr marL="254000" indent="-2540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releases que pasan el gate a la primera</a:t>
            </a:r>
            <a:endParaRPr lang="en-US" sz="2000" dirty="0"/>
          </a:p>
          <a:p>
            <a:pPr marL="254000" indent="-2540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post-UAT y post-producción</a:t>
            </a:r>
            <a:endParaRPr lang="en-US" sz="2000" dirty="0"/>
          </a:p>
          <a:p>
            <a:pPr marL="254000" indent="-2540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onboarding: hasta primer PR aceptado</a:t>
            </a:r>
            <a:endParaRPr lang="en-US" sz="2000" dirty="0"/>
          </a:p>
          <a:p>
            <a:pPr marL="254000" indent="-2540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Reutilización: componentes/APIs reutilizadas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sugerido: quincenal (CDT) y mensual (Steering Digital).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30/60/90 días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incremental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3454298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29970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días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2997098" cy="1070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mínimo (tablero + git + docs)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“FUTCO-way”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DoR/DoD + checklists (UAT/Release)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8698" y="1828800"/>
            <a:ext cx="3454298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7298" y="2011680"/>
            <a:ext cx="29970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días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97298" y="2423160"/>
            <a:ext cx="2997098" cy="1070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básico (lint + pruebas + build)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QA/UAT estandarizados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Onboarding/semillero y wiki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97317" y="1828800"/>
            <a:ext cx="3454298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2011680"/>
            <a:ext cx="29970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días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25917" y="2423160"/>
            <a:ext cx="2997098" cy="1070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mínima (QA/PROD)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IAM/SSO (si aplica)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quincenales + mejora continua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esperados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10908792" cy="4709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745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esperados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32720" cy="1851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curva de aprendizaje (onboarding estandarizado y templates).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entrega más predecibles (intake, backlog y gates).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calidad (evidencias y automatización mínima).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limpia a TI (paquetes de release y runbooks).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visible (TRL, KPIs y roadmap).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60807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 sugerido: validación del modelo con TI + 1 piloto (MVP) usando el flujo end-to-end.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CDT FUTCO</dc:creator>
  <cp:lastModifiedBy>CDT FUTCO</cp:lastModifiedBy>
  <cp:revision>1</cp:revision>
  <dcterms:created xsi:type="dcterms:W3CDTF">2026-02-18T02:25:57Z</dcterms:created>
  <dcterms:modified xsi:type="dcterms:W3CDTF">2026-02-18T02:25:57Z</dcterms:modified>
</cp:coreProperties>
</file>