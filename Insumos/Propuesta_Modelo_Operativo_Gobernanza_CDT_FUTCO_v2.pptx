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13D"/>
                </a:solidFill>
                <a:latin typeface="Calibri"/>
              </a:rPr>
              <a:t>Propuesta de Modelo Operativo y de Gobernanza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505A6E"/>
                </a:solidFill>
                <a:latin typeface="Calibri"/>
              </a:rPr>
              <a:t>Centro de Desarrollo Tecnológico (CDT) — FUTCO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505A6E"/>
                </a:solidFill>
                <a:latin typeface="Calibri"/>
              </a:rPr>
              <a:t>Presentación institucional — versión ejecutiva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A6E"/>
                </a:solidFill>
                <a:latin typeface="Calibri"/>
              </a:rPr>
              <a:t>Centro de Desarrollo Tecnológico (CDT) — FUTCO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565392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05A6E"/>
                </a:solidFill>
                <a:latin typeface="Calibri"/>
              </a:rPr>
              <a:t>2026-02-18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Contexto y propósito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13D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El CDT no es una isla: conecta la formación académica de Ingeniería con necesidades institucionales.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Entrega productos digitales con el estándar exigido por TI Institucional.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Funciona como centro de prácticas: alto valor formativo + alto impacto operativo.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480560"/>
            <a:ext cx="1078992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46177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Propósito del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29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Aumentar velocidad y calidad sin burocracia.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Reducir dependencia de personas (rotación) mediante estándares.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Asegurar transición limpia a TI para operación productiva.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A6E"/>
                </a:solidFill>
                <a:latin typeface="Calibri"/>
              </a:rPr>
              <a:t>Modelo Operativo y Gobernanza CDT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6565392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05A6E"/>
                </a:solidFill>
                <a:latin typeface="Calibri"/>
              </a:rPr>
              <a:t>Contexto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Diagnóstico (AS-IS)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13D"/>
                </a:solidFill>
                <a:latin typeface="Calibri"/>
              </a:rPr>
              <a:t>Situación actual (AS-IS)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349240" cy="4389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Cómo opera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CDT: centro de prácticas con estudiantes en rotación.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Se desarrollan MVPs para múltiples áreas.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TI Institucional: operación y procesos institucionales.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49240" cy="4389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69164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Retos observados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Curva de aprendizaje alta (productividad tardía).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Tiempos de desarrollo variables e impredecibles.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Calidad final inconsistente entre equipos/cohortes.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Dependencia del Líder Técnico para continuidad.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A6E"/>
                </a:solidFill>
                <a:latin typeface="Calibri"/>
              </a:rPr>
              <a:t>Modelo Operativo y Gobernanza CDT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6565392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05A6E"/>
                </a:solidFill>
                <a:latin typeface="Calibri"/>
              </a:rPr>
              <a:t>AS-IS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Riesgos y necesidad de estandarización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13D"/>
                </a:solidFill>
                <a:latin typeface="Calibri"/>
              </a:rPr>
              <a:t>Riesgos típicos (si no se estandariza)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Retrabajo por requisitos incompletos y cambios tardíos.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Entregas difíciles de operar si faltan evidencias, runbooks y “gates”.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Deuda técnica acumulada (baja escalabilidad del MVP).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Riesgos de seguridad y continuidad por prácticas no homogéneas.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Saturación de TI por correcciones posteriores a la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394960"/>
            <a:ext cx="1078992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55321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Principio rector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TI opera (PROD) / CDT construye (Build).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Lo que pasa a producción debe tener evidencia y control.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A6E"/>
                </a:solidFill>
                <a:latin typeface="Calibri"/>
              </a:rPr>
              <a:t>Modelo Operativo y Gobernanza CDT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6565392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05A6E"/>
                </a:solidFill>
                <a:latin typeface="Calibri"/>
              </a:rPr>
              <a:t>Riesgos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Visión (TO-BE)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13D"/>
                </a:solidFill>
                <a:latin typeface="Calibri"/>
              </a:rPr>
              <a:t>Situación objetivo (TO-BE)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CDT como fábrica de activos digitales institucionales (MVP → piloto → producción).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Modelo operativo con pipeline end-to-end y roles claros.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Modelo de gobierno liviano para priorizar demanda y controlar calidad.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Arquitectura Empresarial como marco de alineación y coherencia.</a:t>
            </a:r>
          </a:p>
        </p:txBody>
      </p:sp>
      <p:pic>
        <p:nvPicPr>
          <p:cNvPr id="6" name="Picture 5" descr="Diagrama de Contex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621792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525780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505A6E"/>
                </a:solidFill>
                <a:latin typeface="Calibri"/>
              </a:rPr>
              <a:t>Diagrama de contexto CDT (articulación institucional)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A6E"/>
                </a:solidFill>
                <a:latin typeface="Calibri"/>
              </a:rPr>
              <a:t>Modelo Operativo y Gobernanza CDT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6565392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05A6E"/>
                </a:solidFill>
                <a:latin typeface="Calibri"/>
              </a:rPr>
              <a:t>TO-BE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Modelo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13D"/>
                </a:solidFill>
                <a:latin typeface="Calibri"/>
              </a:rPr>
              <a:t>Pipeline end-to-end (operación del CDT)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423851" cy="1051560"/>
          </a:xfrm>
          <a:prstGeom prst="roundRect">
            <a:avLst/>
          </a:prstGeom>
          <a:solidFill>
            <a:srgbClr val="F5F7FC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4213D"/>
                </a:solidFill>
                <a:latin typeface="Calibri"/>
              </a:defRPr>
            </a:pPr>
            <a:r>
              <a:t>Intake</a:t>
            </a:r>
            <a:br/>
            <a:r>
              <a:t>(1 pág.)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A0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83971" y="2011680"/>
            <a:ext cx="1423851" cy="1051560"/>
          </a:xfrm>
          <a:prstGeom prst="roundRect">
            <a:avLst/>
          </a:prstGeom>
          <a:solidFill>
            <a:srgbClr val="F5F7FC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4213D"/>
                </a:solidFill>
                <a:latin typeface="Calibri"/>
              </a:defRPr>
            </a:pPr>
            <a:r>
              <a:t>Discovery</a:t>
            </a:r>
            <a:br/>
            <a:r>
              <a:t>(3–5 días)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A0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44982" y="2011680"/>
            <a:ext cx="1423851" cy="1051560"/>
          </a:xfrm>
          <a:prstGeom prst="roundRect">
            <a:avLst/>
          </a:prstGeom>
          <a:solidFill>
            <a:srgbClr val="F5F7FC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4213D"/>
                </a:solidFill>
                <a:latin typeface="Calibri"/>
              </a:defRPr>
            </a:pPr>
            <a:r>
              <a:t>Diseño ligero</a:t>
            </a:r>
            <a:br/>
            <a:r>
              <a:t>(2–5 días)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A0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05994" y="2011680"/>
            <a:ext cx="1423851" cy="1051560"/>
          </a:xfrm>
          <a:prstGeom prst="roundRect">
            <a:avLst/>
          </a:prstGeom>
          <a:solidFill>
            <a:srgbClr val="F5F7FC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4213D"/>
                </a:solidFill>
                <a:latin typeface="Calibri"/>
              </a:defRPr>
            </a:pPr>
            <a:r>
              <a:t>Delivery</a:t>
            </a:r>
            <a:br/>
            <a:r>
              <a:t>(sprints)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A0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67005" y="2011680"/>
            <a:ext cx="1423851" cy="1051560"/>
          </a:xfrm>
          <a:prstGeom prst="roundRect">
            <a:avLst/>
          </a:prstGeom>
          <a:solidFill>
            <a:srgbClr val="F5F7FC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4213D"/>
                </a:solidFill>
                <a:latin typeface="Calibri"/>
              </a:defRPr>
            </a:pPr>
            <a:r>
              <a:t>UAT</a:t>
            </a:r>
            <a:br/>
            <a:r>
              <a:t>(área)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A0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28017" y="2011680"/>
            <a:ext cx="1423851" cy="1051560"/>
          </a:xfrm>
          <a:prstGeom prst="roundRect">
            <a:avLst/>
          </a:prstGeom>
          <a:solidFill>
            <a:srgbClr val="F5F7FC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4213D"/>
                </a:solidFill>
                <a:latin typeface="Calibri"/>
              </a:defRPr>
            </a:pPr>
            <a:r>
              <a:t>Release</a:t>
            </a:r>
            <a:br/>
            <a:r>
              <a:t>+ Gate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A0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89028" y="2011680"/>
            <a:ext cx="1423851" cy="1051560"/>
          </a:xfrm>
          <a:prstGeom prst="roundRect">
            <a:avLst/>
          </a:prstGeom>
          <a:solidFill>
            <a:srgbClr val="F5F7FC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4213D"/>
                </a:solidFill>
                <a:latin typeface="Calibri"/>
              </a:defRPr>
            </a:pPr>
            <a:r>
              <a:t>Hypercare</a:t>
            </a:r>
            <a:br/>
            <a:r>
              <a:t>(1–2 sem.)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474720"/>
            <a:ext cx="1078992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6118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Entregables mínimos por iniciativa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23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Ficha MVP • Diseño de solución (2–4 págs.) • Backlog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Evidencias de pruebas/UAT • Notas de versión • Runbook L1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029200"/>
            <a:ext cx="1078992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5166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Regla de operación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778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CDT construye y acompaña el despliegue; TI Institucional ejecuta y opera producción.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Cada release incluye plan de rollback y ventana de despliegue.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A6E"/>
                </a:solidFill>
                <a:latin typeface="Calibri"/>
              </a:rPr>
              <a:t>Modelo Operativo y Gobernanza CDT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6565392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05A6E"/>
                </a:solidFill>
                <a:latin typeface="Calibri"/>
              </a:rPr>
              <a:t>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Gobernanza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13D"/>
                </a:solidFill>
                <a:latin typeface="Calibri"/>
              </a:rPr>
              <a:t>Modelo de Gobierno (liviano)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34924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1) Steering Digital (mensual)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Prioridades estratégicas y desbloqueos.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Participan: Vicerrectoría/Gerencia, TI, Coordinación CDT.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4924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69164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2) Comité de Demanda (quincenal)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Qué entra / qué no entra y orden del backlog.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Define compromisos de demo y alcance MVP.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86200"/>
            <a:ext cx="534924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40233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3) Comité Técnico/Arquitectura (semanal)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3484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Stack, integraciones, datos y seguridad mínima.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Gestiona excepciones con fecha de expiración.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886200"/>
            <a:ext cx="534924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40233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4) Gate Release a PROD (por entrega)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3484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Decide: listo / no listo para productivo.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Participan: TI (prod) + Líder Técnico + PO del área.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A6E"/>
                </a:solidFill>
                <a:latin typeface="Calibri"/>
              </a:rPr>
              <a:t>Modelo Operativo y Gobernanza CDT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565392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05A6E"/>
                </a:solidFill>
                <a:latin typeface="Calibri"/>
              </a:rPr>
              <a:t>Gobierno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13D"/>
                </a:solidFill>
                <a:latin typeface="Calibri"/>
              </a:rPr>
              <a:t>Roles clave (RACI mínimo)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7899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213D"/>
                          </a:solidFill>
                        </a:defRPr>
                      </a:pPr>
                      <a:r>
                        <a:t>Rol</a:t>
                      </a:r>
                    </a:p>
                  </a:txBody>
                  <a:tcPr marL="50800" marR="50800"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213D"/>
                          </a:solidFill>
                        </a:defRPr>
                      </a:pPr>
                      <a:r>
                        <a:t>Responsabilidad principal</a:t>
                      </a:r>
                    </a:p>
                  </a:txBody>
                  <a:tcPr marL="50800" marR="50800"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213D"/>
                          </a:solidFill>
                        </a:defRPr>
                      </a:pPr>
                      <a:r>
                        <a:t>Decisiones / entregables</a:t>
                      </a:r>
                    </a:p>
                  </a:txBody>
                  <a:tcPr marL="50800" marR="50800" anchor="ctr"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Sponsor institucional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Prioriza y habilita recursos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Aprueba portafolio y KPIs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Dueño de proceso (Área)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Define necesidad y valida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Acepta UAT y prioriza backlog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Coordinación CDT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Orquesta demanda y operación CDT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Plan de releases / reporting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Líder Técnico CDT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Arquitectura y estándares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Aprobación técnica / gates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Equipo de práctica (estudiantes)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Construcción y pruebas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Evidencias + demo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TI Institucional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Operación productiva y soporte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2D2D"/>
                          </a:solidFill>
                        </a:defRPr>
                      </a:pPr>
                      <a:r>
                        <a:t>Gate a PROD + runbooks L1–L3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6217920"/>
            <a:ext cx="107899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63550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Nota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766560"/>
            <a:ext cx="103327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RACI detallado por proceso se deja como anexo operativo.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A6E"/>
                </a:solidFill>
                <a:latin typeface="Calibri"/>
              </a:rPr>
              <a:t>Modelo Operativo y Gobernanza CDT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6565392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05A6E"/>
                </a:solidFill>
                <a:latin typeface="Calibri"/>
              </a:rPr>
              <a:t>Roles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13D"/>
                </a:solidFill>
                <a:latin typeface="Calibri"/>
              </a:rPr>
              <a:t>Cómo garantizamos la calidad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34924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Definición de Listo (DoR)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Requisito claro + alcance MVP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Criterios de aceptación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Datos/usuarios de prueba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Riesgos y restricciones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4924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69164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Definición de Hecho (DoD)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Pruebas unitarias + evidencia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Pruebas funcionales + UAT firmado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Documentación mínima (runbook/nota versión)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Checklist de seguridad básico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14800"/>
            <a:ext cx="1078992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42519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Gates (controles)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Gate 1: Discovery aprobado (alcance/criterios).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Gate 2: Diseño validado (arquitectura + datos).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Gate 3: Release a PROD (evidencias + rollback).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A6E"/>
                </a:solidFill>
                <a:latin typeface="Calibri"/>
              </a:rPr>
              <a:t>Modelo Operativo y Gobernanza CDT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6565392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05A6E"/>
                </a:solidFill>
                <a:latin typeface="Calibri"/>
              </a:rPr>
              <a:t>Calidad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Talento (semillero)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13D"/>
                </a:solidFill>
                <a:latin typeface="Calibri"/>
              </a:rPr>
              <a:t>Reducir curva de aprendizaje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78992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Semillero previo (4–6 semanas)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Ruta: Git • Clean Code • Testing • APIs • UI • DevOps básico.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Mini-proyecto guiado y evaluación práctica.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Banco de “kits” reutilizables (plantillas y ejemplos).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49039"/>
            <a:ext cx="534924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886199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Onboarding al CDT (primeros 10 días)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97679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Día 1–2: entorno + accesos + estándares FUTCO-way.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Día 3–5: lectura guiada de arquitectura y repos.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Día 6–10: tarea real pequeña + pairing + checklist.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749039"/>
            <a:ext cx="534924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886199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Mecanismos de transferencia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97679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Buddy (estudiante senior) por 2 semanas.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Playbook por rol (Dev/QA/PO).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Sesión semanal de lecciones aprendidas (30 min).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A6E"/>
                </a:solidFill>
                <a:latin typeface="Calibri"/>
              </a:rPr>
              <a:t>Modelo Operativo y Gobernanza CDT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6565392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05A6E"/>
                </a:solidFill>
                <a:latin typeface="Calibri"/>
              </a:rPr>
              <a:t>Semillero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Productividad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13D"/>
                </a:solidFill>
                <a:latin typeface="Calibri"/>
              </a:rPr>
              <a:t>Disminuir tiempos de desarrollo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349240" cy="2743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Palancas principales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Reutilización: componentes, plantillas, librerías internas.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Backlog priorizado + sprints cortos (1–2 semanas).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Historia técnica: definición de “Ready” antes de construir.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Automatización: CI/CD y pruebas básicas.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49240" cy="2743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69164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Arquitectura de referencia CDT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Estandariza: autenticación, logging, manejo de errores, base de datos.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Define patrones de integración con TI (APIs / datos).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Reduce decisiones repetitivas y acelera onboarding.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72000"/>
            <a:ext cx="1078992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47091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Métrica de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20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Lead Time (idea → demo) • Cycle Time (dev) • % retrabajo • defectos escapados.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Reporte quincenal al Comité de Demanda.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A6E"/>
                </a:solidFill>
                <a:latin typeface="Calibri"/>
              </a:rPr>
              <a:t>Modelo Operativo y Gobernanza CDT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6565392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05A6E"/>
                </a:solidFill>
                <a:latin typeface="Calibri"/>
              </a:rPr>
              <a:t>Productividad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Madurez (TRL)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13D"/>
                </a:solidFill>
                <a:latin typeface="Calibri"/>
              </a:rPr>
              <a:t>TRL de los productos del CDT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505A6E"/>
                </a:solidFill>
                <a:latin typeface="Calibri"/>
              </a:rPr>
              <a:t>Usar TRL para decidir inversión, gobernanza y paso a producción.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969725"/>
            <a:ext cx="6400800" cy="659674"/>
          </a:xfrm>
          <a:prstGeom prst="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6015445"/>
            <a:ext cx="6035040" cy="6139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  <a:latin typeface="Calibri"/>
              </a:defRPr>
            </a:pPr>
            <a:r>
              <a:t>TRL 3 — Prueba de concepto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Idea validada con usuario (valor y alcance).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264331"/>
            <a:ext cx="6400800" cy="659674"/>
          </a:xfrm>
          <a:prstGeom prst="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310051"/>
            <a:ext cx="6035040" cy="6139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  <a:latin typeface="Calibri"/>
              </a:defRPr>
            </a:pPr>
            <a:r>
              <a:t>TRL 4 — Prototipo en laboratorio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MVP funcional en entorno controlado.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558937"/>
            <a:ext cx="6400800" cy="659674"/>
          </a:xfrm>
          <a:prstGeom prst="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604657"/>
            <a:ext cx="6035040" cy="6139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  <a:latin typeface="Calibri"/>
              </a:defRPr>
            </a:pPr>
            <a:r>
              <a:t>TRL 5 — Validación en entorno relevante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Pruebas con datos reales / usuarios limitados.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53542"/>
            <a:ext cx="6400800" cy="659674"/>
          </a:xfrm>
          <a:prstGeom prst="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899262"/>
            <a:ext cx="6035040" cy="6139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  <a:latin typeface="Calibri"/>
              </a:defRPr>
            </a:pPr>
            <a:r>
              <a:t>TRL 6 — Piloto controlado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Uso en un proceso/área, con soporte del CDT.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148148"/>
            <a:ext cx="6400800" cy="659674"/>
          </a:xfrm>
          <a:prstGeom prst="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193868"/>
            <a:ext cx="6035040" cy="6139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  <a:latin typeface="Calibri"/>
              </a:defRPr>
            </a:pPr>
            <a:r>
              <a:t>TRL 7 — Producción inicial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Release operado por TI (una unidad) + monitoreo básico.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442754"/>
            <a:ext cx="6400800" cy="659674"/>
          </a:xfrm>
          <a:prstGeom prst="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488474"/>
            <a:ext cx="6035040" cy="6139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  <a:latin typeface="Calibri"/>
              </a:defRPr>
            </a:pPr>
            <a:r>
              <a:t>TRL 8 — Escalamiento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Estándares, automatización, SLAs y documentación completa.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1737360"/>
            <a:ext cx="6400800" cy="659674"/>
          </a:xfrm>
          <a:prstGeom prst="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1783080"/>
            <a:ext cx="6035040" cy="6139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  <a:latin typeface="Calibri"/>
              </a:defRPr>
            </a:pPr>
            <a:r>
              <a:t>TRL 9 — Institucionalizado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Producto estable, sostenible y gobernado como servicio.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737360"/>
            <a:ext cx="411480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6679" y="1874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Cómo se usa en el portafolio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Cada iniciativa declara TRL objetivo y evidencia requerida.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Los “gates” cambian según TRL (p.ej., a TRL 7 exige runbook + rollback).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Permite priorizar: valor × esfuerzo × TRL.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3977639"/>
            <a:ext cx="4114800" cy="2697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26679" y="411479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Evidencias típicas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4526279"/>
            <a:ext cx="3657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TRL 4–5: demo + pruebas funcionales.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TRL 6: piloto + UAT + plan de soporte.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TRL 7–8: CI/CD + monitoreo + runbooks L1–L3.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A6E"/>
                </a:solidFill>
                <a:latin typeface="Calibri"/>
              </a:rPr>
              <a:t>Modelo Operativo y Gobernanza CDT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6565392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05A6E"/>
                </a:solidFill>
                <a:latin typeface="Calibri"/>
              </a:rPr>
              <a:t>TRL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Impacto académico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13D"/>
                </a:solidFill>
                <a:latin typeface="Calibri"/>
              </a:rPr>
              <a:t>Impacto académico del CDT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34924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Currículo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Aprendizaje basado en proyectos reales (PBL).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Evidencia para resultados de aprendizaje y acreditación.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Fortalece competencias: ingeniería de software, DevOps, calidad.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4924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69164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Investigación y semilleros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Líneas aplicadas: analítica, IA, ciberseguridad, UX, GovTech.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Datos y casos para artículos, ponencias y prototipos.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Semillero CDT como embudo de talento (antes de práctica).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31920"/>
            <a:ext cx="1078992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40690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Innovación y proyección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805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MVPs institucionales + soluciones a entorno productivo.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Transferencia tecnológica (TRL) y alianzas.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Visibilidad: demostradores, hackatones, portafolio público (controlado).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A6E"/>
                </a:solidFill>
                <a:latin typeface="Calibri"/>
              </a:rPr>
              <a:t>Modelo Operativo y Gobernanza CDT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6565392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05A6E"/>
                </a:solidFill>
                <a:latin typeface="Calibri"/>
              </a:rPr>
              <a:t>Impacto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Beneficios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13D"/>
                </a:solidFill>
                <a:latin typeface="Calibri"/>
              </a:rPr>
              <a:t>Beneficios esperados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34924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Menor retrabajo y tiempos más predecibles.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Calidad consistente (gates + evidencias).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Transición limpia a TI para operación productiva.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4924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69164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Talento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Curva de aprendizaje reducida (semillero + onboarding).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Rotación gestionada con playbooks.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Crecimiento de perfiles: Dev/QA/PO/DevOps junior.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31920"/>
            <a:ext cx="534924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406908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Gestión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8056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Portafolio visible y priorizado.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TRL como lenguaje común de madurez.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KPIs y reporting para decisiones institucionales.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931920"/>
            <a:ext cx="534924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406908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Indicadores sugeridos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8056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Lead time • Cycle time • % retrabajo • defectos escapados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TRL promedio del portafolio • satisfacción de áreas • adopción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A6E"/>
                </a:solidFill>
                <a:latin typeface="Calibri"/>
              </a:rPr>
              <a:t>Modelo Operativo y Gobernanza CDT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565392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05A6E"/>
                </a:solidFill>
                <a:latin typeface="Calibri"/>
              </a:rPr>
              <a:t>Beneficios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Implementación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13D"/>
                </a:solidFill>
                <a:latin typeface="Calibri"/>
              </a:rPr>
              <a:t>Roadmap de implementación (90 días)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520440" cy="4389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0–30 días</a:t>
            </a:r>
            <a:br/>
            <a:r>
              <a:t>(Alinear)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Aprobar gobierno liviano (instancias y agenda).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Definir pipeline + DoR/DoD + checklist release.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Seleccionar 1 proyecto piloto (alto impacto, bajo riesgo).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54480"/>
            <a:ext cx="3520440" cy="4389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16916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31–60 días</a:t>
            </a:r>
            <a:br/>
            <a:r>
              <a:t>(Ejecutar piloto)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Operar el piloto con sprints cortos.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Activar semillero/bootcamp de entrada.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Montar tablero de KPIs y repositorio de evidencias.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554480"/>
            <a:ext cx="3520440" cy="4389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6916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61–90 días</a:t>
            </a:r>
            <a:br/>
            <a:r>
              <a:t>(Escalar)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10312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Formalizar arquitectura de referencia y kits reutilizables.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Estandarizar transición a TI (runbooks L1–L3).</a:t>
            </a:r>
          </a:p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Plan de portafolio semestral (TRL objetivo por iniciativa).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6126480"/>
            <a:ext cx="10789920" cy="640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62636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Requerimientos institucionales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6675120"/>
            <a:ext cx="103327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73737"/>
                </a:solidFill>
                <a:latin typeface="Calibri"/>
              </a:defRPr>
            </a:pPr>
            <a:r>
              <a:t>Patrocinio (gerencia/vicerrectoría) • ventanas de despliegue • responsables por área • acceso a datos / ambientes.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A6E"/>
                </a:solidFill>
                <a:latin typeface="Calibri"/>
              </a:rPr>
              <a:t>Modelo Operativo y Gobernanza CDT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565392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05A6E"/>
                </a:solidFill>
                <a:latin typeface="Calibri"/>
              </a:rPr>
              <a:t>Roadmap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13D"/>
                </a:solidFill>
                <a:latin typeface="Calibri"/>
              </a:rPr>
              <a:t>Decisiones solicitadas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Calibri"/>
              </a:defRPr>
            </a:pPr>
            <a:r>
              <a:t>Aprobar el modelo de gobierno liviano (instancias y periodicidad).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Calibri"/>
              </a:defRPr>
            </a:pPr>
            <a:r>
              <a:t>Nombrar sponsor institucional y dueños de proceso por área.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Calibri"/>
              </a:defRPr>
            </a:pPr>
            <a:r>
              <a:t>Autorizar un piloto (90 días) con un proyecto priorizado.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Calibri"/>
              </a:defRPr>
            </a:pPr>
            <a:r>
              <a:t>Definir regla de paso a producción con TI (Gate Release).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66CC"/>
                </a:solidFill>
                <a:latin typeface="Calibri"/>
              </a:rPr>
              <a:t>¡Gracias!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505A6E"/>
                </a:solidFill>
                <a:latin typeface="Calibri"/>
              </a:rPr>
              <a:t>Centro de Desarrollo Tecnológico — FUTCO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</cp:revision>
  <dcterms:created xsi:type="dcterms:W3CDTF">2013-01-27T09:14:16Z</dcterms:created>
  <dcterms:modified xsi:type="dcterms:W3CDTF">2026-02-18T20:43:31Z</dcterms:modified>
  <cp:category/>
</cp:coreProperties>
</file>